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280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9C742"/>
                </a:solidFill>
              </a:rPr>
              <a:t>Tier 1 — Duas Passagens de Leitura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06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Como ler um texto em inglês sem travar e sem o Google Translate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456432"/>
            <a:ext cx="8229600" cy="36576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63931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CCCC"/>
                </a:solidFill>
              </a:rPr>
              <a:t>StudyAmigo  ·  E02  ·  Abril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Texto: A Seleção Brasileira (Versão 1 — História e Conquistas)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As duas passagens de leitura — visão geral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201168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115568"/>
            <a:ext cx="18836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051560"/>
            <a:ext cx="43891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1448" y="1115568"/>
            <a:ext cx="42611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1ª Passagem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051560"/>
            <a:ext cx="539496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115568"/>
            <a:ext cx="52669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2ª Passagem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76479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Objetivo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709928"/>
            <a:ext cx="43891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41448" y="1764792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Entender do que o texto trata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709928"/>
            <a:ext cx="53949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0568" y="1764792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Examinar as palavras-alvo nas suas frases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68296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2423160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368296"/>
            <a:ext cx="43891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41448" y="2423160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Nenhum — leitura autônoma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368296"/>
            <a:ext cx="53949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0568" y="2423160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Lista do professor + dicionário (palavra a palavra)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26664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3081528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Foco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026664"/>
            <a:ext cx="43891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1448" y="3081528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 inteiro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026664"/>
            <a:ext cx="53949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0568" y="3081528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Somente as frases das 10 palavras-alvo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85032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3739896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Ferramenta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3685032"/>
            <a:ext cx="43891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41448" y="3739896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Cognatos + contexto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3685032"/>
            <a:ext cx="53949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0568" y="3739896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Verbo → Sujeito → Objeto → Dicionário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4398264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Produto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0" y="4343400"/>
            <a:ext cx="43891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41448" y="4398264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Modelo mental do texto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4343400"/>
            <a:ext cx="53949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0568" y="4398264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10 cartões prontos para revisão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001768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505663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Tempo estimado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5001768"/>
            <a:ext cx="43891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41448" y="5056632"/>
            <a:ext cx="42611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5–8 minutos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5001768"/>
            <a:ext cx="53949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0568" y="5056632"/>
            <a:ext cx="52669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20–30 minutos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problema: dois impulsos que travam o aluno Tier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394960" cy="201168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4C3C"/>
                </a:solidFill>
              </a:rPr>
              <a:t>① Paralisia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Para na primeira palavra desconhecida
e não avança.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63040"/>
            <a:ext cx="5394960" cy="201168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4C3C"/>
                </a:solidFill>
              </a:rPr>
              <a:t>② Atalho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Copia o texto inteiro e despeja
no Google Translate ou ChatGPT.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703320"/>
            <a:ext cx="11430000" cy="594360"/>
          </a:xfrm>
          <a:prstGeom prst="rect">
            <a:avLst/>
          </a:prstGeom>
          <a:solidFill>
            <a:srgbClr val="5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947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⚠  Ambos vêm do mesmo medo: o medo de não entender nada.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Esse medo existe porque o aluno acredita que 'entender' = traduzir cada palavra.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07492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 1ª passagem precisa redefinir o que significa 'entender' um texto.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conta como sucesso na 1ª passagem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30000" cy="77724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201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Critério de sucesso: ao final da leitura, o aluno consegue dizer em UMA FRASE em português o que o texto está falando.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48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Isso não é tradução. É compreensão global.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697480"/>
            <a:ext cx="11430000" cy="36576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834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CCCC"/>
                </a:solidFill>
              </a:rPr>
              <a:t>A instrução correta para o aluno: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3756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"Leia o texto uma vez do início ao fim. Não pare nas palavras que não conhece.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Não abra o Google Translate. Quando terminar, feche o texto e escreva uma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frase em português dizendo o que o texto está falando.</a:t>
            </a:r>
          </a:p>
          <a:p>
            <a:pPr>
              <a:spcBef>
                <a:spcPts val="200"/>
              </a:spcBef>
            </a:pPr>
            <a:r>
              <a:rPr sz="1600">
                <a:solidFill>
                  <a:srgbClr val="A8FFC8"/>
                </a:solidFill>
                <a:latin typeface="Courier New"/>
              </a:rPr>
              <a:t>Se você conseguir fazer isso, a primeira leitura foi bem-feita."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983480"/>
            <a:ext cx="11430000" cy="594360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0749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Essa instrução dá ao aluno um critério concreto que ele consegue atingir sem ajuda externa.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Texto de referência — Tier 1, Versão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Primeiras 4 frases usadas na demonstração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11430000" cy="19202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109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Brazil's national football team is called A Seleção.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The team played its first international game in 1914.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Since then, Brazil has competed in every single World Cup.</a:t>
            </a:r>
          </a:p>
          <a:p>
            <a:pPr>
              <a:spcBef>
                <a:spcPts val="200"/>
              </a:spcBef>
            </a:pPr>
            <a:r>
              <a:rPr sz="1800">
                <a:solidFill>
                  <a:srgbClr val="A8FFC8"/>
                </a:solidFill>
                <a:latin typeface="Courier New"/>
              </a:rPr>
              <a:t>No other team has done this.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611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Por que este texto funciona para Tier 1: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① Assunto familiar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411480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O aluno já conhece a Seleção — carga cognitiva de conteúdo =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53712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② Cognatos densos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4553712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Brazil, national, international, football, World Cup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92624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③ Estrutura simples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992624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Frases curtas; uma oração principal por frase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31536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④ Datas e fatos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5431536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1914, Copa do Mundo — pontos de apoio concretos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9C742"/>
                </a:solidFill>
              </a:rPr>
              <a:t>1ª Passagem de Leitura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CCCCCC"/>
                </a:solidFill>
              </a:rPr>
              <a:t>Leitura do início ao fim — sem parar, sem dicionário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Brazil's national football team is called A Seleção.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4864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48640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32004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74650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Brazil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91640"/>
            <a:ext cx="82296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74650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Brasil — sei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40280"/>
            <a:ext cx="32004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29514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national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40280"/>
            <a:ext cx="82296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29514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nacional — deve ser isso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88920"/>
            <a:ext cx="32004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84378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football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788920"/>
            <a:ext cx="82296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284378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time de futebol — sei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37560"/>
            <a:ext cx="32004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39242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is called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337560"/>
            <a:ext cx="8229600" cy="54864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339242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sei, mas...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86200"/>
            <a:ext cx="32004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941064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A Seleção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886200"/>
            <a:ext cx="8229600" cy="548640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3941064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 Seleção Brasileira — reconhece imediatamente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7091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o texto é sobre a Seleção Brasileira. Reconheceu o assunto antes de terminar a frase.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4864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Nota pedagógica: o aluno não sabe o que is called significa — e não precisa saber ainda. O nome A Seleção no final entrega o sentido completo.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The team played its first international game in 1914.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1206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1206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55064"/>
            <a:ext cx="32004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709928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55064"/>
            <a:ext cx="82296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709928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time — já apareceu antes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67128"/>
            <a:ext cx="32004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221992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played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167128"/>
            <a:ext cx="82296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221992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 a palavra, mas soa como passado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79192"/>
            <a:ext cx="32004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734056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its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679192"/>
            <a:ext cx="82296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2734056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91256"/>
            <a:ext cx="32004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246120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international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191256"/>
            <a:ext cx="82296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3246120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internacional — claro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03320"/>
            <a:ext cx="32004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3758184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703320"/>
            <a:ext cx="8229600" cy="51206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3758184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jogo — já ouviu em outros contextos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15384"/>
            <a:ext cx="32004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4270248"/>
            <a:ext cx="3072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in 1914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4215384"/>
            <a:ext cx="8229600" cy="51206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4270248"/>
            <a:ext cx="8101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em 1914 — uma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4632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9377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o time fez algo internacional em 1914. Provavelmente jogou algo. Faz sentido com o contexto anterior.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5778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Nota: played its first é opaco para Tier 1, mas 1914 e international game são pontos de apoio suficientes.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Since then, Brazil has competed in every single World Cup.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09928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764792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Since then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09928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764792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331720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Brazil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76856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331720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Brasil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43784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898648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has competed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843784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2898648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compete... competiu?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465576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in every single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410712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3465576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 every single, mas...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40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4032504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World Cup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977640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4032504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Copa do Mundo — claro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1772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Brasil + Copa do Mundo + ideia de competir. Provavelmente 'o Brasil participou de toda Copa do Mundo'.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376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Frase mais opaca das quatro para Tier 1. Mesmo assim, Brazil e World Cup carregam o peso semântico.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1ª Passagem — Frase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No other team has done this.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2004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0723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Palavra / trecho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822960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07008"/>
            <a:ext cx="81015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que o aluno reconhece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09928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764792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09928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764792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não, nenhum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331720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other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276856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331720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outro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43784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898648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843784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2898648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time — já apareceu duas vezes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32004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465576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has done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410712"/>
            <a:ext cx="822960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0168" y="3465576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sei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40"/>
            <a:ext cx="32004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4032504"/>
            <a:ext cx="30723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this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977640"/>
            <a:ext cx="822960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0168" y="4032504"/>
            <a:ext cx="81015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isso — aponta para o que foi dito antes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617720"/>
            <a:ext cx="11430000" cy="658368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70916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O aluno entende: nenhum outro time fez... alguma coisa. O this remete ao contexto anterior — participar de toda Copa. O aluno provavelmente capta a ligação.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</a:rPr>
              <a:t>O aluno sente satisfação — entendeu o argumento geral do parágrafo.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Resultado da 1ª passagem — o que o aluno entendeu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155680" cy="11887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35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2000">
                <a:solidFill>
                  <a:srgbClr val="A8FFC8"/>
                </a:solidFill>
                <a:latin typeface="Courier New"/>
              </a:rPr>
              <a:t>"É sobre a Seleção Brasileira. Ela participou de todas as Copas do</a:t>
            </a:r>
          </a:p>
          <a:p>
            <a:pPr>
              <a:spcBef>
                <a:spcPts val="200"/>
              </a:spcBef>
            </a:pPr>
            <a:r>
              <a:rPr sz="2000">
                <a:solidFill>
                  <a:srgbClr val="A8FFC8"/>
                </a:solidFill>
                <a:latin typeface="Courier New"/>
              </a:rPr>
              <a:t>Mundo desde 1914 e nenhum outro time fez isso."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60604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Isso é suficiente para a 1ª passagem. Não é uma tradução frase a frase — é o sentido global do parágrafo.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O que a 1ª passagem NÃO faz (e não precisa fazer):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840480"/>
            <a:ext cx="3657600" cy="42062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904488"/>
            <a:ext cx="35295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O aluno NÃO precisa saber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3840480"/>
            <a:ext cx="7955279" cy="420624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7368" y="3904488"/>
            <a:ext cx="782726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Por que não importa agora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261104"/>
            <a:ext cx="3657600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4315968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is called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4261104"/>
            <a:ext cx="7955279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7368" y="4315968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nome A Seleção já entrega o sentido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81728"/>
            <a:ext cx="3657600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736592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played its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681728"/>
            <a:ext cx="7955279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87368" y="4736592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1914 e international game são suficientes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02352"/>
            <a:ext cx="3657600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5157216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since then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5102352"/>
            <a:ext cx="7955279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5157216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contexto de sequência temporal já está claro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22976"/>
            <a:ext cx="3657600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5577840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every single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5522976"/>
            <a:ext cx="7955279" cy="420624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87368" y="5577840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World Cup é o ponto de apoio suficiente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943600"/>
            <a:ext cx="3657600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5998464"/>
            <a:ext cx="35295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é has done this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5943600"/>
            <a:ext cx="7955279" cy="420624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87368" y="5998464"/>
            <a:ext cx="7827263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this remete ao que veio antes — entendível pelo contexto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Por que o aluno não vai usar o Google Translate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(se a instrução for dada do jeito certo)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5394960" cy="2926080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</a:rPr>
              <a:t>✗  O que NÃO funciona: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5120640" cy="8229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4800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"Leia sem usar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o Google Translate."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Só diz o que não pode fazer.
Não diz o que fazer em vez disso.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394960" cy="292608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✓  O que funciona: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148840"/>
            <a:ext cx="5120640" cy="114300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28600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"Leia uma vez do início ao fim.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Quando terminar, escreva em uma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A8FFC8"/>
                </a:solidFill>
                <a:latin typeface="Courier New"/>
              </a:rPr>
              <a:t>frase o que o texto está falando."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383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Dá uma tarefa concreta que o aluno
consegue executar sem Google Translate.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800600"/>
            <a:ext cx="11430000" cy="658368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89204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 pergunta muda de 'qual é a tradução de cada palavra?' para 'sobre o que é esse texto?' — e essa tem resposta com vocabulário limitado.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Conexão entre as duas passagens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A 1ª passagem cria o contexto que torna a 2ª passagem produtiva.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28800"/>
            <a:ext cx="5303520" cy="164592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1ª passagem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O aluno entende que o texto é sobre
a Seleção Brasileira e Copa do Mundo.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468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9C742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1828800"/>
            <a:ext cx="4937760" cy="164592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9202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2ª passagem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377440"/>
            <a:ext cx="4663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FFFF"/>
                </a:solidFill>
              </a:rPr>
              <a:t>"Ache a palavra played no texto.
Em qual frase ela está? Quem está
fazendo a ação? O que o time fez?"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59436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40479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Análise sintática com propósito e contexto — não análise no vazio.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CCCCC"/>
                </a:solidFill>
              </a:rPr>
              <a:t>Somente depois que o aluno tem o modelo mental global do texto é que faz sentido introduzir análise frase a frase.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Na 2ª passagem: a análise sintática entra APENAS nas frases que contêm as palavras da lista do professor.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9C742"/>
                </a:solidFill>
              </a:rPr>
              <a:t>2ª Passagem de Leitura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CCCCCC"/>
                </a:solidFill>
              </a:rPr>
              <a:t>Caçando as palavras-alvo dentro do texto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mudou desde a 1ª passagem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Agora o aluno tem duas coisas que não tinha antes: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37360"/>
            <a:ext cx="10972800" cy="137160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C742"/>
                </a:solidFill>
              </a:rPr>
              <a:t>① Um modelo mental do 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Sabe do que se trata, não vai encontrar nenhuma surpresa de conteúdo.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10972800" cy="13716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ECC71"/>
                </a:solidFill>
              </a:rPr>
              <a:t>② A lista de 10 palavras-alvo do professor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Sabe exatamente onde concentrar a atenção.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44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98348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O aluno não relê o texto inteiro com atenção igual. Ele caça as palavras da lista e examina cada uma dentro da sua frase.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A instrução correta para o aluno — 2ª passagem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1430000" cy="2560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109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"Agora você vai reler o texto com a lista de palavras na mão.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Para cada palavra da lista: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(1) ache a frase do texto onde ela aparece;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(2) identifique o verbo da frase e o tempo verbal;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(3) identifique quem está fazendo a ação;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  (4) identifique o que ou quem sofre a ação.</a:t>
            </a:r>
          </a:p>
          <a:p>
            <a:pPr>
              <a:spcBef>
                <a:spcPts val="200"/>
              </a:spcBef>
            </a:pPr>
            <a:r>
              <a:rPr sz="1700">
                <a:solidFill>
                  <a:srgbClr val="A8FFC8"/>
                </a:solidFill>
                <a:latin typeface="Courier New"/>
              </a:rPr>
              <a:t>Só depois consulte o dicionário para essa palavra."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1605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✓  A análise verbo → sujeito → objeto é feita frase a frase, SOMENTE nas frases das palavras-alvo.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8006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C742"/>
                </a:solidFill>
              </a:rPr>
              <a:t>Por que verbo primeiro?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57800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O verbo diz o que está acontecendo — sem ele, a frase não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05272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O tempo verbal diz quando — presente, passado, futuro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52744"/>
            <a:ext cx="11064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• Sujeito e objeto só fazem sentido a partir do verbo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1: won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 won its first World Cup in 1958 in Sweden.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65760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52958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143000"/>
            <a:ext cx="786384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87368" y="1207008"/>
            <a:ext cx="773582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65760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764792"/>
            <a:ext cx="786384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7368" y="1819656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won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65760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386584"/>
            <a:ext cx="786384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7368" y="2441448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Parece passado — a data 1958 confirma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65760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3008376"/>
            <a:ext cx="786384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87368" y="3063240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65760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52958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fez?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630168"/>
            <a:ext cx="786384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87368" y="3685032"/>
            <a:ext cx="77358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its first World Cup — ganhou a Copa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Antes do dicionário: "O Brasil fez algo com a Copa do Mundo em 1958. Pelo contexto, ganhou."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5087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Dicionário: "Our team won the championship last year."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Substituição: trocar "Our team" → "My university"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Frente: "My university [WON] the state championship last year."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Verso:  won = ganhou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2: lifted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 defeated Sweden in the final and lifted the trophy.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56692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09928"/>
            <a:ext cx="3474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764792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09928"/>
            <a:ext cx="8046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764792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Há dois: defeated e lifted — separados por 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474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331720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276856"/>
            <a:ext cx="8046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331720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Passado — igual a won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43784"/>
            <a:ext cx="3474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2898648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as ações?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843784"/>
            <a:ext cx="8046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2898648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3474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465576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fez primeiro?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410712"/>
            <a:ext cx="8046720" cy="56692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465576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defeated Sweden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40"/>
            <a:ext cx="3474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" y="4032504"/>
            <a:ext cx="3346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fez depois?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3977640"/>
            <a:ext cx="8046720" cy="56692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4032504"/>
            <a:ext cx="791870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lifted the trophy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51960"/>
            <a:ext cx="11430000" cy="54864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34340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Nota: Quando você vê 'and' entre dois verbos, o sujeito fez as duas coisas.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074920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captain lifted the trophy after the final."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"The captain" → "Our team leader"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"Our team leader [LIFTED] the award at the ceremony."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lifted = ergueu, levantou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3: defeated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 defeated Sweden in the final and lifted the trophy.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 desta vez?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defeated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Passado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sofreu a ação?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Sweden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Antes do dicionário: "O Brasil fez algo com a Suécia na final. Pelo contexto, ganhou dela — derrotou."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"Brazil defeated their opponents in the final."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"Brazil" → "Our class team"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"Our class team [DEFEATED] the opponents in the tournament."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defeated = derrotou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4: competed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Since then, Brazil has competed in every single World Cup.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has competed — parece compete numa forma diferente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Não é passado simples como os outros...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Em que Brazil competiu?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every single World Cup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658368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Oportunidade: has competed é present perfect — mesmo tempo de E01. 'O Brasil começou a competir no passado e ainda compete hoje.'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66344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0060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team competed in the national tournament."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"The team" → "My university"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"My university [COMPETED] in the regional tournament."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competed = competiu, participou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5: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Many experts consider the 1970 squad the best team ever.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consider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Many experts — muitos especialistas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os especialistas
consideram?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1970 squad the best team ever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Antes do dicionário: "Especialistas consideram o ____ de 1970 o melhor time de todos os tempos. Squad deve ser elenco."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coach selected the squad for the championship."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"The coach" → "Our professor"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"Our professor selected the [SQUAD] for the science fair."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squad = elenco, grupo selecionado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6: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In total, Brazil has won five World Cup titles.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has won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 perfect novamente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fez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Brazil ganhou?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five World Cup titles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0292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title parece título — cognato parcial. O aluno provavelmente já sabe.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48056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1772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team won the championship title last year."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"The team" → "Our lab"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"Our lab won the innovation [TITLE] at the conference."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title = título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7: 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Brazil's greatest rival is Argentina.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é o sujeito?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Brazil's greatest rival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 verbo diz?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is Argentina — iguala os dois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0292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rival é cognato direto — o aluno reconhece na hora. Mesmo assim vale criar o cartão: a palavra existe no contexto do texto.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48056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1772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two clubs are great rivals in the championship."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"clubs" → "universities"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"The two universities are great [RIVALS] in the championship."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rival = rival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8: fiercely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The two teams compete fiercely.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compete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faz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two teams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Como eles competem?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fiercely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E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ℹ  fiercely é advérbio — modifica o verbo. O aluno não precisa saber disso. A pergunta 'como eles competem?' aponta naturalmente para ele.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athletes competed fiercely for the medal."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"The athletes" → "The students"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"The students competed [FIERCELY] for the scholarship."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fiercely = ferozmente, com intensidade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9: solid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The team has talented players and a solid squad.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faz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The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 time tem?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talented players e a solid squad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9436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solid parece sólido — o aluno pode inferir: forte, consistente. Em contexto esportivo: bom coletivo, não depende de um só jogador.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"The project has a solid plan."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"project" → "experiment"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"The experiment has a [SOLID] design."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solid = sólido, consistente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2ª Passagem — Palavra 10: fans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05156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Fans around the world hope Brazil will win a sixth title.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3474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1207008"/>
            <a:ext cx="3346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Pergunta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8046720" cy="621792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04488" y="1207008"/>
            <a:ext cx="7918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Resposta do aluno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819656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Qual é o verbo?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764792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8" y="1819656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hope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86584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2441448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 tempo verbal?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386584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4488" y="2441448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Presente simples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3474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3063240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Quem faz a ação?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08376"/>
            <a:ext cx="8046720" cy="621792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8" y="3063240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Fans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30168"/>
            <a:ext cx="3474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3685032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O que os fans esperam?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30168"/>
            <a:ext cx="8046720" cy="621792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4488" y="3685032"/>
            <a:ext cx="7918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Brazil will win a sixth title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94760"/>
            <a:ext cx="11430000" cy="54864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86200"/>
            <a:ext cx="11201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</a:rPr>
              <a:t>→  Fans devem ser torcedores — o aluno já ouviu essa palavra.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26280"/>
            <a:ext cx="11430000" cy="14173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63440"/>
            <a:ext cx="11109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Dicionário: "Fans around the world watched the match on TV."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Substituição: trocar "match" → "launch event"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 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Frente: "[FANS] of technology filled the auditorium for the launch event."</a:t>
            </a:r>
          </a:p>
          <a:p>
            <a:pPr>
              <a:spcBef>
                <a:spcPts val="200"/>
              </a:spcBef>
            </a:pPr>
            <a:r>
              <a:rPr sz="1400">
                <a:solidFill>
                  <a:srgbClr val="A8FFC8"/>
                </a:solidFill>
                <a:latin typeface="Courier New"/>
              </a:rPr>
              <a:t>Verso:  fans = torcedores, fãs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O que a 2ª passagem entregou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Localizou cada palavra dentro de uma frase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90195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Não consultou o dicionário no vazio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517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Entendeu o papel de cada palavra na frase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9067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O dicionário confirmou — não revelou do zero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4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5876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Criou 10 cartões no formato [MAIÚSCULO] com 1 substituição pessoal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7939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Pronto para a fase de revisão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430000" cy="1005840"/>
          </a:xfrm>
          <a:prstGeom prst="rect">
            <a:avLst/>
          </a:prstGeom>
          <a:solidFill>
            <a:srgbClr val="26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047488"/>
            <a:ext cx="502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C742"/>
                </a:solidFill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0292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Praticou as 3 perguntas de leitura de forma repetida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6811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Verbo → Quem → O quê — sem chamar isso de gramática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Resumo: as duas passagens de leitura — Tier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201168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115568"/>
            <a:ext cx="18836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051560"/>
            <a:ext cx="448056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1448" y="1115568"/>
            <a:ext cx="43525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1ª Passagem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1051560"/>
            <a:ext cx="5303520" cy="658368"/>
          </a:xfrm>
          <a:prstGeom prst="rect">
            <a:avLst/>
          </a:prstGeom>
          <a:solidFill>
            <a:srgbClr val="2E466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1115568"/>
            <a:ext cx="517550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9C742"/>
                </a:solidFill>
              </a:rPr>
              <a:t>2ª Passagem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9928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76479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Objetivo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709928"/>
            <a:ext cx="4480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41448" y="1764792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Entender do que o texto trata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709928"/>
            <a:ext cx="53035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8" y="1764792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Examinar as palavras-alvo dentro de suas frases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368296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2423160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368296"/>
            <a:ext cx="4480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41448" y="2423160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Nenhum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2368296"/>
            <a:ext cx="53035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22008" y="2423160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Lista do professor + dicionário palavra a palavra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26664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3081528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Foco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3026664"/>
            <a:ext cx="4480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41448" y="3081528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Texto inteiro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3026664"/>
            <a:ext cx="53035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2008" y="3081528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Somente as frases das 10 palavras-alvo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85032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3739896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Ferramenta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3685032"/>
            <a:ext cx="4480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41448" y="3739896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Cognatos + contexto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3685032"/>
            <a:ext cx="53035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22008" y="3739896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Verbo → Sujeito → Objeto → Dicionário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343400"/>
            <a:ext cx="201168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4398264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Produto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0" y="4343400"/>
            <a:ext cx="448056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41448" y="4398264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Modelo mental do texto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4343400"/>
            <a:ext cx="5303520" cy="658368"/>
          </a:xfrm>
          <a:prstGeom prst="rect">
            <a:avLst/>
          </a:prstGeom>
          <a:solidFill>
            <a:srgbClr val="26263A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22008" y="4398264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ECC71"/>
                </a:solidFill>
              </a:rPr>
              <a:t>10 cartões: [MAIÚSCULO] + 1 substituição pessoal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001768"/>
            <a:ext cx="201168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5056632"/>
            <a:ext cx="18836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9C742"/>
                </a:solidFill>
              </a:rPr>
              <a:t>Tempo estimado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5001768"/>
            <a:ext cx="448056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41448" y="5056632"/>
            <a:ext cx="43525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5–8 minutos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5001768"/>
            <a:ext cx="5303520" cy="658368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22008" y="5056632"/>
            <a:ext cx="517550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20–30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C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1E2E"/>
                </a:solidFill>
              </a:rPr>
              <a:t>Instrução consolidada para o aluno Tier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9C742"/>
                </a:solidFill>
              </a:rPr>
              <a:t>1ª passagem: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11430000" cy="109728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109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"Leia o texto uma vez do início ao fim. Não pare nas palavras que não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conhece. Quando terminar, escreva em uma frase em português o que o texto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está falando."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CC71"/>
                </a:solidFill>
              </a:rPr>
              <a:t>2ª passagem: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337560"/>
            <a:ext cx="11430000" cy="123444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11109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"Agora você vai reler o texto com a lista de palavras na mão.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Para cada palavra: (1) ache a frase; (2) identifique o verbo;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(3) identifique quem faz a ação; (4) identifique o que ou quem sofre a ação.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Só depois consulte o dicionário."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091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DADE8"/>
                </a:solidFill>
              </a:rPr>
              <a:t>Criação do cartão: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430000" cy="960120"/>
          </a:xfrm>
          <a:prstGeom prst="rect">
            <a:avLst/>
          </a:prstGeom>
          <a:solidFill>
            <a:srgbClr val="2A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303520"/>
            <a:ext cx="11109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"Encontre 1 exemplo de frase com a palavra num dicionário online.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Troque 1 palavra do exemplo por algo da sua área ou vida.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Frente: frase modificada com a palavra em [MAIÚSCULO].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A8FFC8"/>
                </a:solidFill>
                <a:latin typeface="Courier New"/>
              </a:rPr>
              <a:t>Verso:  palavra = tradução em português."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