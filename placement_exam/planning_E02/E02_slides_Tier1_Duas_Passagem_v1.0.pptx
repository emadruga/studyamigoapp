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 snapToGrid="0" snapToObjects="1">
      <p:cViewPr varScale="1">
        <p:scale>
          <a:sx n="115" d="100"/>
          <a:sy n="115" d="100"/>
        </p:scale>
        <p:origin x="3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280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9C742"/>
                </a:solidFill>
              </a:rPr>
              <a:t>Tier 1 — Duas Passagens de Leitura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606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Como ler um texto em inglês sem travar e sem o Google Translate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456432"/>
            <a:ext cx="8229600" cy="36576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363931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CCCC"/>
                </a:solidFill>
              </a:rPr>
              <a:t>StudyAmigo  ·  E02  ·  Abril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Texto: A Seleção Brasileira (Versão 1 — História e Conquistas)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E1E2E"/>
                </a:solidFill>
              </a:rPr>
              <a:t>As duas </a:t>
            </a:r>
            <a:r>
              <a:rPr sz="3200" b="1" i="0" dirty="0" err="1">
                <a:solidFill>
                  <a:srgbClr val="1E1E2E"/>
                </a:solidFill>
              </a:rPr>
              <a:t>passagens</a:t>
            </a:r>
            <a:r>
              <a:rPr sz="3200" b="1" i="0" dirty="0">
                <a:solidFill>
                  <a:srgbClr val="1E1E2E"/>
                </a:solidFill>
              </a:rPr>
              <a:t> de </a:t>
            </a:r>
            <a:r>
              <a:rPr sz="3200" b="1" i="0" dirty="0" err="1">
                <a:solidFill>
                  <a:srgbClr val="1E1E2E"/>
                </a:solidFill>
              </a:rPr>
              <a:t>leitura</a:t>
            </a:r>
            <a:r>
              <a:rPr sz="3200" b="1" i="0" dirty="0">
                <a:solidFill>
                  <a:srgbClr val="1E1E2E"/>
                </a:solidFill>
              </a:rPr>
              <a:t> — </a:t>
            </a:r>
            <a:r>
              <a:rPr sz="3200" b="1" i="0" dirty="0" err="1">
                <a:solidFill>
                  <a:srgbClr val="1E1E2E"/>
                </a:solidFill>
              </a:rPr>
              <a:t>visão</a:t>
            </a:r>
            <a:r>
              <a:rPr sz="3200" b="1" i="0" dirty="0">
                <a:solidFill>
                  <a:srgbClr val="1E1E2E"/>
                </a:solidFill>
              </a:rPr>
              <a:t> </a:t>
            </a:r>
            <a:r>
              <a:rPr sz="3200" b="1" i="0" dirty="0" err="1">
                <a:solidFill>
                  <a:srgbClr val="1E1E2E"/>
                </a:solidFill>
              </a:rPr>
              <a:t>geral</a:t>
            </a:r>
            <a:endParaRPr sz="3200" b="1" i="0" dirty="0">
              <a:solidFill>
                <a:srgbClr val="1E1E2E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201168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9768" y="1115568"/>
            <a:ext cx="18836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377440" y="1051560"/>
            <a:ext cx="43891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41448" y="1115568"/>
            <a:ext cx="42611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1ª Passagem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051560"/>
            <a:ext cx="539496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30568" y="1115568"/>
            <a:ext cx="52669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2ª Passagem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176479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Objetivo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709928"/>
            <a:ext cx="43891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41448" y="1764792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Entender do que o texto trata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709928"/>
            <a:ext cx="53949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30568" y="1764792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Examinar as palavras-alvo nas suas frases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68296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768" y="2423160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2368296"/>
            <a:ext cx="43891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41448" y="2423160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Nenhum — leitura autônoma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368296"/>
            <a:ext cx="53949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30568" y="2423160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Lista do professor + dicionário (palavra a palavra)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26664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" y="3081528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Foco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026664"/>
            <a:ext cx="43891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441448" y="3081528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 inteiro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026664"/>
            <a:ext cx="53949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30568" y="3081528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Somente as frases das 10 palavras-alvo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85032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9768" y="3739896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Ferramenta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3685032"/>
            <a:ext cx="43891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441448" y="3739896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Cognatos + contexto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3685032"/>
            <a:ext cx="53949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30568" y="3739896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Verbo → Sujeito → Objeto → Dicionário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9768" y="4398264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Produto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0" y="4343400"/>
            <a:ext cx="43891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441448" y="4398264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Modelo mental do texto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4343400"/>
            <a:ext cx="53949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30568" y="4398264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10 cartões prontos para revisão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001768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9768" y="505663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Tempo estimado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5001768"/>
            <a:ext cx="43891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441448" y="5056632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5–8 minutos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5001768"/>
            <a:ext cx="53949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30568" y="5056632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20–30 minutos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problema: dois impulsos que travam o aluno Tier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394960" cy="201168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4C3C"/>
                </a:solidFill>
              </a:rPr>
              <a:t>① Paralisia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Para na primeira palavra desconhecida
e não avança.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394960" cy="201168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4C3C"/>
                </a:solidFill>
              </a:rPr>
              <a:t>② Atalho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Copia o texto inteiro e despeja
no Google Translate ou ChatGPT.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703320"/>
            <a:ext cx="11430000" cy="594360"/>
          </a:xfrm>
          <a:prstGeom prst="rect">
            <a:avLst/>
          </a:prstGeom>
          <a:solidFill>
            <a:srgbClr val="5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37947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⚠  Ambos vêm do mesmo medo: o medo de não entender nada.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34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Esse medo existe porque o aluno acredita que 'entender' = traduzir cada palavra.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07492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 1ª passagem precisa redefinir o que significa 'entender' um texto.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conta como sucesso na 1ª passagem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30000" cy="77724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201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Critério de sucesso: ao final da leitura, o aluno consegue dizer em UMA FRASE em português o que o texto está falando.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48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C742"/>
                </a:solidFill>
              </a:rPr>
              <a:t>Isso não é tradução. É compreensão global.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97480"/>
            <a:ext cx="11430000" cy="36576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2834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CCCC"/>
                </a:solidFill>
              </a:rPr>
              <a:t>A instrução correta para o aluno: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33756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"Leia o texto uma vez do início ao fim. Não pare nas palavras que não conhece.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Não abra o Google Translate. Quando terminar, feche o texto e escreva uma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frase em português dizendo o que o texto está falando.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Se você conseguir fazer isso, a primeira leitura foi bem-feita."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83480"/>
            <a:ext cx="11430000" cy="59436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50749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Essa instrução dá ao aluno um critério concreto que ele consegue atingir sem ajuda externa.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Texto de referência — Tier 1, Versão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Primeiras 4 frases usadas na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11430000" cy="19202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109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Brazil's national football team is called A Seleção.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The team played its first international game in 1914.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Since then, Brazil has competed in every single World Cup.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No other team has done this.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611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Por que este texto funciona para Tier 1: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① Assunto familiar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411480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O aluno já conhece a Seleção — carga cognitiva de conteúdo =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53712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② Cognatos densos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455371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Brazil, national, international, football, World Cup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9262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③ Estrutura simples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992624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Frases curtas; uma oração principal por frase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31536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④ Datas e fatos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5431536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1914, Copa do Mundo — pontos de apoio concretos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9C742"/>
                </a:solidFill>
              </a:rPr>
              <a:t>1ª Passagem de Leitura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 dirty="0" err="1">
                <a:solidFill>
                  <a:srgbClr val="CCCCCC"/>
                </a:solidFill>
              </a:rPr>
              <a:t>Leitura</a:t>
            </a:r>
            <a:r>
              <a:rPr sz="2400" b="0" i="1" dirty="0">
                <a:solidFill>
                  <a:srgbClr val="CCCCCC"/>
                </a:solidFill>
              </a:rPr>
              <a:t> do </a:t>
            </a:r>
            <a:r>
              <a:rPr sz="2400" b="0" i="1" dirty="0" err="1">
                <a:solidFill>
                  <a:srgbClr val="CCCCCC"/>
                </a:solidFill>
              </a:rPr>
              <a:t>início</a:t>
            </a:r>
            <a:r>
              <a:rPr sz="2400" b="0" i="1" dirty="0">
                <a:solidFill>
                  <a:srgbClr val="CCCCCC"/>
                </a:solidFill>
              </a:rPr>
              <a:t> </a:t>
            </a:r>
            <a:r>
              <a:rPr sz="2400" b="0" i="1" dirty="0" err="1">
                <a:solidFill>
                  <a:srgbClr val="CCCCCC"/>
                </a:solidFill>
              </a:rPr>
              <a:t>ao</a:t>
            </a:r>
            <a:r>
              <a:rPr sz="2400" b="0" i="1" dirty="0">
                <a:solidFill>
                  <a:srgbClr val="CCCCCC"/>
                </a:solidFill>
              </a:rPr>
              <a:t> </a:t>
            </a:r>
            <a:r>
              <a:rPr sz="2400" b="0" i="1" dirty="0" err="1">
                <a:solidFill>
                  <a:srgbClr val="CCCCCC"/>
                </a:solidFill>
              </a:rPr>
              <a:t>fim</a:t>
            </a:r>
            <a:r>
              <a:rPr sz="2400" b="0" i="1" dirty="0">
                <a:solidFill>
                  <a:srgbClr val="CCCCCC"/>
                </a:solidFill>
              </a:rPr>
              <a:t> — </a:t>
            </a:r>
            <a:r>
              <a:rPr sz="2400" b="0" i="1" dirty="0" err="1">
                <a:solidFill>
                  <a:srgbClr val="CCCCCC"/>
                </a:solidFill>
              </a:rPr>
              <a:t>sem</a:t>
            </a:r>
            <a:r>
              <a:rPr sz="2400" b="0" i="1" dirty="0">
                <a:solidFill>
                  <a:srgbClr val="CCCCCC"/>
                </a:solidFill>
              </a:rPr>
              <a:t> </a:t>
            </a:r>
            <a:r>
              <a:rPr sz="2400" b="0" i="1" dirty="0" err="1">
                <a:solidFill>
                  <a:srgbClr val="CCCCCC"/>
                </a:solidFill>
              </a:rPr>
              <a:t>parar</a:t>
            </a:r>
            <a:r>
              <a:rPr sz="2400" b="0" i="1" dirty="0">
                <a:solidFill>
                  <a:srgbClr val="CCCCCC"/>
                </a:solidFill>
              </a:rPr>
              <a:t>, </a:t>
            </a:r>
            <a:r>
              <a:rPr sz="2400" b="0" i="1" dirty="0" err="1">
                <a:solidFill>
                  <a:srgbClr val="CCCCCC"/>
                </a:solidFill>
              </a:rPr>
              <a:t>sem</a:t>
            </a:r>
            <a:r>
              <a:rPr sz="2400" b="0" i="1" dirty="0">
                <a:solidFill>
                  <a:srgbClr val="CCCCCC"/>
                </a:solidFill>
              </a:rPr>
              <a:t> </a:t>
            </a:r>
            <a:r>
              <a:rPr sz="2400" b="0" i="1" dirty="0" err="1">
                <a:solidFill>
                  <a:srgbClr val="CCCCCC"/>
                </a:solidFill>
              </a:rPr>
              <a:t>dicionário</a:t>
            </a:r>
            <a:endParaRPr sz="2400" b="0" i="1" dirty="0">
              <a:solidFill>
                <a:srgbClr val="CCCCCC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Brazil's national football team is called A Seleção.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4864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4864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32004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74650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Brazil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91640"/>
            <a:ext cx="82296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0168" y="174650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Brasil — sei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40280"/>
            <a:ext cx="32004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29514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national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240280"/>
            <a:ext cx="82296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0168" y="229514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nacional — deve ser isso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88920"/>
            <a:ext cx="32004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284378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football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788920"/>
            <a:ext cx="82296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30168" y="284378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time de futebol — sei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37560"/>
            <a:ext cx="32004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39242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is called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337560"/>
            <a:ext cx="82296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30168" y="339242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sei, mas...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886200"/>
            <a:ext cx="32004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" y="394106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A Seleção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886200"/>
            <a:ext cx="82296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30168" y="394106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 Seleção Brasileira — reconhece imediatamente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7091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o texto é sobre a Seleção Brasileira. Reconheceu o assunto antes de terminar a frase.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4864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Nota pedagógica: o aluno não sabe o que is called significa — e não precisa saber ainda. O nome A Seleção no final entrega o sentido completo.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The team played its first international game in 1914.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1206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1206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55064"/>
            <a:ext cx="32004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709928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55064"/>
            <a:ext cx="82296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0168" y="1709928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time — já apareceu antes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67128"/>
            <a:ext cx="32004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221992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played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167128"/>
            <a:ext cx="82296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0168" y="2221992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 a palavra, mas soa como passado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79192"/>
            <a:ext cx="32004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2734056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its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679192"/>
            <a:ext cx="82296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30168" y="2734056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91256"/>
            <a:ext cx="32004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246120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international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191256"/>
            <a:ext cx="82296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30168" y="3246120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internacional — claro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03320"/>
            <a:ext cx="32004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" y="3758184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703320"/>
            <a:ext cx="82296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30168" y="3758184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jogo — já ouviu em outros contextos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15384"/>
            <a:ext cx="32004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" y="4270248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in 1914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4215384"/>
            <a:ext cx="82296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30168" y="4270248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em 1914 — uma data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4632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9377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o time fez algo internacional em 1914. Provavelmente jogou algo. Faz sentido com o contexto anterior.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5778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Nota: played its first é opaco para Tier 1, mas 1914 e international game são pontos de apoio suficientes.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Since then, Brazil has competed in every single World Cup.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09928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764792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Since then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09928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0168" y="1764792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331720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Brazil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276856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0168" y="2331720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Brasil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43784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2898648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has competed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843784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30168" y="2898648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compete... competiu?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465576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 every single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410712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30168" y="3465576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 every single, mas...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40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" y="4032504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World Cup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977640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30168" y="4032504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Copa do Mundo — claro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61772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Brasil + Copa do Mundo + ideia de competir. Provavelmente 'o Brasil participou de toda Copa do Mundo'.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76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Frase mais opaca das quatro para Tier 1. Mesmo assim, Brazil e World Cup carregam o peso semântico.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No other team has done this.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09928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764792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09928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0168" y="1764792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não, nenhum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331720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276856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0168" y="2331720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outro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43784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2898648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843784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30168" y="2898648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time — já apareceu duas vezes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465576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has done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410712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30168" y="3465576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40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" y="4032504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this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977640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30168" y="4032504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isso — aponta para o que foi dito antes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617720"/>
            <a:ext cx="11430000" cy="658368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nenhum outro time fez... alguma coisa. O this remete ao contexto anterior — participar de toda Copa. O aluno provavelmente capta a ligação.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440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O aluno sente satisfação — entendeu o argumento geral do parágrafo.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Resultado da 1ª passagem — o que o aluno entendeu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155680" cy="11887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35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2000">
                <a:solidFill>
                  <a:srgbClr val="A8FFC8"/>
                </a:solidFill>
                <a:latin typeface="Courier New"/>
              </a:rPr>
              <a:t>"É sobre a Seleção Brasileira. Ela participou de todas as Copas do</a:t>
            </a:r>
          </a:p>
          <a:p>
            <a:pPr>
              <a:spcBef>
                <a:spcPts val="200"/>
              </a:spcBef>
            </a:pPr>
            <a:r>
              <a:rPr sz="2000">
                <a:solidFill>
                  <a:srgbClr val="A8FFC8"/>
                </a:solidFill>
                <a:latin typeface="Courier New"/>
              </a:rPr>
              <a:t>Mundo desde 1914 e nenhum outro time fez isso."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60604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Isso é suficiente para a 1ª passagem. Não é uma tradução frase a frase — é o sentido global do parágrafo.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83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O que a 1ª passagem NÃO faz (e não precisa fazer):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840480"/>
            <a:ext cx="3657600" cy="42062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3904488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aluno NÃO precisa saber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3840480"/>
            <a:ext cx="7955279" cy="42062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87368" y="3904488"/>
            <a:ext cx="782726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Por que não importa agora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261104"/>
            <a:ext cx="3657600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431596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is called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4261104"/>
            <a:ext cx="7955279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87368" y="4315968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nome A Seleção já entrega o sentido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81728"/>
            <a:ext cx="3657600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473659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played its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4681728"/>
            <a:ext cx="7955279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87368" y="4736592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1914 e international game são suficientes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02352"/>
            <a:ext cx="3657600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515721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since then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5102352"/>
            <a:ext cx="7955279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87368" y="5157216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contexto de sequência temporal já está claro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22976"/>
            <a:ext cx="3657600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" y="557784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every single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5522976"/>
            <a:ext cx="7955279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87368" y="5577840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World Cup é o ponto de apoio suficiente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943600"/>
            <a:ext cx="3657600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" y="599846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has done this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5943600"/>
            <a:ext cx="7955279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87368" y="5998464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this remete ao que veio antes — entendível pelo contexto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Por que o aluno não vai usar o Google Translate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(se a instrução for dada do jeito certo)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5394960" cy="292608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</a:rPr>
              <a:t>✗  O que NÃO funciona: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120640" cy="8229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4800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"Leia sem usar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o Google Translate."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Só diz o que não pode fazer.
Não diz o que fazer em vez disso.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394960" cy="292608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</a:rPr>
              <a:t>✓  O que funciona: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148840"/>
            <a:ext cx="5120640" cy="11430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228600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"Leia uma vez do início ao fim.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Quando terminar, escreva em uma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frase o que o texto está falando."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383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Dá uma tarefa concreta que o aluno
consegue executar sem Google Translate.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800600"/>
            <a:ext cx="11430000" cy="658368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892040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 pergunta muda de 'qual é a tradução de cada palavra?' para 'sobre o que é esse texto?' — e essa tem resposta com vocabulário limitado.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Conexão entre as duas passagens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C742"/>
                </a:solidFill>
              </a:rPr>
              <a:t>A 1ª passagem cria o contexto que torna a 2ª passagem produtiva.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5303520" cy="164592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1ª passagem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O aluno entende que o texto é sobre
a Seleção Brasileira e Copa do Mundo.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468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9C742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1828800"/>
            <a:ext cx="4937760" cy="164592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0" y="19202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</a:rPr>
              <a:t>2ª passagem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377440"/>
            <a:ext cx="4663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FFFF"/>
                </a:solidFill>
              </a:rPr>
              <a:t>"Ache a palavra played no texto.
Em qual frase ela está? Quem está
fazendo a ação? O que o time fez?"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59436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840479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Análise sintática com propósito e contexto — não análise no vazio.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Somente depois que o aluno tem o modelo mental global do texto é que faz sentido introduzir análise frase a frase.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Na 2ª passagem: a análise sintática entra APENAS nas frases que contêm as palavras da lista do professor.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9C742"/>
                </a:solidFill>
              </a:rPr>
              <a:t>2ª Passagem de Leitura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CCCCCC"/>
                </a:solidFill>
              </a:rPr>
              <a:t>Caçando as palavras-alvo dentro do texto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mudou desde a 1ª passagem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Agora o aluno tem duas coisas que não tinha antes: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10972800" cy="137160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C742"/>
                </a:solidFill>
              </a:rPr>
              <a:t>① Um modelo mental do 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Sabe do que se trata, não vai encontrar nenhuma surpresa de conteúdo.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10972800" cy="13716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ECC71"/>
                </a:solidFill>
              </a:rPr>
              <a:t>② A lista de 10 palavras-alvo do professor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Sabe exatamente onde concentrar a atenção.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4983480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O aluno não relê o texto inteiro com atenção igual. Ele caça as palavras da lista e examina cada uma dentro da sua frase.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A instrução correta para o aluno — 2ª passagem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1430000" cy="2560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109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"Agora você vai reler o texto com a lista de palavras na mão.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Para cada palavra da lista: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(1) ache a frase do texto onde ela aparece;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(2) identifique o verbo da frase e o tempo verbal;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(3) identifique quem está fazendo a ação;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(4) identifique o que ou quem sofre a ação.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Só depois consulte o dicionário para essa palavra."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41605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A análise verbo → sujeito → objeto é feita frase a frase, SOMENTE nas frases das palavras-alvo.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800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C742"/>
                </a:solidFill>
              </a:rPr>
              <a:t>Por que verbo primeiro?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57800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O verbo diz o que está acontecendo — sem ele, a frase não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05272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O tempo verbal diz quando — presente, passado, futuro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52744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Sujeito e objeto só fazem sentido a partir do verbo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1: won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 won its first World Cup in 1958 in Sweden.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65760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5295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143000"/>
            <a:ext cx="786384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87368" y="1207008"/>
            <a:ext cx="773582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65760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764792"/>
            <a:ext cx="786384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87368" y="1819656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won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65760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386584"/>
            <a:ext cx="786384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87368" y="2441448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passado — a data 1958 confirma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65760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3008376"/>
            <a:ext cx="786384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87368" y="3063240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65760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fez?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630168"/>
            <a:ext cx="786384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87368" y="3685032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its first World Cup — ganhou a Copa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306824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4398264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Antes do dicionário: "O Brasil fez algo com a Copa do Mundo em 1958. Pelo contexto, ganhou."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84064"/>
            <a:ext cx="1143000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221224"/>
            <a:ext cx="11109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Frente: "Brazil _______ its first World Cup in 1958."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Verso:  won — ganhou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      Minha frase: "My team won the game yesterday."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2: lifted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 defeated Sweden in the final and lifted the trophy.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09928"/>
            <a:ext cx="3474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764792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09928"/>
            <a:ext cx="8046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764792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Há dois: defeated e lifted — separados por 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3474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331720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276856"/>
            <a:ext cx="8046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331720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Passado — igual a won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43784"/>
            <a:ext cx="3474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2898648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as ações?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843784"/>
            <a:ext cx="8046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2898648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3474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465576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fez primeiro?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410712"/>
            <a:ext cx="8046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465576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defeated Sweden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40"/>
            <a:ext cx="3474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" y="4032504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fez depois?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3977640"/>
            <a:ext cx="8046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904488" y="4032504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lifted the trophy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51960"/>
            <a:ext cx="11430000" cy="54864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34340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Nota: Quando você vê 'and' entre dois verbos, o sujeito fez as duas coisas.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074920"/>
            <a:ext cx="11109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"Brazil defeated Sweden and _______ the trophy."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lifted — levantou, ergueu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Colocação: lift the trophy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"The captain lifted the trophy after the final."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3: defeated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 defeated Sweden in the final and lifted the trophy.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 desta vez?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defeated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Passado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sofreu a ação?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Sweden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Antes do dicionário: "O Brasil fez algo com a Suécia na final. Pelo contexto, ganhou dela — derrotou."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"Brazil _______ Sweden in the final."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defeated — derrotou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Colocação: defeat a team / defeat an opponent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"Brazil defeated Argentina in the semifinals."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4: competed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Since then, Brazil has competed in every single World Cup.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has competed — parece compete numa forma diferente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é passado simples como os outros...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Em que Brazil competiu?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every single World Cup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306824"/>
            <a:ext cx="11430000" cy="658368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4398264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Oportunidade: has competed é present perfect — mesmo tempo de E01. 'O Brasil começou a competir no passado e ainda compete hoje.'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175504"/>
            <a:ext cx="1143000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312664"/>
            <a:ext cx="11109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"Brazil has _______ in every single World Cup."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competed — competiu, participou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Colocação: compete in the World Cup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"My university competed in the national championship."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5: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Many experts consider the 1970 squad the best team ever.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consider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Many experts — muitos especialistas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os especialistas
consideram?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1970 squad the best team ever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379977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4471417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Antes do dicionário: "Especialistas consideram o ____ de 1970 o melhor time de todos os tempos. Squad deve ser elenco."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157217"/>
            <a:ext cx="11430000" cy="11887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294377"/>
            <a:ext cx="11109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"Many experts consider the 1970 _______ the best team ever."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squad — elenco, seleção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"The coach announced the squad for the World Cup."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6: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In total, Brazil has won five World Cup titles.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has won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 perfect novamente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ganhou?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five World Cup titles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385775"/>
            <a:ext cx="11430000" cy="59436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4477215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title é cognato parcial — o aluno pode reconhecer. O valor está na colocação: win the title / World Cup title.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163015"/>
            <a:ext cx="1143000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300175"/>
            <a:ext cx="11109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"Brazil has won five World Cup _______." 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title — título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Colocação: win a title / World Cup title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"Brazil wants to win a sixth title in 2026."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7: 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Brazil's greatest rival is Argentina.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é o sujeito?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Brazil's greatest rival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 verbo diz?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is Argentina — iguala os dois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rival é cognato direto — o aluno reconhece na hora. O valor do cartão está na colocação greatest rival.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"Brazil's _______ rival is Argentina."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greatest rival — maior rival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Colocação: greatest rival / fierce rival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"Real Madrid's greatest rival is Barcelona."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8: fiercely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The two teams compete fiercely.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compete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faz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two teams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Como eles competem?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fiercely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fiercely é advérbio — modifica o verbo. O aluno não precisa saber disso. A pergunta 'como eles competem?' aponta naturalmente para ele.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"The two teams compete _______." 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fiercely — ferozmente, com intensidade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Colocação: compete fiercely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"The students competed fiercely for the scholarship."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9: solid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The team has talented players and a solid squad.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faz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team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 time tem?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talented players e a solid squad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solid parece sólido — o aluno pode inferir: forte, consistente. Em contexto esportivo: bom coletivo, não depende de um só jogador.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1887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"The team has talented players and a _______ squad."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solid — sólido, forte, consistente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"Brazil has a solid squad for the 2026 World Cup."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10: fans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Fans around the world hope Brazil will win a sixth title.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faz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Fans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os fans esperam?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 will win a sixth title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4864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Fans devem ser torcedores — o aluno já ouviu essa palavra.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26280"/>
            <a:ext cx="1143000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663440"/>
            <a:ext cx="11109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"_______ around the world hope Brazil will win a sixth title."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fans — torcedores, fãs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Colocação: fans around the world / football fans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Minha frase: "Fans around the world watched the final on TV."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a 2ª passagem entregou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Localizou cada palavra dentro de uma frase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90195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Não consultou o dicionário no vazio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5176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Entendeu o papel de cada palavra na frase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9067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O dicionário confirmou — não revelou do zero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4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85876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Criou 10 cartões com frente cloze e frase própria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7939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Pronto para a fase de revisão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504748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029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Praticou as 3 perguntas de leitura de forma repetida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6811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Verbo → Quem → O quê — sem chamar isso de gramática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Resumo: as duas passagens de leitura — Tier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201168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9768" y="1115568"/>
            <a:ext cx="18836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377440" y="1051560"/>
            <a:ext cx="448056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41448" y="1115568"/>
            <a:ext cx="43525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1ª Passagem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051560"/>
            <a:ext cx="53035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22008" y="1115568"/>
            <a:ext cx="51755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2ª Passagem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176479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Objetivo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709928"/>
            <a:ext cx="4480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41448" y="1764792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Entender do que o texto trata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709928"/>
            <a:ext cx="53035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22008" y="1764792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Examinar as palavras-alvo dentro de suas frases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68296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768" y="2423160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Suporte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2368296"/>
            <a:ext cx="44805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41448" y="2423160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Nenhum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368296"/>
            <a:ext cx="53035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22008" y="2423160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Lista do professor + dicionário palavra a palavra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26664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" y="3081528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Foco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026664"/>
            <a:ext cx="4480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441448" y="3081528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 inteiro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3026664"/>
            <a:ext cx="53035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22008" y="3081528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Somente as frases das 10 palavras-alvo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85032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9768" y="3739896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Ferramenta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3685032"/>
            <a:ext cx="44805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441448" y="3739896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Cognatos + contexto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685032"/>
            <a:ext cx="53035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922008" y="3739896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Verbo → Sujeito → Objeto → Dicionário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9768" y="4398264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Produto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0" y="4343400"/>
            <a:ext cx="4480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441448" y="4398264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Modelo mental do texto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4343400"/>
            <a:ext cx="53035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922008" y="4398264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10 cartões prontos para revisão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001768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9768" y="505663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Tempo estimado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5001768"/>
            <a:ext cx="44805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441448" y="5056632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5–8 minutos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5001768"/>
            <a:ext cx="53035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22008" y="5056632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20–30 minutos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Instrução consolidada para o aluno Tier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1ª passagem: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11430000" cy="1097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109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"Leia o texto uma vez do início ao fim. Não pare nas palavras que não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conhece. Quando terminar, escreva em uma frase em português o que o texto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está falando."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</a:rPr>
              <a:t>2ª passagem: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337560"/>
            <a:ext cx="1143000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11109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"Agora você vai reler o texto com a lista de palavras na mão.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Para cada palavra: (1) ache a frase; (2) identifique o verbo;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(3) identifique quem faz a ação; (4) identifique o que ou quem sofre a ação.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Só depois consulte o dicionário."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091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DADE8"/>
                </a:solidFill>
              </a:rPr>
              <a:t>Criação do cartão: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430000" cy="9601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5303520"/>
            <a:ext cx="11109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"Copie a frase do texto e retire a palavra (deixe um blank).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No verso: escreva a tradução + uma frase sua trocando 1 palavra por algo da sua vida."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2945</Words>
  <Application>Microsoft Macintosh PowerPoint</Application>
  <PresentationFormat>Custom</PresentationFormat>
  <Paragraphs>402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Ewerton Madruga</cp:lastModifiedBy>
  <cp:revision>3</cp:revision>
  <dcterms:created xsi:type="dcterms:W3CDTF">2013-01-27T09:14:16Z</dcterms:created>
  <dcterms:modified xsi:type="dcterms:W3CDTF">2026-04-06T15:52:49Z</dcterms:modified>
  <cp:category/>
</cp:coreProperties>
</file>