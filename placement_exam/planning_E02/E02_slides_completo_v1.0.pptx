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9C742"/>
                </a:solidFill>
              </a:rPr>
              <a:t>Exercício E02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606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</a:rPr>
              <a:t>Criando seus primeiros flashcards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429000"/>
            <a:ext cx="8229600" cy="36576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611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</a:rPr>
              <a:t>StudyAmigo  ·  Abril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Biotecnologia  ·  Metrologia  ·  Segurança Cibernética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O que mudou de E01 para E02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CCCCC"/>
                </a:solidFill>
              </a:rPr>
              <a:t>Em E01 você revisou cartões prontos.  Em E02 você vai criar os seus próprios.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256032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664208"/>
            <a:ext cx="24323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600200"/>
            <a:ext cx="411480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0088" y="1664208"/>
            <a:ext cx="39867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E01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1600200"/>
            <a:ext cx="512064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1664208"/>
            <a:ext cx="4992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E02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58568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313432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Baralho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258568"/>
            <a:ext cx="411480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313432"/>
            <a:ext cx="39867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Pré-carregado pelo professor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2258568"/>
            <a:ext cx="51206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4888" y="2313432"/>
            <a:ext cx="49926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Você cria o baralho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16936"/>
            <a:ext cx="25603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971800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Atividade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916936"/>
            <a:ext cx="411480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0088" y="2971800"/>
            <a:ext cx="39867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Apenas revisar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916936"/>
            <a:ext cx="512064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2971800"/>
            <a:ext cx="49926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Ler → selecionar → criar → revisar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75304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630168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Escolha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575304"/>
            <a:ext cx="411480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0088" y="3630168"/>
            <a:ext cx="39867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Sem escolha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575304"/>
            <a:ext cx="51206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04888" y="3630168"/>
            <a:ext cx="49926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Você decide o que aprender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11430000" cy="6400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39496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ℹ  Criar um cartão é uma habilidade. Esta aula ensina como fazer certo desde o início.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Estrutura do E02: três componentes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92608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252728"/>
            <a:ext cx="279806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Componente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188720"/>
            <a:ext cx="713232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1252728"/>
            <a:ext cx="70043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O que é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1188720"/>
            <a:ext cx="173736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88168" y="1252728"/>
            <a:ext cx="16093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Peso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292608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048256"/>
            <a:ext cx="27980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A — Baralho Compartilhado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993392"/>
            <a:ext cx="713232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2048256"/>
            <a:ext cx="7004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Revisão do baralho curado (Verbal Tenses — Batch 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60" y="1993392"/>
            <a:ext cx="173736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88168" y="2048256"/>
            <a:ext cx="16093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~30%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98064"/>
            <a:ext cx="292608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852928"/>
            <a:ext cx="27980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B — Texto Nivelado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798064"/>
            <a:ext cx="713232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2852928"/>
            <a:ext cx="7004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Leitura do texto do seu tier + criação de cartões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0" y="2798064"/>
            <a:ext cx="173736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88168" y="2852928"/>
            <a:ext cx="16093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~40%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02736"/>
            <a:ext cx="292608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3657600"/>
            <a:ext cx="27980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C — Livre Escolha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3602736"/>
            <a:ext cx="713232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55848" y="3657600"/>
            <a:ext cx="7004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Material à sua escolha + mínimo de 5 cartões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60" y="3602736"/>
            <a:ext cx="173736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88168" y="3657600"/>
            <a:ext cx="16093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~30%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394960"/>
            <a:ext cx="54864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48640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Esta aula foca nos Componentes B e 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Qual é o seu tier?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Cada aluno recebe um texto diferente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65176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27048"/>
            <a:ext cx="25237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463040"/>
            <a:ext cx="685800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1528" y="1527048"/>
            <a:ext cx="6729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Perfil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1463040"/>
            <a:ext cx="228600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39528" y="152704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Estimativa da turma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67712"/>
            <a:ext cx="265176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322576"/>
            <a:ext cx="2523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Tier 1 — Foundation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267712"/>
            <a:ext cx="685800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2322576"/>
            <a:ext cx="67299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Inglês mínimo ou passivo; reconhece cognatos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2267712"/>
            <a:ext cx="228600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39528" y="2322576"/>
            <a:ext cx="21579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~55–60%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72384"/>
            <a:ext cx="265176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127248"/>
            <a:ext cx="2523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Tier 2 — Developing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3072384"/>
            <a:ext cx="685800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81528" y="3127248"/>
            <a:ext cx="67299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Inglês escolar; lê frases simples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3072384"/>
            <a:ext cx="228600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9528" y="3127248"/>
            <a:ext cx="21579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~33–37%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77056"/>
            <a:ext cx="265176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931920"/>
            <a:ext cx="2523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ADE8"/>
                </a:solidFill>
              </a:rPr>
              <a:t>Tier 3 — Expanding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3877056"/>
            <a:ext cx="685800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81528" y="3931920"/>
            <a:ext cx="67299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Inglês com exposição significativa; lê parágrafos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0" y="3877056"/>
            <a:ext cx="228600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9528" y="3931920"/>
            <a:ext cx="21579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~4–9%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49240"/>
            <a:ext cx="11430000" cy="5943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44068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ℹ  O professor já informou o seu tier. Se tiver dúvida, pergunte agora.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Qual texto você vai usar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Component B: texto por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64592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27048"/>
            <a:ext cx="15179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463040"/>
            <a:ext cx="777240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75688" y="1527048"/>
            <a:ext cx="76443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Texto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463040"/>
            <a:ext cx="237744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8088" y="1527048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Tamanho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67712"/>
            <a:ext cx="164592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322576"/>
            <a:ext cx="15179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Tier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267712"/>
            <a:ext cx="777240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75688" y="2322576"/>
            <a:ext cx="76443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Estória Conhecida — versão simplificada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2267712"/>
            <a:ext cx="237744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48088" y="2322576"/>
            <a:ext cx="22494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~200 palavras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72384"/>
            <a:ext cx="164592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127248"/>
            <a:ext cx="15179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Tier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072384"/>
            <a:ext cx="777240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75688" y="3127248"/>
            <a:ext cx="76443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Estória Conhecida — versão mais rica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072384"/>
            <a:ext cx="237744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8088" y="3127248"/>
            <a:ext cx="22494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~300 palavras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77056"/>
            <a:ext cx="164592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931920"/>
            <a:ext cx="15179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ADE8"/>
                </a:solidFill>
              </a:rPr>
              <a:t>Tier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3877056"/>
            <a:ext cx="777240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75688" y="3931920"/>
            <a:ext cx="76443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Texto autêntico — IA / Demis Hassabis (60 Minutes / NYT)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3877056"/>
            <a:ext cx="237744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8088" y="3931920"/>
            <a:ext cx="22494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400–600 palavras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49240"/>
            <a:ext cx="11430000" cy="5943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44068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💡  Por que uma estória conhecida?  Você já conhece o enredo em português — sua atenção fica toda no vocabulário.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O que é um cartão bem feito?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Três regras para todos os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02920" cy="12344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36192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280160"/>
            <a:ext cx="1088136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9C742"/>
                </a:solidFill>
              </a:rPr>
              <a:t>Regra 1 — Cartão atômico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Cada cartão testa exatamente uma coisa.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502920" cy="1234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90672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2834640"/>
            <a:ext cx="1088136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CC71"/>
                </a:solidFill>
              </a:rPr>
              <a:t>Regra 2 — Contexto mínimo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3375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 frente deve ter contexto suficiente para ter só uma resposta correta.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89120"/>
            <a:ext cx="502920" cy="123444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645152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4389120"/>
            <a:ext cx="1088136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480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DADE8"/>
                </a:solidFill>
              </a:rPr>
              <a:t>Regra 3 — Verso produtivo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892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O verso deve ter mais do que a resposta — uma âncora de memória.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O formato correto da frente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A palavra-alvo vai em [MAIÚSCULO]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15087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109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❌  Frente ambígua: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"Engineers analyze sensor data."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(O que o cartão está testando?  analyze?  sensor?  data?)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71800"/>
            <a:ext cx="11430000" cy="15087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1109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✅  Frente correta: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"Engineers [ANALYZE] sensor data."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(Claro: o cartão testa a palavra 'analyze')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394960"/>
            <a:ext cx="114300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11201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ℹ  Importante: a frente é uma frase com contexto, não a palavra isolada.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A regra das duas passagens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Antes de criar qualquer cartão: leia o texto duas vezes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371600" cy="71323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52728"/>
            <a:ext cx="12435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188720"/>
            <a:ext cx="7772400" cy="71323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1368" y="1252728"/>
            <a:ext cx="7644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O que fazer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1188720"/>
            <a:ext cx="2743200" cy="71323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73768" y="1252728"/>
            <a:ext cx="26151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Ferramenta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01952"/>
            <a:ext cx="13716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956816"/>
            <a:ext cx="1243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1ª leitura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1901952"/>
            <a:ext cx="77724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1368" y="1956816"/>
            <a:ext cx="76443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Leia completo sem parar. Entenda o enredo pelos cognatos.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1901952"/>
            <a:ext cx="27432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3768" y="1956816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Nenhuma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15184"/>
            <a:ext cx="137160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670048"/>
            <a:ext cx="1243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2ª leitura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2615184"/>
            <a:ext cx="777240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01368" y="2670048"/>
            <a:ext cx="76443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Identifique suas lacunas de vocabulário (varia por tier — ver abaixo)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615184"/>
            <a:ext cx="274320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3768" y="2670048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Dicionário por palavra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971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C742"/>
                </a:solidFill>
              </a:rPr>
              <a:t>Como a 2ª leitura varia por tier: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37560"/>
            <a:ext cx="137160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3401568"/>
            <a:ext cx="12435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Tier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3337560"/>
            <a:ext cx="10332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1368" y="3401568"/>
            <a:ext cx="10204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2ª leitura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59352"/>
            <a:ext cx="137160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4014216"/>
            <a:ext cx="1243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Tier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3959352"/>
            <a:ext cx="10332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1368" y="4014216"/>
            <a:ext cx="10204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Com a lista do professor — localiza cada palavra na frase do texto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581144"/>
            <a:ext cx="137160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4636008"/>
            <a:ext cx="1243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Tier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7360" y="4581144"/>
            <a:ext cx="10332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01368" y="4636008"/>
            <a:ext cx="10204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Sem a lista — marca o que não produziria; depois confronta com a lista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02936"/>
            <a:ext cx="137160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5257800"/>
            <a:ext cx="1243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ADE8"/>
                </a:solidFill>
              </a:rPr>
              <a:t>Tier 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37360" y="5202936"/>
            <a:ext cx="10332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01368" y="5257800"/>
            <a:ext cx="10204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Sem lista — auditoria produtiva: consigo usar? sei a colocação? sei a classe?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486400"/>
            <a:ext cx="11430000" cy="548640"/>
          </a:xfrm>
          <a:prstGeom prst="rect">
            <a:avLst/>
          </a:prstGeom>
          <a:solidFill>
            <a:srgbClr val="5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577840"/>
            <a:ext cx="11201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⚠  Nunca cole o texto inteiro no Google Translate. Isso elimina o processamento em inglês — que é o objetivo do exercício.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O que NÃO fazer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Cartão antigo — todos os tiers devem evitar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10972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109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Frente:  process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Verso:   processo / processar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06040"/>
            <a:ext cx="73152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Sem contexto:  Você reconhece a palavra, mas não aprende a usá-la.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27832"/>
            <a:ext cx="73152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278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Muito fácil:  Após 2–3 revisões você clica Easy — SM-2 agenda para 60 dias sem aprendizado real.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49624"/>
            <a:ext cx="73152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4962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Não entra na memória de longo prazo:  Palavra isolada não cria conexões duradouras no cérebro.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394960"/>
            <a:ext cx="11430000" cy="548640"/>
          </a:xfrm>
          <a:prstGeom prst="rect">
            <a:avLst/>
          </a:prstGeom>
          <a:solidFill>
            <a:srgbClr val="5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486400"/>
            <a:ext cx="11201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⚠  Por que é ruim? O SM-2 agenda como 'aprendido' algo que você apenas reconheceu.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1 — Foundation: visão geral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56032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252728"/>
            <a:ext cx="24323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Elemento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188720"/>
            <a:ext cx="923544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0088" y="1252728"/>
            <a:ext cx="91074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Instrução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47088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901952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Texto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47088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901952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Estória Conhecida simplificada (~200 palavras)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05456"/>
            <a:ext cx="25603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560320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Lista de palavras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05456"/>
            <a:ext cx="923544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560320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10 palavras fornecidas pelo professor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63824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218688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Meta de cartões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163824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0088" y="3218688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mín. 5  ·  alvo 7–8  ·  máx.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22192"/>
            <a:ext cx="25603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877056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Sessões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822192"/>
            <a:ext cx="923544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0088" y="3877056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1–2 sessões ao longo do exercício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80560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535424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Dicionário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480560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0088" y="4535424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Google Translate é suficiente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86400"/>
            <a:ext cx="114300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577840"/>
            <a:ext cx="11201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Sua tarefa é aprender a criar bons cartões — não escolher quais palavras estudar. O professor já escolheu as palavras para você.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1 — Foundation: 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Como criar um cartão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07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C742"/>
                </a:solidFill>
              </a:rPr>
              <a:t>Fase de leitura: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17904"/>
            <a:ext cx="411480" cy="530352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91056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Leia o texto uma vez completa sem dicionário.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93976"/>
            <a:ext cx="411480" cy="1188719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67128"/>
            <a:ext cx="41148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10972800" cy="111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Pegue a lista de 10 palavras-alvo do professor. Releia o texto
     localizando cada palavra na frase em que aparece.
     Consulte dicionário palavra a palavra — não cole o texto inteiro no Google Translate.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1985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C742"/>
                </a:solidFill>
              </a:rPr>
              <a:t>Criação: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39895"/>
            <a:ext cx="411480" cy="512064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803903"/>
            <a:ext cx="411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856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Escolha uma palavra da lista.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97679"/>
            <a:ext cx="411480" cy="512064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361687"/>
            <a:ext cx="411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4339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Procure 1 frase exemplo com essa palavra (Google ou Cambridge).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55463"/>
            <a:ext cx="411480" cy="8229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919471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01183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Troque uma palavra de contexto por algo da sua vida:
     "Scientists" → "Engineers" / "Biologists" / "I"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724143"/>
            <a:ext cx="411480" cy="113385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788151"/>
            <a:ext cx="41148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769863"/>
            <a:ext cx="109728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Crie o cartão:
     Frente: sua frase com a palavra em [MAIÚSCULO]
     Verso: palavra = tradução em português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903719"/>
            <a:ext cx="411480" cy="512064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967727"/>
            <a:ext cx="411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9494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Repita para mais 4–7 palavras.  Revise imediatamente após criar.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1 — Exemplo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Palavra: gather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26517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09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Frase do dicionário: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  "The girl gathered flowers in the forest."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Substituição (aluno de Metrologia):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  "I gathered data from the sensors in the lab."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Cartão criado: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  Frente:  "I [GATHERED] data from the sensors in the lab."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  Verso:   gather / gathered  =  coletar, reunir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114800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13308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Você modificou a frase  → seu cérebro processou ativamente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663440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6817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 frase fala da sua vida  → âncora de memória pessoal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212080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2303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 palavra está marcada  → SM-2 testa exatamente o que você aprendeu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Ferramenta: Cambridge Learner's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Por que o Cambridge, não o Google Translate?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219456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481328"/>
            <a:ext cx="20665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411480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4328" y="1481328"/>
            <a:ext cx="39867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Google Translate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417320"/>
            <a:ext cx="548640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39128" y="1481328"/>
            <a:ext cx="53583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Cambridge Learner's Dictionary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75688"/>
            <a:ext cx="219456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130552"/>
            <a:ext cx="20665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que fornece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075688"/>
            <a:ext cx="411480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8" y="2130552"/>
            <a:ext cx="39867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Tradução direta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075688"/>
            <a:ext cx="548640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130552"/>
            <a:ext cx="53583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Tradução + classe gramatical + colocações + exemplo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34056"/>
            <a:ext cx="219456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788920"/>
            <a:ext cx="20665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Ideal para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734056"/>
            <a:ext cx="411480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4328" y="2788920"/>
            <a:ext cx="39867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Entender o significado rapidamente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734056"/>
            <a:ext cx="548640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128" y="2788920"/>
            <a:ext cx="53583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Criar o verso completo do cartão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92424"/>
            <a:ext cx="219456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447288"/>
            <a:ext cx="20665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Tier recomendado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392424"/>
            <a:ext cx="411480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4328" y="3447288"/>
            <a:ext cx="39867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Tier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392424"/>
            <a:ext cx="548640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3447288"/>
            <a:ext cx="53583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Tier 2 e Tier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931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C742"/>
                </a:solidFill>
              </a:rPr>
              <a:t>O que o Cambridge mostra que o Google Translate não mostra: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34840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34340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Classe gramatical:  (v.)  (n.)  (adj.)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73752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78231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Nível de dificuldade da palavra:  A1 → C2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312664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522122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Colocações comuns:  gather data  /  gather evidence  /  gather information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751576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5660136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Frase-exemplo editada por lexicógrafos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327648"/>
            <a:ext cx="11430000" cy="502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419088"/>
            <a:ext cx="1120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🌐  Acesso gratuito:  dictionary.cambridge.org  →  pesquise a palavra  →  'Learner's Dictionary'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2 — Developing: visão geral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56032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252728"/>
            <a:ext cx="24323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Elemento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188720"/>
            <a:ext cx="923544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0088" y="1252728"/>
            <a:ext cx="91074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Instrução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47088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901952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Texto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47088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901952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Estória Conhecida — versão rica (~300 palavras)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05456"/>
            <a:ext cx="25603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560320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Lista de palavras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05456"/>
            <a:ext cx="923544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560320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20 palavras fornecidas pelo professor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63824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218688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Meta de cartões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163824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0088" y="3218688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mín. 8  ·  alvo 10–12  ·  máx. 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22192"/>
            <a:ext cx="25603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877056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ADE8"/>
                </a:solidFill>
              </a:rPr>
              <a:t>Sessões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822192"/>
            <a:ext cx="923544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0088" y="3877056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ADE8"/>
                </a:solidFill>
              </a:rPr>
              <a:t>2–3 sessões  (não tudo no mesmo dia)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80560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535424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Dicionário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480560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0088" y="4535424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Cambridge Learner's Dictionary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86400"/>
            <a:ext cx="114300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577840"/>
            <a:ext cx="11201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Você escolhe quais das 20 palavras vai transformar em cartão. Escolher quais palavras estudar já é um exercício valioso.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2 — O formato do verso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O verso do Tier 2 exige mais do que o Tier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2834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109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Tier 1 (simples):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  gather / gathered  =  coletar, reunir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Tier 2 (completo):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  gather (v.)  =  coletar, reunir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  ☞ gather data  /  gather evidence  /  gather information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  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  "Nos coletamos dados de calibracao dos equipamentos a cada sessao."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976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C742"/>
                </a:solidFill>
              </a:rPr>
              <a:t>O verso do Tier 2 deve ter sempre: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736592"/>
            <a:ext cx="73152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66344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Classe gramatical:  (v.)  (n.)  (adj.)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193792"/>
            <a:ext cx="73152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12064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Colocação:  ☞ gather data  /  gather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650992"/>
            <a:ext cx="73152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557784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Tradução da frase:  separada por linha horizontal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2 — Developing: 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Como criar um cartão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07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Fase de leitura: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17904"/>
            <a:ext cx="411480" cy="5120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81912"/>
            <a:ext cx="411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63624"/>
            <a:ext cx="109728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Leia o texto uma vez completa sem dicionário.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75688"/>
            <a:ext cx="411480" cy="83210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39696"/>
            <a:ext cx="4114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2140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Releia sem a lista do professor. Sublinhe palavras que você
     não saberia usar numa frase nova. Consulte dicionário palavra a palavra.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53512"/>
            <a:ext cx="411480" cy="83210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017520"/>
            <a:ext cx="4114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99232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Abra a lista de 20 palavras-alvo. Compare com suas marcações:
     palavras em ambas as listas são as candidatas prioritárias.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04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Criação: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24528"/>
            <a:ext cx="411480" cy="49377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28853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702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Escolha uma palavra candidata.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64024"/>
            <a:ext cx="411480" cy="80467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828032"/>
            <a:ext cx="411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09744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Abra o Cambridge Dictionary (learner's version):
     anote a classe gramatical  ·  anote uma colocação comum (☞)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14416"/>
            <a:ext cx="411480" cy="80467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678424"/>
            <a:ext cx="411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60136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Use a Tradução Reversa:
     escreva em português  →  cole no Google Translate  →  edite 1 elemento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464808"/>
            <a:ext cx="411480" cy="111556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28816"/>
            <a:ext cx="4114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510528"/>
            <a:ext cx="10972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Monte o cartão:
     Frente: sua frase com a palavra em [MAIÚSCULO]
     Verso: palavra (classe) = tradução  ☞ colocação  +  tradução da frase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7626096"/>
            <a:ext cx="411480" cy="49377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769010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767181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Repita para 7–11 palavras, em sessões separadas.  Revise após cada sessão.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2 — Exemplo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Palavra: suspicious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5257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09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Cambridge: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  suspicious (adj.) = desconfiado, suspeito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  ☞ suspicious of  /  feel suspicious  /  suspicious behavior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Frase em portugues:  "O engenheiro ficou desconfiado do resultado do sensor."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Google Translate:    "The engineer was suspicious of the sensor reading."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Edicao (personalizacao):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  "We were suspicious of the calibration results after the first test."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Cartao criado: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  Frente: "We were [SUSPICIOUS] of the calibration results after the first test."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  Verso:  suspicious (adj.) = desconfiado  ☞ suspicious of / feel suspicious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          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          "Ficamos desconfiados dos resultados de calibracao apos o primeiro teste."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3 — Expanding: visão geral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56032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252728"/>
            <a:ext cx="24323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Elemento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188720"/>
            <a:ext cx="923544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0088" y="1252728"/>
            <a:ext cx="91074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Instrução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47088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901952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Texto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47088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901952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Texto autêntico (60 Minutes / NYT — IA)  ·  400–600 palavras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05456"/>
            <a:ext cx="25603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560320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ADE8"/>
                </a:solidFill>
              </a:rPr>
              <a:t>Lista de palavras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05456"/>
            <a:ext cx="923544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560320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ADE8"/>
                </a:solidFill>
              </a:rPr>
              <a:t>Seleção autônoma — você sublinha o que não conhece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63824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218688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Meta de cartões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163824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0088" y="3218688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mín. 10  ·  alvo 13–15  ·  máx. 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22192"/>
            <a:ext cx="25603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877056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Sessões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822192"/>
            <a:ext cx="923544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0088" y="3877056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2–3 sessões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80560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535424"/>
            <a:ext cx="24323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Dicionário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480560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0088" y="4535424"/>
            <a:ext cx="9107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Cambridge  +  Merriam-Webster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86400"/>
            <a:ext cx="114300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577840"/>
            <a:ext cx="11201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O verso é inteiramente em inglês — sem tradução da palavra, apenas definição em inglês.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3 — Expanding: 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Como criar um cartão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07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DADE8"/>
                </a:solidFill>
              </a:rPr>
              <a:t>Fase de leitura: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17904"/>
            <a:ext cx="411480" cy="512064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81912"/>
            <a:ext cx="411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63624"/>
            <a:ext cx="109728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Leia o texto uma vez completa sem dicionário.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75688"/>
            <a:ext cx="411480" cy="1792224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39696"/>
            <a:ext cx="41148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21408"/>
            <a:ext cx="10972800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Releia com lápis. Sublinhe a palavra se você responder 'não' a
     pelo menos uma destas perguntas:
     (a) Eu saberia usar esta palavra numa frase nova sem consultar?
     (b) Eu conheço ao menos uma colocação típica desta palavra?
     (c) Eu sei a classe gramatical desta palavra?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867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DADE8"/>
                </a:solidFill>
              </a:rPr>
              <a:t>Criação: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06824"/>
            <a:ext cx="411480" cy="111556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370832"/>
            <a:ext cx="4114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972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Para cada palavra sublinhada, abra o Cambridge ou Merriam-Webster:
     copie a classe gramatical e a definição em inglês
     escolha uma frase exemplo do dicionário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468112"/>
            <a:ext cx="411480" cy="49377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53212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138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Monte a frente: frase do dicionário com a palavra em [MAIÚSCULO].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007608"/>
            <a:ext cx="411480" cy="1426464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071616"/>
            <a:ext cx="41148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053328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Monte o verso:
     Linha 1: palavra (classe) = definição em inglês
     Linha 2: ☞ colocação 1  /  colocação 2
     Linha 3: tradução em português da frase da frente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7479792"/>
            <a:ext cx="411480" cy="49377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754380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75255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Crie os cartões no baralho PASSAGE_E02_TIER3.  Revise todos os dias.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3 — Exemplo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Palavra: drawn  (texto sobre Hassabis / DeepMind)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5257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09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Trecho do texto: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"Hassabis was initially drawn to neuroscience because he believed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understanding the brain was the most reliable path to achieving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artificial general intelligence."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Dicionario (Cambridge):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draw (v.) = to attract or interest someone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"She was drawn to the idea of working abroad."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Cartao criado: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Frente: "She was [DRAWN] to the idea of working abroad."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Verso:  draw (v.) = to attract or interest someone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  ☞ be drawn to  /  draw attention  /  draw interest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  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  "Ela se sentiu atraida pela ideia de trabalhar no exterior."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Comparação: o que cada tier 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Resumo dos três tiers lado a 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" y="1234440"/>
            <a:ext cx="2651760" cy="71323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1298448"/>
            <a:ext cx="252374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Critério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8648" y="1234440"/>
            <a:ext cx="2651760" cy="71323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62656" y="1298448"/>
            <a:ext cx="252374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Tier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550408" y="1234440"/>
            <a:ext cx="2743200" cy="71323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14416" y="1298448"/>
            <a:ext cx="26151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Tier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3608" y="1234440"/>
            <a:ext cx="3657600" cy="71323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1298448"/>
            <a:ext cx="35295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Tier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" y="1947672"/>
            <a:ext cx="265176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" y="2002536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Texto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8648" y="1947672"/>
            <a:ext cx="265176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2002536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Estória ~200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0408" y="1947672"/>
            <a:ext cx="27432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14416" y="2002536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Estória ~300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93608" y="1947672"/>
            <a:ext cx="36576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2002536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Autêntico 400–600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" y="2660904"/>
            <a:ext cx="265176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" y="2715768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Quem escolhe as palavras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98648" y="2660904"/>
            <a:ext cx="265176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2656" y="2715768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Professor (10)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50408" y="2660904"/>
            <a:ext cx="274320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14416" y="2715768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Professor (20)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93608" y="2660904"/>
            <a:ext cx="365760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6" y="2715768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ADE8"/>
                </a:solidFill>
              </a:rPr>
              <a:t>O aluno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" y="3374136"/>
            <a:ext cx="265176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" y="3429000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Meta de cartões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98648" y="3374136"/>
            <a:ext cx="265176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62656" y="3429000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5–8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50408" y="3374136"/>
            <a:ext cx="27432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14416" y="3429000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8–12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93608" y="3374136"/>
            <a:ext cx="36576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57616" y="3429000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10–15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" y="4087368"/>
            <a:ext cx="265176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" y="4142232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Como cria a frase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98648" y="4087368"/>
            <a:ext cx="265176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62656" y="4142232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Substituição de 1 contexto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0408" y="4087368"/>
            <a:ext cx="274320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14416" y="4142232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Tradução Reversa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93608" y="4087368"/>
            <a:ext cx="365760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57616" y="4142232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Frase do dicionário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" y="4800600"/>
            <a:ext cx="265176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" y="4855464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Idioma do verso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98648" y="4800600"/>
            <a:ext cx="265176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62656" y="4855464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Português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50408" y="4800600"/>
            <a:ext cx="27432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14416" y="4855464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PT + 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93608" y="4800600"/>
            <a:ext cx="36576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7616" y="4855464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EN + tradução da frase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Quantos cartões você precisa criar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Metas de produção por tier — Component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3200400" cy="914400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30723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4760" y="1554480"/>
            <a:ext cx="2286000" cy="914400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8768" y="1618488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Mínimo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554480"/>
            <a:ext cx="3200400" cy="914400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1618488"/>
            <a:ext cx="30723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Alvo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60" y="1554480"/>
            <a:ext cx="2743200" cy="914400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45168" y="1618488"/>
            <a:ext cx="2615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Máximo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468880"/>
            <a:ext cx="32004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23744"/>
            <a:ext cx="30723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Tier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2468880"/>
            <a:ext cx="22860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2523744"/>
            <a:ext cx="21579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468880"/>
            <a:ext cx="32004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523744"/>
            <a:ext cx="30723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7–8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2468880"/>
            <a:ext cx="27432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2523744"/>
            <a:ext cx="2615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383280"/>
            <a:ext cx="320040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438144"/>
            <a:ext cx="30723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Tier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3383280"/>
            <a:ext cx="228600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58768" y="3438144"/>
            <a:ext cx="21579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383280"/>
            <a:ext cx="320040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3438144"/>
            <a:ext cx="30723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10–12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3383280"/>
            <a:ext cx="274320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5168" y="3438144"/>
            <a:ext cx="2615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297680"/>
            <a:ext cx="32004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352544"/>
            <a:ext cx="30723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ADE8"/>
                </a:solidFill>
              </a:rPr>
              <a:t>Tier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94760" y="4297680"/>
            <a:ext cx="22860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8768" y="4352544"/>
            <a:ext cx="21579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4297680"/>
            <a:ext cx="32004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4352544"/>
            <a:ext cx="30723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ADE8"/>
                </a:solidFill>
              </a:rPr>
              <a:t>13–15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4297680"/>
            <a:ext cx="27432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45168" y="4352544"/>
            <a:ext cx="2615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074920"/>
            <a:ext cx="11430000" cy="9144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16636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⚠  Importante: não crie todos os cartões no mesmo dia.
A nota considera em quantos dias diferentes você criou cartões.
Criar em 3 dias distintos vale mais do que criar 15 cartões em 1 hora.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Nome do baralho (crítico!)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Nomeie o baralho exatamente como indicado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43200" cy="74980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435608"/>
            <a:ext cx="26151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Seu 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371600"/>
            <a:ext cx="8686800" cy="74980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2968" y="1435608"/>
            <a:ext cx="85587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Nome do baralho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21408"/>
            <a:ext cx="2743200" cy="74980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176272"/>
            <a:ext cx="261518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Tier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121408"/>
            <a:ext cx="8686800" cy="74980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2176272"/>
            <a:ext cx="855878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PASSAGE_E02_TIER1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71216"/>
            <a:ext cx="274320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926080"/>
            <a:ext cx="261518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Tier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871216"/>
            <a:ext cx="868680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2926080"/>
            <a:ext cx="855878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PASSAGE_E02_TIER2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21024"/>
            <a:ext cx="2743200" cy="74980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675888"/>
            <a:ext cx="261518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ADE8"/>
                </a:solidFill>
              </a:rPr>
              <a:t>Tier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621024"/>
            <a:ext cx="8686800" cy="74980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72968" y="3675888"/>
            <a:ext cx="855878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ADE8"/>
                </a:solidFill>
              </a:rPr>
              <a:t>PASSAGE_E02_TIER3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03320"/>
            <a:ext cx="11430000" cy="685800"/>
          </a:xfrm>
          <a:prstGeom prst="rect">
            <a:avLst/>
          </a:prstGeom>
          <a:solidFill>
            <a:srgbClr val="5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  ⚠  O sistema usa o nome do baralho para calcular a nota. Um nome errado faz seus cartões serem contabilizados como Component C em vez de 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C742"/>
                </a:solidFill>
              </a:rPr>
              <a:t>Como criar o baralho no StudyAmigo: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8348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1. Acesse StudyAmigo e faça login
2. Na tela de baralhos, clique em  Novo Baralho
3. Digite o nome exato da tabela acima
4. Use este baralho para todos os cartões do texto de E02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Component C: material de livre escolha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Você também precisa de 5 cartões de material próprio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Mínimo de 5 cartões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69164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O material deve ser um texto em inglês (não lista de palavras)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14884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Submeta a fonte junto com os cartões (URL, título, nome da música)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7772400" cy="56692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852928"/>
            <a:ext cx="7644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Material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788920"/>
            <a:ext cx="4023360" cy="56692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2852928"/>
            <a:ext cx="3895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Aceito?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55848"/>
            <a:ext cx="77724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410712"/>
            <a:ext cx="76443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Letra de música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355848"/>
            <a:ext cx="402336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3410712"/>
            <a:ext cx="38953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✅  (prefira vocabulário claro)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22776"/>
            <a:ext cx="77724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977640"/>
            <a:ext cx="76443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Transcrição de vídeo (YouTube, TED)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922776"/>
            <a:ext cx="402336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3977640"/>
            <a:ext cx="38953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✅  Recomendado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89704"/>
            <a:ext cx="77724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4544568"/>
            <a:ext cx="76443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Artigo simplificado (BBC Learning, VOA)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4489704"/>
            <a:ext cx="402336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544568"/>
            <a:ext cx="38953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✅  Recomendado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56632"/>
            <a:ext cx="77724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5111496"/>
            <a:ext cx="76443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Tradução de texto em português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5056632"/>
            <a:ext cx="402336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2168" y="5111496"/>
            <a:ext cx="38953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74C3C"/>
                </a:solidFill>
              </a:rPr>
              <a:t>❌  Não aceito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742432"/>
            <a:ext cx="11430000" cy="5303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833872"/>
            <a:ext cx="11201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O nome do baralho de Component C pode ser qualquer nome — só o Component B tem nome fixo.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Sugestões de fontes para Component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Por onde começar?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371600" cy="36576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2E"/>
                </a:solidFill>
              </a:rPr>
              <a:t>Tier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307592"/>
            <a:ext cx="64008" cy="256032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23444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VOA Learning English — Beginners:  learningenglish.voanews.com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700784"/>
            <a:ext cx="64008" cy="256032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627632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Letras de músicas pop/folk com vocabulário simples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2093976"/>
            <a:ext cx="64008" cy="256032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02082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Legendas de desenhos animados americanos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42616"/>
            <a:ext cx="137160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700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2E"/>
                </a:solidFill>
              </a:rPr>
              <a:t>Tier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2715768"/>
            <a:ext cx="64008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2642616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BBC Learning English — News Report:  bbc.co.uk/learningenglish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108960"/>
            <a:ext cx="64008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3035808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Transcrições de vídeos TED-Ed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3502152"/>
            <a:ext cx="64008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34290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Artigos de introdução da Wikipedia em inglês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50792"/>
            <a:ext cx="1371600" cy="36576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782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2E"/>
                </a:solidFill>
              </a:rPr>
              <a:t>Tier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19" y="4123944"/>
            <a:ext cx="64008" cy="25603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4050792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The Guardian  /  Scientific American  /  MIT Technology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4517136"/>
            <a:ext cx="64008" cy="25603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444398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Transcrições de podcasts (Radiolab, Stuff You Should Know)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4910328"/>
            <a:ext cx="64008" cy="25603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4837176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Livros de não-ficção populares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Erros mais comuns — evite!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O que NÃO fazer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" y="1188720"/>
            <a:ext cx="5852160" cy="594360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1252728"/>
            <a:ext cx="5724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❌  Erro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48" y="1188720"/>
            <a:ext cx="5852160" cy="594360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63056" y="1252728"/>
            <a:ext cx="5724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✅  Correto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" y="1783080"/>
            <a:ext cx="5852160" cy="59436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837944"/>
            <a:ext cx="57241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Frente: palavra isolada  (process)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9048" y="1783080"/>
            <a:ext cx="5852160" cy="59436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3056" y="1837944"/>
            <a:ext cx="57241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Frente: frase com  [PROCESS]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" y="2377440"/>
            <a:ext cx="585216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" y="2432304"/>
            <a:ext cx="57241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Verso: só tradução  (processo)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048" y="2377440"/>
            <a:ext cx="585216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2432304"/>
            <a:ext cx="57241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Verso: tradução + exemplo / colocação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971800"/>
            <a:ext cx="5852160" cy="59436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" y="3026664"/>
            <a:ext cx="57241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Cartão de cognato óbvio  (technology = tecnologia)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9048" y="2971800"/>
            <a:ext cx="5852160" cy="59436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3026664"/>
            <a:ext cx="57241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Pule cognatos que você já sabe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" y="3566160"/>
            <a:ext cx="585216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" y="3621024"/>
            <a:ext cx="57241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Criar todos os cartões em 1 dia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8" y="3566160"/>
            <a:ext cx="585216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3621024"/>
            <a:ext cx="57241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Distribuir em 2–3 sessões diferentes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" y="4160520"/>
            <a:ext cx="5852160" cy="59436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" y="4215384"/>
            <a:ext cx="57241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Nome do baralho errado  (Exercicio2)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9048" y="4160520"/>
            <a:ext cx="5852160" cy="59436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3056" y="4215384"/>
            <a:ext cx="57241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Nome exato:  PASSAGE_E02_TIER2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" y="4754880"/>
            <a:ext cx="585216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" y="4809744"/>
            <a:ext cx="57241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Frente sem marcação da palavra-alvo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9048" y="4754880"/>
            <a:ext cx="585216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63056" y="4809744"/>
            <a:ext cx="57241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Frente sempre com  [PALAVRA_EM_MAIÚSCULO]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O que acontece depois de criar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O ciclo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2560320" cy="155448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Criar cartão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1E2E"/>
                </a:solidFill>
              </a:rPr>
              <a:t>Revisar imediatamente
(1ª sessão de aprendizado)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1031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54480"/>
            <a:ext cx="2560320" cy="15544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SM-2 agenda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próxima revisão em 1–3 dias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1031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554480"/>
            <a:ext cx="2560320" cy="1554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Você volta e revisa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SM-2 ajusta o intervalo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1031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1554480"/>
            <a:ext cx="2560320" cy="155448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Cartão maduro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1488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intervalo ≥ 21 dias
(sua nota agradece)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03520"/>
            <a:ext cx="11430000" cy="685800"/>
          </a:xfrm>
          <a:prstGeom prst="rect">
            <a:avLst/>
          </a:prstGeom>
          <a:solidFill>
            <a:srgbClr val="5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394960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⚠  Revisar imediatamente após criar é obrigatório.
Cartões criados e nunca revisados não entram no SM-2 e não geram nota.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Checklist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Antes de terminar o exercício, verifique: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760720" cy="38404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E2E"/>
                </a:solidFill>
              </a:rPr>
              <a:t>Component 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19072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Criei o baralho com o nome exato do meu 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39696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66544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Criei pelo menos o mínimo de cartões do meu 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8716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As frentes têm [PALAVRA EM MAIÚSCULO]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80944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07792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Tier 2+: versos têm classe gramatical e ☞ colocação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01568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28416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Criei cartões em mais de 1 dia (distribuição)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22192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4904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Revisei os cartões logo após criar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188720"/>
            <a:ext cx="5486400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E2E"/>
                </a:solidFill>
              </a:rPr>
              <a:t>Component 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719072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64592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Criei pelo menos 5 cartões de material próprio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139696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066544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Anotei a fonte do material (URL ou título)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560320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487168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material é um texto em inglês (não uma tradução)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Resumo em uma frase por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O que levar para casa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371600" cy="132588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Tier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417320"/>
            <a:ext cx="10058400" cy="13258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600200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Leia sem dicionário → releia com a lista, palavra a palavra → troque um contexto na frase do dicionário → [MAIÚSCULO] na frente.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1371600" cy="1325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337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Tier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2926080"/>
            <a:ext cx="10058400" cy="13258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3108960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Leia sem dicionário → sublinhe sem a lista → confronte com a lista → Tradução Reversa → ☞ colocação e tradução da frase no verso.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434840"/>
            <a:ext cx="1371600" cy="132588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846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Tier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4434840"/>
            <a:ext cx="10058400" cy="13258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4617720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Leia sem dicionário → auditoria produtiva (consigo usar? sei a colocação? sei a classe?) → frase do dicionário → definição em inglês → ☞ colocação → tradução da frase no verso.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1887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9C742"/>
                </a:solidFill>
              </a:rPr>
              <a:t>Dúvidas?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468880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Dúvidas sobre o tier:  fale com o professor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035808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443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Dúvidas sobre o StudyAmigo:  login, criar baralho → fale com o professor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602736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112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Dúvidas sobre o método de cartão:  este documento + exemplos dos slides anteriores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069080"/>
            <a:ext cx="8229600" cy="3657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Prazo de E02: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251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Abril 2026  (data exata confirmada pelo professor)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Documento gerado em Março 2026 · StudyAmigo / E02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