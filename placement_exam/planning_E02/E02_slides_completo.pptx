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85" r:id="rId21"/>
    <p:sldId id="286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/>
    <p:restoredTop sz="94643"/>
  </p:normalViewPr>
  <p:slideViewPr>
    <p:cSldViewPr snapToGrid="0" snapToObjects="1">
      <p:cViewPr varScale="1">
        <p:scale>
          <a:sx n="101" d="100"/>
          <a:sy n="101" d="100"/>
        </p:scale>
        <p:origin x="1560" y="4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53236-037B-9B4D-B0AC-EF9E00A08E1E}" type="datetimeFigureOut">
              <a:rPr lang="pt-BR" smtClean="0"/>
              <a:t>29/03/2026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183BB-5D6E-3B40-AED6-D236B91C140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8747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E077FE0-DE59-92FE-D0C0-CE6A049B6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64F6196-0BC3-7E37-2537-6FBA0270F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14901CC-D945-6769-AD6A-EC703EFF7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84773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D77B0C-86A1-DD7E-5C1F-16A7C05C2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B5B7E9-303B-DE45-8975-58A69F2DEFC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reply.com/en/blog/english-language-levels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reply.com/en/blog/english-language-levels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reply.com/en/blog/english-language-levels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reply.com/en/blog/english-language-levels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reply.com/en/blog/english-language-levels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ply.com/en/blog/english-language-levels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reply.com/en/blog/english-language-levels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9C742"/>
                </a:solidFill>
              </a:rPr>
              <a:t>Exercício E02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606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</a:rPr>
              <a:t>Criando seus primeiros flashcards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429000"/>
            <a:ext cx="8229600" cy="36576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611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CCCC"/>
                </a:solidFill>
              </a:rPr>
              <a:t>StudyAmigo  ·  Abril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Biotecnologia  ·  Metrologia  ·  Segurança Cibernética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35615C-A5BE-ECD6-2A1F-360791B64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O que mudou de E01 para E02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CCCCCC"/>
                </a:solidFill>
              </a:rPr>
              <a:t>Em E01 você revisou cartões prontos.  Em E02 você vai criar os seus próprios.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2560320" cy="65836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29768" y="1664208"/>
            <a:ext cx="24323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2000"/>
          </a:p>
        </p:txBody>
      </p:sp>
      <p:sp>
        <p:nvSpPr>
          <p:cNvPr id="7" name="Rectangle 6"/>
          <p:cNvSpPr/>
          <p:nvPr/>
        </p:nvSpPr>
        <p:spPr>
          <a:xfrm>
            <a:off x="2926080" y="1600200"/>
            <a:ext cx="4114800" cy="65836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2990088" y="1664208"/>
            <a:ext cx="39867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C742"/>
                </a:solidFill>
              </a:rPr>
              <a:t>E01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0" y="1600200"/>
            <a:ext cx="5120640" cy="65836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7104888" y="1664208"/>
            <a:ext cx="4992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C742"/>
                </a:solidFill>
              </a:rPr>
              <a:t>E02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58568"/>
            <a:ext cx="256032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429768" y="2313432"/>
            <a:ext cx="24323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Baralho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258568"/>
            <a:ext cx="411480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2990088" y="2313432"/>
            <a:ext cx="39867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Pré-carregado pelo professor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2258568"/>
            <a:ext cx="512064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7104888" y="2313432"/>
            <a:ext cx="4992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ECC71"/>
                </a:solidFill>
              </a:rPr>
              <a:t>Você cria o baralho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16936"/>
            <a:ext cx="256032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429768" y="2971800"/>
            <a:ext cx="24323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Atividade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2916936"/>
            <a:ext cx="411480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2990088" y="2971800"/>
            <a:ext cx="39867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Apenas revisar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2916936"/>
            <a:ext cx="512064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TextBox 21"/>
          <p:cNvSpPr txBox="1"/>
          <p:nvPr/>
        </p:nvSpPr>
        <p:spPr>
          <a:xfrm>
            <a:off x="7104888" y="2971800"/>
            <a:ext cx="4992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9C742"/>
                </a:solidFill>
              </a:rPr>
              <a:t>Ler → selecionar → criar → revisar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575304"/>
            <a:ext cx="256032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TextBox 23"/>
          <p:cNvSpPr txBox="1"/>
          <p:nvPr/>
        </p:nvSpPr>
        <p:spPr>
          <a:xfrm>
            <a:off x="429768" y="3630168"/>
            <a:ext cx="24323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Escolha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3575304"/>
            <a:ext cx="411480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2990088" y="3630168"/>
            <a:ext cx="39867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Sem escolha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3575304"/>
            <a:ext cx="512064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8" name="TextBox 27"/>
          <p:cNvSpPr txBox="1"/>
          <p:nvPr/>
        </p:nvSpPr>
        <p:spPr>
          <a:xfrm>
            <a:off x="7104888" y="3630168"/>
            <a:ext cx="4992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ECC71"/>
                </a:solidFill>
              </a:rPr>
              <a:t>Você decide o que aprender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303520"/>
            <a:ext cx="11430000" cy="6400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5394960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ℹ  Criar um cartão é uma habilidade. Esta aula ensina como fazer certo desde o início.</a:t>
            </a: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ED00D46E-1686-F144-22DE-597CC5243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Estrutura do E02: três componentes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3883022" cy="80467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429768" y="1252728"/>
            <a:ext cx="3713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C742"/>
                </a:solidFill>
              </a:rPr>
              <a:t>Componente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916" y="1188720"/>
            <a:ext cx="6217244" cy="80467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4254500" y="1252728"/>
            <a:ext cx="61056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C742"/>
                </a:solidFill>
              </a:rPr>
              <a:t>O que é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24160" y="1188720"/>
            <a:ext cx="1737360" cy="80467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10488168" y="1252728"/>
            <a:ext cx="16093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C742"/>
                </a:solidFill>
              </a:rPr>
              <a:t>Peso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93392"/>
            <a:ext cx="3883022" cy="80467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429768" y="2048256"/>
            <a:ext cx="3713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9C742"/>
                </a:solidFill>
              </a:rPr>
              <a:t>A — Baralho Compartilhado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916" y="1993392"/>
            <a:ext cx="6217244" cy="80467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4254500" y="2048256"/>
            <a:ext cx="61056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Revisão do baralho curado (Verbal Tenses — Batch 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24160" y="1993392"/>
            <a:ext cx="1737360" cy="80467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10488168" y="2048256"/>
            <a:ext cx="16093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~30%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98064"/>
            <a:ext cx="3883022" cy="80467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429768" y="2852928"/>
            <a:ext cx="3713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9C742"/>
                </a:solidFill>
              </a:rPr>
              <a:t>B — Texto Nivelado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916" y="2798064"/>
            <a:ext cx="6217244" cy="80467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4254500" y="2852928"/>
            <a:ext cx="61056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Leitura do texto do seu tier + criação de cartões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24160" y="2798064"/>
            <a:ext cx="1737360" cy="80467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10488168" y="2852928"/>
            <a:ext cx="16093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~40%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602736"/>
            <a:ext cx="3883022" cy="80467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429768" y="3657600"/>
            <a:ext cx="3713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9C742"/>
                </a:solidFill>
              </a:rPr>
              <a:t>C — Livre Escolha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916" y="3602736"/>
            <a:ext cx="6217244" cy="80467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5" name="TextBox 24"/>
          <p:cNvSpPr txBox="1"/>
          <p:nvPr/>
        </p:nvSpPr>
        <p:spPr>
          <a:xfrm>
            <a:off x="4254500" y="3657600"/>
            <a:ext cx="61056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Material à sua escolha + mínimo de 5 cartões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24160" y="3602736"/>
            <a:ext cx="1737360" cy="80467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10488168" y="3657600"/>
            <a:ext cx="16093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~30%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394960"/>
            <a:ext cx="5486400" cy="5486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548640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→  Esta aula foca nos Componentes B e C.</a:t>
            </a: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9AEEABA7-5F63-F9E3-98CC-AF612A108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Qual é o seu tier?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Cada aluno recebe um texto diferente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2651760" cy="80467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9768" y="1527048"/>
            <a:ext cx="25237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C742"/>
                </a:solidFill>
              </a:rPr>
              <a:t>Tier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463040"/>
            <a:ext cx="6858000" cy="80467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81528" y="1527048"/>
            <a:ext cx="67299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C742"/>
                </a:solidFill>
              </a:rPr>
              <a:t>Perfil</a:t>
            </a:r>
          </a:p>
        </p:txBody>
      </p:sp>
      <p:sp>
        <p:nvSpPr>
          <p:cNvPr id="9" name="Rectangle 8"/>
          <p:cNvSpPr/>
          <p:nvPr/>
        </p:nvSpPr>
        <p:spPr>
          <a:xfrm>
            <a:off x="9875520" y="1463040"/>
            <a:ext cx="2286000" cy="80467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939528" y="1527048"/>
            <a:ext cx="21579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C742"/>
                </a:solidFill>
              </a:rPr>
              <a:t>Estimativa da turma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67712"/>
            <a:ext cx="2651760" cy="80467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429768" y="2322576"/>
            <a:ext cx="25237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9C742"/>
                </a:solidFill>
              </a:rPr>
              <a:t>Tier 1 — Foundation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2267712"/>
            <a:ext cx="6858000" cy="80467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3081528" y="2322576"/>
            <a:ext cx="67299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Inglês mínimo ou passivo; reconhece cognatos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75520" y="2267712"/>
            <a:ext cx="2286000" cy="80467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9939528" y="2322576"/>
            <a:ext cx="21579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~55–60%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72384"/>
            <a:ext cx="2651760" cy="80467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429768" y="3127248"/>
            <a:ext cx="25237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ECC71"/>
                </a:solidFill>
              </a:rPr>
              <a:t>Tier 2 — Developing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3072384"/>
            <a:ext cx="6858000" cy="80467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3081528" y="3127248"/>
            <a:ext cx="67299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Inglês escolar; lê frases simples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75520" y="3072384"/>
            <a:ext cx="2286000" cy="80467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TextBox 21"/>
          <p:cNvSpPr txBox="1"/>
          <p:nvPr/>
        </p:nvSpPr>
        <p:spPr>
          <a:xfrm>
            <a:off x="9939528" y="3127248"/>
            <a:ext cx="21579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~33–37%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877056"/>
            <a:ext cx="2651760" cy="80467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TextBox 23"/>
          <p:cNvSpPr txBox="1"/>
          <p:nvPr/>
        </p:nvSpPr>
        <p:spPr>
          <a:xfrm>
            <a:off x="429768" y="3931920"/>
            <a:ext cx="25237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DADE8"/>
                </a:solidFill>
              </a:rPr>
              <a:t>Tier 3 — Expanding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3877056"/>
            <a:ext cx="6858000" cy="80467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3081528" y="3931920"/>
            <a:ext cx="67299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Inglês com exposição significativa; lê parágrafos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75520" y="3877056"/>
            <a:ext cx="2286000" cy="80467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8" name="TextBox 27"/>
          <p:cNvSpPr txBox="1"/>
          <p:nvPr/>
        </p:nvSpPr>
        <p:spPr>
          <a:xfrm>
            <a:off x="9939528" y="3931920"/>
            <a:ext cx="21579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~4–9%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349240"/>
            <a:ext cx="11430000" cy="5943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5440680"/>
            <a:ext cx="11201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ℹ  O professor já informou o seu tier. Se tiver dúvida, pergunte agora.</a:t>
            </a: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99CE7CF2-44B5-71CD-CECF-9DFE9AD53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Qual texto você vai usar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Component B: texto por tier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1645920" cy="80467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9768" y="1527048"/>
            <a:ext cx="151790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Tier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1463040"/>
            <a:ext cx="7772400" cy="80467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75688" y="1527048"/>
            <a:ext cx="76443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Texto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1463040"/>
            <a:ext cx="2377440" cy="80467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48088" y="1527048"/>
            <a:ext cx="224942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Tamanho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67712"/>
            <a:ext cx="1645920" cy="80467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429768" y="2322576"/>
            <a:ext cx="15179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F9C742"/>
                </a:solidFill>
              </a:rPr>
              <a:t>Tier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2267712"/>
            <a:ext cx="7772400" cy="80467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2075688" y="2322576"/>
            <a:ext cx="76443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Estória Conhecida — versão simplificada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84080" y="2267712"/>
            <a:ext cx="2377440" cy="80467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9848088" y="2322576"/>
            <a:ext cx="2249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~200 palavras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72384"/>
            <a:ext cx="1645920" cy="80467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429768" y="3127248"/>
            <a:ext cx="15179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ECC71"/>
                </a:solidFill>
              </a:rPr>
              <a:t>Tier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3072384"/>
            <a:ext cx="7772400" cy="80467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2075688" y="3127248"/>
            <a:ext cx="76443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Estória Conhecida — versão mais rica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3072384"/>
            <a:ext cx="2377440" cy="80467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TextBox 21"/>
          <p:cNvSpPr txBox="1"/>
          <p:nvPr/>
        </p:nvSpPr>
        <p:spPr>
          <a:xfrm>
            <a:off x="9848088" y="3127248"/>
            <a:ext cx="2249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~300 palavras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877056"/>
            <a:ext cx="1645920" cy="80467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TextBox 23"/>
          <p:cNvSpPr txBox="1"/>
          <p:nvPr/>
        </p:nvSpPr>
        <p:spPr>
          <a:xfrm>
            <a:off x="429768" y="3931920"/>
            <a:ext cx="15179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DADE8"/>
                </a:solidFill>
              </a:rPr>
              <a:t>Tier 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0" y="3877056"/>
            <a:ext cx="7772400" cy="80467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2075688" y="3931920"/>
            <a:ext cx="76443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Texto autêntico — IA / Demis Hassabis (60 Minutes / NYT)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0" y="3877056"/>
            <a:ext cx="2377440" cy="80467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8" name="TextBox 27"/>
          <p:cNvSpPr txBox="1"/>
          <p:nvPr/>
        </p:nvSpPr>
        <p:spPr>
          <a:xfrm>
            <a:off x="9848088" y="3931920"/>
            <a:ext cx="2249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400–600 palavras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349240"/>
            <a:ext cx="11430000" cy="5943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5440680"/>
            <a:ext cx="11201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💡  Por que uma estória conhecida?  Você já conhece o enredo em português — sua atenção fica toda no vocabulário.</a:t>
            </a: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EE1CF787-2320-1370-4117-7331D3BBB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6CC97F-374A-2D7A-3D11-E6C86AEF2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8E08BE-3C34-6E51-D979-FC848B8DE85C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B0FD7C-90A9-7BD1-8F11-5245BB415F73}"/>
              </a:ext>
            </a:extLst>
          </p:cNvPr>
          <p:cNvSpPr txBox="1"/>
          <p:nvPr/>
        </p:nvSpPr>
        <p:spPr>
          <a:xfrm>
            <a:off x="320040" y="109728"/>
            <a:ext cx="11521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200" b="1" i="0" dirty="0">
                <a:solidFill>
                  <a:srgbClr val="1E1E2E"/>
                </a:solidFill>
              </a:rPr>
              <a:t>Diferentes habilidades no idioma (CEFR-Europa)</a:t>
            </a:r>
            <a:endParaRPr sz="3200" b="1" i="0" dirty="0">
              <a:solidFill>
                <a:srgbClr val="1E1E2E"/>
              </a:solidFill>
            </a:endParaRP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018EEF83-6C17-220C-F444-9B26C6399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B10A3D7-EE81-8CD6-F767-E23D7F9FA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61" y="1088987"/>
            <a:ext cx="5708012" cy="5659285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00A3CEF-38FD-00FC-038C-F0AA5457B220}"/>
              </a:ext>
            </a:extLst>
          </p:cNvPr>
          <p:cNvSpPr txBox="1"/>
          <p:nvPr/>
        </p:nvSpPr>
        <p:spPr>
          <a:xfrm>
            <a:off x="213627" y="2111435"/>
            <a:ext cx="4358373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dirty="0">
                <a:solidFill>
                  <a:schemeClr val="bg2"/>
                </a:solidFill>
              </a:rPr>
              <a:t>The Common </a:t>
            </a:r>
            <a:r>
              <a:rPr lang="pt-BR" sz="3200" dirty="0" err="1">
                <a:solidFill>
                  <a:schemeClr val="bg2"/>
                </a:solidFill>
              </a:rPr>
              <a:t>European</a:t>
            </a:r>
            <a:r>
              <a:rPr lang="pt-BR" sz="3200" dirty="0">
                <a:solidFill>
                  <a:schemeClr val="bg2"/>
                </a:solidFill>
              </a:rPr>
              <a:t> </a:t>
            </a:r>
            <a:br>
              <a:rPr lang="pt-BR" sz="3200" dirty="0">
                <a:solidFill>
                  <a:schemeClr val="bg2"/>
                </a:solidFill>
              </a:rPr>
            </a:br>
            <a:r>
              <a:rPr lang="pt-BR" sz="3200" dirty="0">
                <a:solidFill>
                  <a:schemeClr val="bg2"/>
                </a:solidFill>
              </a:rPr>
              <a:t>Framework </a:t>
            </a:r>
            <a:r>
              <a:rPr lang="pt-BR" sz="3200" dirty="0" err="1">
                <a:solidFill>
                  <a:schemeClr val="bg2"/>
                </a:solidFill>
              </a:rPr>
              <a:t>of</a:t>
            </a:r>
            <a:r>
              <a:rPr lang="pt-BR" sz="3200" dirty="0">
                <a:solidFill>
                  <a:schemeClr val="bg2"/>
                </a:solidFill>
              </a:rPr>
              <a:t> </a:t>
            </a:r>
            <a:r>
              <a:rPr lang="pt-BR" sz="3200" dirty="0" err="1">
                <a:solidFill>
                  <a:schemeClr val="bg2"/>
                </a:solidFill>
              </a:rPr>
              <a:t>Reference</a:t>
            </a:r>
            <a:r>
              <a:rPr lang="pt-BR" sz="3200" dirty="0">
                <a:solidFill>
                  <a:schemeClr val="bg2"/>
                </a:solidFill>
              </a:rPr>
              <a:t> </a:t>
            </a:r>
            <a:br>
              <a:rPr lang="pt-BR" sz="3200" dirty="0">
                <a:solidFill>
                  <a:schemeClr val="bg2"/>
                </a:solidFill>
              </a:rPr>
            </a:br>
            <a:r>
              <a:rPr lang="pt-BR" sz="3200" dirty="0">
                <a:solidFill>
                  <a:schemeClr val="bg2"/>
                </a:solidFill>
              </a:rPr>
              <a:t>for </a:t>
            </a:r>
            <a:r>
              <a:rPr lang="pt-BR" sz="3200" dirty="0" err="1">
                <a:solidFill>
                  <a:schemeClr val="bg2"/>
                </a:solidFill>
              </a:rPr>
              <a:t>Languages</a:t>
            </a:r>
            <a:r>
              <a:rPr lang="pt-BR" sz="3200" dirty="0">
                <a:solidFill>
                  <a:schemeClr val="bg2"/>
                </a:solidFill>
              </a:rPr>
              <a:t> </a:t>
            </a:r>
            <a:br>
              <a:rPr lang="pt-BR" sz="3200" dirty="0">
                <a:solidFill>
                  <a:schemeClr val="bg2"/>
                </a:solidFill>
              </a:rPr>
            </a:br>
            <a:r>
              <a:rPr lang="pt-BR" sz="3200" dirty="0">
                <a:solidFill>
                  <a:schemeClr val="bg2"/>
                </a:solidFill>
              </a:rPr>
              <a:t>(CEFR)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E21D3C-D71B-10B2-90FE-223E505CF89F}"/>
              </a:ext>
            </a:extLst>
          </p:cNvPr>
          <p:cNvSpPr txBox="1"/>
          <p:nvPr/>
        </p:nvSpPr>
        <p:spPr>
          <a:xfrm>
            <a:off x="622300" y="5232400"/>
            <a:ext cx="1921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Fonte:  Preply.com</a:t>
            </a:r>
            <a:endParaRPr lang="pt-BR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8676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B430DF-1890-88F5-3BD0-7565CBB0C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1ED010-1318-6997-E1C1-C6DDBF3D0BB5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DA6D43-3C86-BB9E-2B0E-E68DB926911A}"/>
              </a:ext>
            </a:extLst>
          </p:cNvPr>
          <p:cNvSpPr txBox="1"/>
          <p:nvPr/>
        </p:nvSpPr>
        <p:spPr>
          <a:xfrm>
            <a:off x="320040" y="109728"/>
            <a:ext cx="11521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200" b="1" i="0" dirty="0">
                <a:solidFill>
                  <a:srgbClr val="1E1E2E"/>
                </a:solidFill>
              </a:rPr>
              <a:t>Diferentes habilidades no idioma (CEFR-Europa)</a:t>
            </a:r>
            <a:endParaRPr sz="3200" b="1" i="0" dirty="0">
              <a:solidFill>
                <a:srgbClr val="1E1E2E"/>
              </a:solidFill>
            </a:endParaRP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E7E6446B-7F2E-7C71-E406-B74821D29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9D5E6A9-A9B6-C376-7889-F2E06B7A4321}"/>
              </a:ext>
            </a:extLst>
          </p:cNvPr>
          <p:cNvSpPr txBox="1"/>
          <p:nvPr/>
        </p:nvSpPr>
        <p:spPr>
          <a:xfrm>
            <a:off x="321541" y="1901003"/>
            <a:ext cx="5558559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Se </a:t>
            </a:r>
            <a:r>
              <a:rPr lang="en-US" sz="2400" dirty="0" err="1">
                <a:solidFill>
                  <a:schemeClr val="bg2"/>
                </a:solidFill>
              </a:rPr>
              <a:t>apresentar</a:t>
            </a:r>
            <a:r>
              <a:rPr lang="en-US" sz="2400" dirty="0">
                <a:solidFill>
                  <a:schemeClr val="bg2"/>
                </a:solidFill>
              </a:rPr>
              <a:t> de um </a:t>
            </a:r>
            <a:r>
              <a:rPr lang="en-US" sz="2400" dirty="0" err="1">
                <a:solidFill>
                  <a:schemeClr val="bg2"/>
                </a:solidFill>
              </a:rPr>
              <a:t>jeito</a:t>
            </a:r>
            <a:r>
              <a:rPr lang="en-US" sz="2400" dirty="0">
                <a:solidFill>
                  <a:schemeClr val="bg2"/>
                </a:solidFill>
              </a:rPr>
              <a:t> </a:t>
            </a:r>
            <a:r>
              <a:rPr lang="en-US" sz="2400" dirty="0" err="1">
                <a:solidFill>
                  <a:schemeClr val="bg2"/>
                </a:solidFill>
              </a:rPr>
              <a:t>básico</a:t>
            </a:r>
            <a:r>
              <a:rPr lang="en-US" sz="2400" dirty="0">
                <a:solidFill>
                  <a:schemeClr val="bg2"/>
                </a:solidFill>
              </a:rPr>
              <a:t>, </a:t>
            </a:r>
            <a:r>
              <a:rPr lang="en-US" sz="2400" dirty="0" err="1">
                <a:solidFill>
                  <a:schemeClr val="bg2"/>
                </a:solidFill>
              </a:rPr>
              <a:t>usando</a:t>
            </a:r>
            <a:r>
              <a:rPr lang="en-US" sz="2400" dirty="0">
                <a:solidFill>
                  <a:schemeClr val="bg2"/>
                </a:solidFill>
              </a:rPr>
              <a:t> </a:t>
            </a:r>
            <a:r>
              <a:rPr lang="en-US" sz="2400" dirty="0" err="1">
                <a:solidFill>
                  <a:schemeClr val="bg2"/>
                </a:solidFill>
              </a:rPr>
              <a:t>cumprimentos</a:t>
            </a:r>
            <a:r>
              <a:rPr lang="en-US" sz="2400" dirty="0">
                <a:solidFill>
                  <a:schemeClr val="bg2"/>
                </a:solidFill>
              </a:rPr>
              <a:t> simples e </a:t>
            </a:r>
            <a:r>
              <a:rPr lang="en-US" sz="2400" dirty="0" err="1">
                <a:solidFill>
                  <a:schemeClr val="bg2"/>
                </a:solidFill>
              </a:rPr>
              <a:t>aqueles</a:t>
            </a:r>
            <a:r>
              <a:rPr lang="en-US" sz="2400" dirty="0">
                <a:solidFill>
                  <a:schemeClr val="bg2"/>
                </a:solidFill>
              </a:rPr>
              <a:t> </a:t>
            </a:r>
            <a:r>
              <a:rPr lang="en-US" sz="2400" dirty="0" err="1">
                <a:solidFill>
                  <a:schemeClr val="bg2"/>
                </a:solidFill>
              </a:rPr>
              <a:t>papos</a:t>
            </a:r>
            <a:r>
              <a:rPr lang="en-US" sz="2400" dirty="0">
                <a:solidFill>
                  <a:schemeClr val="bg2"/>
                </a:solidFill>
              </a:rPr>
              <a:t> de </a:t>
            </a:r>
            <a:r>
              <a:rPr lang="en-US" sz="2400" dirty="0" err="1">
                <a:solidFill>
                  <a:schemeClr val="bg2"/>
                </a:solidFill>
              </a:rPr>
              <a:t>quebra-gelo</a:t>
            </a:r>
            <a:r>
              <a:rPr lang="en-US" sz="2400" dirty="0">
                <a:solidFill>
                  <a:schemeClr val="bg2"/>
                </a:solidFill>
              </a:rPr>
              <a:t> (</a:t>
            </a:r>
            <a:r>
              <a:rPr lang="en-US" sz="2400" dirty="0" err="1">
                <a:solidFill>
                  <a:schemeClr val="bg2"/>
                </a:solidFill>
              </a:rPr>
              <a:t>tipo</a:t>
            </a:r>
            <a:r>
              <a:rPr lang="en-US" sz="2400" dirty="0">
                <a:solidFill>
                  <a:schemeClr val="bg2"/>
                </a:solidFill>
              </a:rPr>
              <a:t> </a:t>
            </a:r>
            <a:r>
              <a:rPr lang="en-US" sz="2400" dirty="0" err="1">
                <a:solidFill>
                  <a:schemeClr val="bg2"/>
                </a:solidFill>
              </a:rPr>
              <a:t>falar</a:t>
            </a:r>
            <a:r>
              <a:rPr lang="en-US" sz="2400" dirty="0">
                <a:solidFill>
                  <a:schemeClr val="bg2"/>
                </a:solidFill>
              </a:rPr>
              <a:t> do tempo).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2"/>
                </a:solidFill>
              </a:rPr>
              <a:t>Entender</a:t>
            </a:r>
            <a:r>
              <a:rPr lang="en-US" sz="2400" dirty="0">
                <a:solidFill>
                  <a:schemeClr val="bg2"/>
                </a:solidFill>
              </a:rPr>
              <a:t> </a:t>
            </a:r>
            <a:r>
              <a:rPr lang="en-US" sz="2400" dirty="0" err="1">
                <a:solidFill>
                  <a:schemeClr val="bg2"/>
                </a:solidFill>
              </a:rPr>
              <a:t>indicações</a:t>
            </a:r>
            <a:r>
              <a:rPr lang="en-US" sz="2400" dirty="0">
                <a:solidFill>
                  <a:schemeClr val="bg2"/>
                </a:solidFill>
              </a:rPr>
              <a:t> </a:t>
            </a:r>
            <a:r>
              <a:rPr lang="en-US" sz="2400" dirty="0" err="1">
                <a:solidFill>
                  <a:schemeClr val="bg2"/>
                </a:solidFill>
              </a:rPr>
              <a:t>bem</a:t>
            </a:r>
            <a:r>
              <a:rPr lang="en-US" sz="2400" dirty="0">
                <a:solidFill>
                  <a:schemeClr val="bg2"/>
                </a:solidFill>
              </a:rPr>
              <a:t> </a:t>
            </a:r>
            <a:r>
              <a:rPr lang="en-US" sz="2400" dirty="0" err="1">
                <a:solidFill>
                  <a:schemeClr val="bg2"/>
                </a:solidFill>
              </a:rPr>
              <a:t>básicas</a:t>
            </a:r>
            <a:r>
              <a:rPr lang="en-US" sz="2400" dirty="0">
                <a:solidFill>
                  <a:schemeClr val="bg2"/>
                </a:solidFill>
              </a:rPr>
              <a:t> de </a:t>
            </a:r>
            <a:r>
              <a:rPr lang="en-US" sz="2400" dirty="0" err="1">
                <a:solidFill>
                  <a:schemeClr val="bg2"/>
                </a:solidFill>
              </a:rPr>
              <a:t>falantes</a:t>
            </a:r>
            <a:r>
              <a:rPr lang="en-US" sz="2400" dirty="0">
                <a:solidFill>
                  <a:schemeClr val="bg2"/>
                </a:solidFill>
              </a:rPr>
              <a:t> </a:t>
            </a:r>
            <a:r>
              <a:rPr lang="en-US" sz="2400" dirty="0" err="1">
                <a:solidFill>
                  <a:schemeClr val="bg2"/>
                </a:solidFill>
              </a:rPr>
              <a:t>nativos</a:t>
            </a:r>
            <a:r>
              <a:rPr lang="en-US" sz="2400" dirty="0">
                <a:solidFill>
                  <a:schemeClr val="bg2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Se </a:t>
            </a:r>
            <a:r>
              <a:rPr lang="en-US" sz="2400" dirty="0" err="1">
                <a:solidFill>
                  <a:schemeClr val="bg2"/>
                </a:solidFill>
              </a:rPr>
              <a:t>virar</a:t>
            </a:r>
            <a:r>
              <a:rPr lang="en-US" sz="2400" dirty="0">
                <a:solidFill>
                  <a:schemeClr val="bg2"/>
                </a:solidFill>
              </a:rPr>
              <a:t> pela </a:t>
            </a:r>
            <a:r>
              <a:rPr lang="en-US" sz="2400" dirty="0" err="1">
                <a:solidFill>
                  <a:schemeClr val="bg2"/>
                </a:solidFill>
              </a:rPr>
              <a:t>cidade</a:t>
            </a:r>
            <a:r>
              <a:rPr lang="en-US" sz="2400" dirty="0">
                <a:solidFill>
                  <a:schemeClr val="bg2"/>
                </a:solidFill>
              </a:rPr>
              <a:t> </a:t>
            </a:r>
            <a:r>
              <a:rPr lang="en-US" sz="2400" dirty="0" err="1">
                <a:solidFill>
                  <a:schemeClr val="bg2"/>
                </a:solidFill>
              </a:rPr>
              <a:t>lendo</a:t>
            </a:r>
            <a:r>
              <a:rPr lang="en-US" sz="2400" dirty="0">
                <a:solidFill>
                  <a:schemeClr val="bg2"/>
                </a:solidFill>
              </a:rPr>
              <a:t> </a:t>
            </a:r>
            <a:r>
              <a:rPr lang="en-US" sz="2400" dirty="0" err="1">
                <a:solidFill>
                  <a:schemeClr val="bg2"/>
                </a:solidFill>
              </a:rPr>
              <a:t>placas</a:t>
            </a:r>
            <a:r>
              <a:rPr lang="en-US" sz="2400" dirty="0">
                <a:solidFill>
                  <a:schemeClr val="bg2"/>
                </a:solidFill>
              </a:rPr>
              <a:t>, </a:t>
            </a:r>
            <a:r>
              <a:rPr lang="en-US" sz="2400" dirty="0" err="1">
                <a:solidFill>
                  <a:schemeClr val="bg2"/>
                </a:solidFill>
              </a:rPr>
              <a:t>cartazes</a:t>
            </a:r>
            <a:r>
              <a:rPr lang="en-US" sz="2400" dirty="0">
                <a:solidFill>
                  <a:schemeClr val="bg2"/>
                </a:solidFill>
              </a:rPr>
              <a:t> e </a:t>
            </a:r>
            <a:r>
              <a:rPr lang="en-US" sz="2400" dirty="0" err="1">
                <a:solidFill>
                  <a:schemeClr val="bg2"/>
                </a:solidFill>
              </a:rPr>
              <a:t>avisos</a:t>
            </a:r>
            <a:r>
              <a:rPr lang="en-US" sz="2400" dirty="0">
                <a:solidFill>
                  <a:schemeClr val="bg2"/>
                </a:solidFill>
              </a:rPr>
              <a:t> simples.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2"/>
                </a:solidFill>
              </a:rPr>
              <a:t>Escrever</a:t>
            </a:r>
            <a:r>
              <a:rPr lang="en-US" sz="2400" dirty="0">
                <a:solidFill>
                  <a:schemeClr val="bg2"/>
                </a:solidFill>
              </a:rPr>
              <a:t> </a:t>
            </a:r>
            <a:r>
              <a:rPr lang="en-US" sz="2400" dirty="0" err="1">
                <a:solidFill>
                  <a:schemeClr val="bg2"/>
                </a:solidFill>
              </a:rPr>
              <a:t>descrições</a:t>
            </a:r>
            <a:r>
              <a:rPr lang="en-US" sz="2400" dirty="0">
                <a:solidFill>
                  <a:schemeClr val="bg2"/>
                </a:solidFill>
              </a:rPr>
              <a:t> </a:t>
            </a:r>
            <a:r>
              <a:rPr lang="en-US" sz="2400" dirty="0" err="1">
                <a:solidFill>
                  <a:schemeClr val="bg2"/>
                </a:solidFill>
              </a:rPr>
              <a:t>curtinhas</a:t>
            </a:r>
            <a:r>
              <a:rPr lang="en-US" sz="2400" dirty="0">
                <a:solidFill>
                  <a:schemeClr val="bg2"/>
                </a:solidFill>
              </a:rPr>
              <a:t> dos </a:t>
            </a:r>
            <a:r>
              <a:rPr lang="en-US" sz="2400" dirty="0" err="1">
                <a:solidFill>
                  <a:schemeClr val="bg2"/>
                </a:solidFill>
              </a:rPr>
              <a:t>seus</a:t>
            </a:r>
            <a:r>
              <a:rPr lang="en-US" sz="2400" dirty="0">
                <a:solidFill>
                  <a:schemeClr val="bg2"/>
                </a:solidFill>
              </a:rPr>
              <a:t> hobbies e do </a:t>
            </a:r>
            <a:r>
              <a:rPr lang="en-US" sz="2400" dirty="0" err="1">
                <a:solidFill>
                  <a:schemeClr val="bg2"/>
                </a:solidFill>
              </a:rPr>
              <a:t>que</a:t>
            </a:r>
            <a:r>
              <a:rPr lang="en-US" sz="2400" dirty="0">
                <a:solidFill>
                  <a:schemeClr val="bg2"/>
                </a:solidFill>
              </a:rPr>
              <a:t> </a:t>
            </a:r>
            <a:r>
              <a:rPr lang="en-US" sz="2400" dirty="0" err="1">
                <a:solidFill>
                  <a:schemeClr val="bg2"/>
                </a:solidFill>
              </a:rPr>
              <a:t>curte</a:t>
            </a:r>
            <a:r>
              <a:rPr lang="en-US" sz="2400" dirty="0">
                <a:solidFill>
                  <a:schemeClr val="bg2"/>
                </a:solidFill>
              </a:rPr>
              <a:t> </a:t>
            </a:r>
            <a:r>
              <a:rPr lang="en-US" sz="2400" dirty="0" err="1">
                <a:solidFill>
                  <a:schemeClr val="bg2"/>
                </a:solidFill>
              </a:rPr>
              <a:t>fazer</a:t>
            </a:r>
            <a:r>
              <a:rPr lang="en-US" sz="2400" dirty="0">
                <a:solidFill>
                  <a:schemeClr val="bg2"/>
                </a:solidFill>
              </a:rPr>
              <a:t>.</a:t>
            </a:r>
          </a:p>
          <a:p>
            <a:pPr algn="ctr"/>
            <a:endParaRPr lang="pt-BR" sz="3200" dirty="0">
              <a:solidFill>
                <a:schemeClr val="bg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C3FD3A-12D5-D2E8-AC9B-8CA18B090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3" y="1885950"/>
            <a:ext cx="5054600" cy="3263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394D72-BBCB-E83F-5A21-234162CD043B}"/>
              </a:ext>
            </a:extLst>
          </p:cNvPr>
          <p:cNvSpPr txBox="1"/>
          <p:nvPr/>
        </p:nvSpPr>
        <p:spPr>
          <a:xfrm>
            <a:off x="6997700" y="5660628"/>
            <a:ext cx="1921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Fonte:  Preply.com</a:t>
            </a:r>
            <a:endParaRPr lang="pt-BR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4312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868BFE-D806-A8A4-BFBE-394F6B0C8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ECB20B-07B8-A973-E6BC-F298AFBBE4DB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05E8AD-2F67-1378-6BE7-E63F3CEF648C}"/>
              </a:ext>
            </a:extLst>
          </p:cNvPr>
          <p:cNvSpPr txBox="1"/>
          <p:nvPr/>
        </p:nvSpPr>
        <p:spPr>
          <a:xfrm>
            <a:off x="320040" y="109728"/>
            <a:ext cx="11521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200" b="1" i="0" dirty="0">
                <a:solidFill>
                  <a:srgbClr val="1E1E2E"/>
                </a:solidFill>
              </a:rPr>
              <a:t>Diferentes habilidades no idioma (CEFR-Europa)</a:t>
            </a:r>
            <a:endParaRPr sz="3200" b="1" i="0" dirty="0">
              <a:solidFill>
                <a:srgbClr val="1E1E2E"/>
              </a:solidFill>
            </a:endParaRP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6C88F2DE-DB6D-5716-431A-A5B4B39B4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5C4B2A0-5786-5653-1EE0-9777BDDEDA94}"/>
              </a:ext>
            </a:extLst>
          </p:cNvPr>
          <p:cNvSpPr txBox="1"/>
          <p:nvPr/>
        </p:nvSpPr>
        <p:spPr>
          <a:xfrm>
            <a:off x="520700" y="1539935"/>
            <a:ext cx="52832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2"/>
                </a:solidFill>
              </a:rPr>
              <a:t>Trocar ideia com falantes de inglês e fazer networking com colegas gringos sobre assuntos do dia a dia.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2"/>
                </a:solidFill>
              </a:rPr>
              <a:t>Entender expressões bem usadas, faladas devagar, em situações tipo: fazer compras, falar de família ou de trampo.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2"/>
                </a:solidFill>
              </a:rPr>
              <a:t>Escrever sobre necessidades básicas do momento e fazer descrições simples de amigos e família.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2"/>
                </a:solidFill>
              </a:rPr>
              <a:t>Ler textinhos curtos e fáceis, com vocabulário comum e expressões que todo mundo conhece.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6245C3-2240-0AD6-7C94-58C6A9ABB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936750"/>
            <a:ext cx="5054600" cy="3263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5DCA82-5F2F-6070-917C-81D107FE074B}"/>
              </a:ext>
            </a:extLst>
          </p:cNvPr>
          <p:cNvSpPr txBox="1"/>
          <p:nvPr/>
        </p:nvSpPr>
        <p:spPr>
          <a:xfrm>
            <a:off x="8229600" y="5730478"/>
            <a:ext cx="1921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Fonte:  Preply.com</a:t>
            </a:r>
            <a:endParaRPr lang="pt-BR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931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B51D2A-DE0F-0E38-F94D-92A76C18C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D8BA03-2DB7-D7AD-D640-98A7609ADEF2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849B68-F383-B410-4C84-7DA29D39F448}"/>
              </a:ext>
            </a:extLst>
          </p:cNvPr>
          <p:cNvSpPr txBox="1"/>
          <p:nvPr/>
        </p:nvSpPr>
        <p:spPr>
          <a:xfrm>
            <a:off x="320040" y="109728"/>
            <a:ext cx="11521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200" b="1" i="0" dirty="0">
                <a:solidFill>
                  <a:srgbClr val="1E1E2E"/>
                </a:solidFill>
              </a:rPr>
              <a:t>Diferentes habilidades no idioma (CEFR-Europa)</a:t>
            </a:r>
            <a:endParaRPr sz="3200" b="1" i="0" dirty="0">
              <a:solidFill>
                <a:srgbClr val="1E1E2E"/>
              </a:solidFill>
            </a:endParaRP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F2D87CE1-C268-97E7-6659-CE7401F58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B93845F-11EF-3BA3-B766-A6147B7EB0AC}"/>
              </a:ext>
            </a:extLst>
          </p:cNvPr>
          <p:cNvSpPr txBox="1"/>
          <p:nvPr/>
        </p:nvSpPr>
        <p:spPr>
          <a:xfrm>
            <a:off x="200927" y="1847840"/>
            <a:ext cx="539977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2"/>
                </a:solidFill>
              </a:rPr>
              <a:t>Contar experiências e falar sobre o que quer da vida.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2"/>
                </a:solidFill>
              </a:rPr>
              <a:t>Assistir séries e programas em inglês, mas ainda precisando das legendas em inglês.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2"/>
                </a:solidFill>
              </a:rPr>
              <a:t>Seguir a história em livros e filmes mais tranquilos em inglês, e entender o que tá rolando nas notícias.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2"/>
                </a:solidFill>
              </a:rPr>
              <a:t>Escrever textos simples sobre assuntos que conhece ou que têm a ver com sua vida.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272470-9E73-5A9E-A3C7-7890AE4EC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924050"/>
            <a:ext cx="5054600" cy="3263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421329-B226-E6CA-5DB0-A7B7C87FE344}"/>
              </a:ext>
            </a:extLst>
          </p:cNvPr>
          <p:cNvSpPr txBox="1"/>
          <p:nvPr/>
        </p:nvSpPr>
        <p:spPr>
          <a:xfrm>
            <a:off x="8216900" y="5730478"/>
            <a:ext cx="1921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Fonte:  Preply.com</a:t>
            </a:r>
            <a:endParaRPr lang="pt-BR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668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F5CC47-FF3E-C17E-6842-878B05277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A5F4A1-23D0-E1C3-A3DA-0D9C55F48223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6B5917-A6D1-E98F-5A3F-B4891B71AD82}"/>
              </a:ext>
            </a:extLst>
          </p:cNvPr>
          <p:cNvSpPr txBox="1"/>
          <p:nvPr/>
        </p:nvSpPr>
        <p:spPr>
          <a:xfrm>
            <a:off x="320040" y="109728"/>
            <a:ext cx="11521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200" b="1" i="0" dirty="0">
                <a:solidFill>
                  <a:srgbClr val="1E1E2E"/>
                </a:solidFill>
              </a:rPr>
              <a:t>Diferentes habilidades no idioma (CEFR-Europa)</a:t>
            </a:r>
            <a:endParaRPr sz="3200" b="1" i="0" dirty="0">
              <a:solidFill>
                <a:srgbClr val="1E1E2E"/>
              </a:solidFill>
            </a:endParaRP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02C2701B-760C-C0C3-DDB6-9B4FBD87F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D7315E0-00F9-68E1-51F8-BB78195B2064}"/>
              </a:ext>
            </a:extLst>
          </p:cNvPr>
          <p:cNvSpPr txBox="1"/>
          <p:nvPr/>
        </p:nvSpPr>
        <p:spPr>
          <a:xfrm>
            <a:off x="569246" y="1275933"/>
            <a:ext cx="524735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2"/>
                </a:solidFill>
              </a:rPr>
              <a:t>Participar ativamente de discussões em contextos conhecidos, dando explicações e argumentando bem.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2"/>
                </a:solidFill>
              </a:rPr>
              <a:t>Entender inglês falado em velocidade normal, desde que o assunto não seja totalmente fora da sua área.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2"/>
                </a:solidFill>
              </a:rPr>
              <a:t>Pegar a ideia principal de textos mais complexos, além de ler prosa literária contemporânea, artigos e reportagens.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2"/>
                </a:solidFill>
              </a:rPr>
              <a:t>Escrever textos claros e detalhados sobre o que curte ou entende bem, usando conectivos certos para ligar as ideias.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309B38-2AB0-1530-0D5F-6F62A3EFB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3" y="1936750"/>
            <a:ext cx="5054600" cy="3263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CC47FA-EA5B-BB32-83BE-E298F63F726B}"/>
              </a:ext>
            </a:extLst>
          </p:cNvPr>
          <p:cNvSpPr txBox="1"/>
          <p:nvPr/>
        </p:nvSpPr>
        <p:spPr>
          <a:xfrm>
            <a:off x="8216900" y="5730478"/>
            <a:ext cx="1921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Fonte:  Preply.com</a:t>
            </a:r>
            <a:endParaRPr lang="pt-BR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3673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6F9953-D3DB-0274-92EB-91BD80FC2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4CA908-ECD9-32AF-31D6-51D2B88F2FAF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F9869B-1A10-3C09-40FE-938EBF8269BD}"/>
              </a:ext>
            </a:extLst>
          </p:cNvPr>
          <p:cNvSpPr txBox="1"/>
          <p:nvPr/>
        </p:nvSpPr>
        <p:spPr>
          <a:xfrm>
            <a:off x="320040" y="109728"/>
            <a:ext cx="11521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200" b="1" i="0" dirty="0">
                <a:solidFill>
                  <a:srgbClr val="1E1E2E"/>
                </a:solidFill>
              </a:rPr>
              <a:t>Diferentes habilidades no idioma (CEFR-Europa)</a:t>
            </a:r>
            <a:endParaRPr sz="3200" b="1" i="0" dirty="0">
              <a:solidFill>
                <a:srgbClr val="1E1E2E"/>
              </a:solidFill>
            </a:endParaRP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E0A8033E-5B78-C9A2-BAE7-6818E8F43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7FA075-7059-75F4-D71C-CFC9B67B0B4F}"/>
              </a:ext>
            </a:extLst>
          </p:cNvPr>
          <p:cNvSpPr txBox="1"/>
          <p:nvPr/>
        </p:nvSpPr>
        <p:spPr>
          <a:xfrm>
            <a:off x="320040" y="1924050"/>
            <a:ext cx="565377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2"/>
                </a:solidFill>
              </a:rPr>
              <a:t>Se expressar com fluência e fazer apresentações em inglês sem travar.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2"/>
                </a:solidFill>
              </a:rPr>
              <a:t>Sacou piadas sutis e entender o que tá nas entrelinhas de uma conversa.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2"/>
                </a:solidFill>
              </a:rPr>
              <a:t>Entender uma galera de textos longos e exigentes.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2"/>
                </a:solidFill>
              </a:rPr>
              <a:t>Escrever bastante sobre os mais variados assuntos, inclusive os que nunca viu antes, sem aperreio.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6319B1-E16E-5EAA-3234-DD5FA7EEA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3" y="1924050"/>
            <a:ext cx="5054600" cy="3263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E84A12-B11D-FA1E-70CA-821CE7AF5272}"/>
              </a:ext>
            </a:extLst>
          </p:cNvPr>
          <p:cNvSpPr txBox="1"/>
          <p:nvPr/>
        </p:nvSpPr>
        <p:spPr>
          <a:xfrm>
            <a:off x="8229600" y="5730478"/>
            <a:ext cx="1921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Fonte:  Preply.com</a:t>
            </a:r>
            <a:endParaRPr lang="pt-BR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080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F2C25D-AE53-42DC-BBD9-E3BBB4D1E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52F281-5D02-06DB-EA58-3F854A84658E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893BF8-42EB-E5A8-12A9-0A59A21977CE}"/>
              </a:ext>
            </a:extLst>
          </p:cNvPr>
          <p:cNvSpPr txBox="1"/>
          <p:nvPr/>
        </p:nvSpPr>
        <p:spPr>
          <a:xfrm>
            <a:off x="320040" y="109728"/>
            <a:ext cx="11521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200" b="1" i="0" dirty="0">
                <a:solidFill>
                  <a:srgbClr val="1E1E2E"/>
                </a:solidFill>
              </a:rPr>
              <a:t>Diferentes habilidades no idioma (CEFR-Europa)</a:t>
            </a:r>
            <a:endParaRPr sz="3200" b="1" i="0" dirty="0">
              <a:solidFill>
                <a:srgbClr val="1E1E2E"/>
              </a:solidFill>
            </a:endParaRP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93B7CEBB-C80C-C9F3-6AF0-B90C718B0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833626-646D-57EB-6B18-23A73995BE63}"/>
              </a:ext>
            </a:extLst>
          </p:cNvPr>
          <p:cNvSpPr txBox="1"/>
          <p:nvPr/>
        </p:nvSpPr>
        <p:spPr>
          <a:xfrm>
            <a:off x="320040" y="1719640"/>
            <a:ext cx="531876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2"/>
                </a:solidFill>
              </a:rPr>
              <a:t>Se expressar de forma espontânea e fluente, e lidar com perguntas difíceis ou até hostis sem perder a pose.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2"/>
                </a:solidFill>
              </a:rPr>
              <a:t>Escrever de forma coerente e direta, com a capacidade de resumir informações e montar argumentos completos.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2"/>
                </a:solidFill>
              </a:rPr>
              <a:t>Entender tudo que ouve em inglês, sem esforço nenhum.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bg2"/>
                </a:solidFill>
              </a:rPr>
              <a:t>Ler textos técnicos e complexos em alta velocidade.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513C6D-C051-D17D-CBA1-B0A360EBB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3" y="1911350"/>
            <a:ext cx="5054600" cy="3263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A16862-D18F-D754-CF12-095AAED2B64D}"/>
              </a:ext>
            </a:extLst>
          </p:cNvPr>
          <p:cNvSpPr txBox="1"/>
          <p:nvPr/>
        </p:nvSpPr>
        <p:spPr>
          <a:xfrm>
            <a:off x="8216900" y="5730478"/>
            <a:ext cx="1921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Fonte:  Preply.com</a:t>
            </a:r>
            <a:endParaRPr lang="pt-BR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22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O que é um cartão bem feito?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Três regras para todos os tiers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345" y="1417320"/>
            <a:ext cx="502920" cy="12344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347345" y="1673352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E1E2E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697" y="1417320"/>
            <a:ext cx="10881360" cy="12344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1005713" y="1508760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 err="1">
                <a:solidFill>
                  <a:srgbClr val="F9C742"/>
                </a:solidFill>
              </a:rPr>
              <a:t>Regra</a:t>
            </a:r>
            <a:r>
              <a:rPr sz="2400" b="1" i="0" dirty="0">
                <a:solidFill>
                  <a:srgbClr val="F9C742"/>
                </a:solidFill>
              </a:rPr>
              <a:t> 1 — </a:t>
            </a:r>
            <a:r>
              <a:rPr lang="pt-BR" sz="2400" b="1" i="0" dirty="0">
                <a:solidFill>
                  <a:srgbClr val="F9C742"/>
                </a:solidFill>
              </a:rPr>
              <a:t>Foco/Alvo Único</a:t>
            </a:r>
            <a:endParaRPr sz="2400" b="1" i="0" dirty="0">
              <a:solidFill>
                <a:srgbClr val="F9C74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5713" y="1920240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FFFFFF"/>
                </a:solidFill>
              </a:rPr>
              <a:t>Cada </a:t>
            </a:r>
            <a:r>
              <a:rPr sz="2400" b="0" i="0" dirty="0" err="1">
                <a:solidFill>
                  <a:srgbClr val="FFFFFF"/>
                </a:solidFill>
              </a:rPr>
              <a:t>cartão</a:t>
            </a:r>
            <a:r>
              <a:rPr sz="2400" b="0" i="0" dirty="0">
                <a:solidFill>
                  <a:srgbClr val="FFFFFF"/>
                </a:solidFill>
              </a:rPr>
              <a:t> </a:t>
            </a:r>
            <a:r>
              <a:rPr sz="2400" b="0" i="0" dirty="0" err="1">
                <a:solidFill>
                  <a:srgbClr val="FFFFFF"/>
                </a:solidFill>
              </a:rPr>
              <a:t>testa</a:t>
            </a:r>
            <a:r>
              <a:rPr sz="2400" b="0" i="0" dirty="0">
                <a:solidFill>
                  <a:srgbClr val="FFFFFF"/>
                </a:solidFill>
              </a:rPr>
              <a:t> </a:t>
            </a:r>
            <a:r>
              <a:rPr sz="2400" b="0" i="0" dirty="0" err="1">
                <a:solidFill>
                  <a:srgbClr val="FFFFFF"/>
                </a:solidFill>
              </a:rPr>
              <a:t>exatamente</a:t>
            </a:r>
            <a:r>
              <a:rPr sz="2400" b="0" i="0" dirty="0">
                <a:solidFill>
                  <a:srgbClr val="FFFFFF"/>
                </a:solidFill>
              </a:rPr>
              <a:t> </a:t>
            </a:r>
            <a:r>
              <a:rPr lang="pt-BR" sz="2400" dirty="0">
                <a:solidFill>
                  <a:srgbClr val="FFFFFF"/>
                </a:solidFill>
              </a:rPr>
              <a:t>UMA</a:t>
            </a:r>
            <a:r>
              <a:rPr sz="2400" b="0" i="0" dirty="0">
                <a:solidFill>
                  <a:srgbClr val="FFFFFF"/>
                </a:solidFill>
              </a:rPr>
              <a:t> </a:t>
            </a:r>
            <a:r>
              <a:rPr sz="2400" b="0" i="0" dirty="0" err="1">
                <a:solidFill>
                  <a:srgbClr val="FFFFFF"/>
                </a:solidFill>
              </a:rPr>
              <a:t>coisa</a:t>
            </a:r>
            <a:r>
              <a:rPr sz="2400" b="0" i="0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345" y="2971800"/>
            <a:ext cx="502920" cy="1234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347345" y="3227832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E1E2E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697" y="2971800"/>
            <a:ext cx="10881360" cy="12344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1005713" y="3063240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ECC71"/>
                </a:solidFill>
              </a:rPr>
              <a:t>Regra 2 — Contexto mínimo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713" y="3474720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A frente deve ter contexto suficiente para ter só uma resposta correta.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345" y="4526280"/>
            <a:ext cx="502920" cy="1234440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347345" y="4782312"/>
            <a:ext cx="502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E1E2E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697" y="4526280"/>
            <a:ext cx="10881360" cy="12344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1005713" y="4617720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DADE8"/>
                </a:solidFill>
              </a:rPr>
              <a:t>Regra 3 — Verso produtivo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713" y="5029200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O verso deve ter mais do que a resposta — uma âncora de memória.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A285D2C-4170-514A-0BAB-EFE52A023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O formato correto da frente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A palavra-alvo vai em [MAIÚSCULO]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1430000" cy="15087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109960" cy="1251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 dirty="0">
                <a:solidFill>
                  <a:srgbClr val="A8FFC8"/>
                </a:solidFill>
                <a:latin typeface="Courier New"/>
              </a:rPr>
              <a:t>❌  </a:t>
            </a:r>
            <a:r>
              <a:rPr sz="2400" dirty="0" err="1">
                <a:solidFill>
                  <a:srgbClr val="A8FFC8"/>
                </a:solidFill>
                <a:latin typeface="Courier New"/>
              </a:rPr>
              <a:t>Frente</a:t>
            </a:r>
            <a:r>
              <a:rPr sz="2400" dirty="0">
                <a:solidFill>
                  <a:srgbClr val="A8FFC8"/>
                </a:solidFill>
                <a:latin typeface="Courier New"/>
              </a:rPr>
              <a:t> </a:t>
            </a:r>
            <a:r>
              <a:rPr sz="2400" dirty="0" err="1">
                <a:solidFill>
                  <a:srgbClr val="A8FFC8"/>
                </a:solidFill>
                <a:latin typeface="Courier New"/>
              </a:rPr>
              <a:t>ambígua</a:t>
            </a:r>
            <a:r>
              <a:rPr sz="2400" dirty="0">
                <a:solidFill>
                  <a:srgbClr val="A8FFC8"/>
                </a:solidFill>
                <a:latin typeface="Courier New"/>
              </a:rPr>
              <a:t>:</a:t>
            </a:r>
          </a:p>
          <a:p>
            <a:pPr>
              <a:spcBef>
                <a:spcPts val="200"/>
              </a:spcBef>
            </a:pPr>
            <a:r>
              <a:rPr sz="2400" dirty="0">
                <a:solidFill>
                  <a:srgbClr val="A8FFC8"/>
                </a:solidFill>
                <a:latin typeface="Courier New"/>
              </a:rPr>
              <a:t>   "Engineers analyze sensor data."</a:t>
            </a:r>
          </a:p>
          <a:p>
            <a:pPr>
              <a:spcBef>
                <a:spcPts val="200"/>
              </a:spcBef>
            </a:pPr>
            <a:r>
              <a:rPr sz="2400" dirty="0">
                <a:solidFill>
                  <a:srgbClr val="A8FFC8"/>
                </a:solidFill>
                <a:latin typeface="Courier New"/>
              </a:rPr>
              <a:t>   (O </a:t>
            </a:r>
            <a:r>
              <a:rPr sz="2400" dirty="0" err="1">
                <a:solidFill>
                  <a:srgbClr val="A8FFC8"/>
                </a:solidFill>
                <a:latin typeface="Courier New"/>
              </a:rPr>
              <a:t>que</a:t>
            </a:r>
            <a:r>
              <a:rPr sz="2400" dirty="0">
                <a:solidFill>
                  <a:srgbClr val="A8FFC8"/>
                </a:solidFill>
                <a:latin typeface="Courier New"/>
              </a:rPr>
              <a:t> o </a:t>
            </a:r>
            <a:r>
              <a:rPr sz="2400" dirty="0" err="1">
                <a:solidFill>
                  <a:srgbClr val="A8FFC8"/>
                </a:solidFill>
                <a:latin typeface="Courier New"/>
              </a:rPr>
              <a:t>cartão</a:t>
            </a:r>
            <a:r>
              <a:rPr sz="2400" dirty="0">
                <a:solidFill>
                  <a:srgbClr val="A8FFC8"/>
                </a:solidFill>
                <a:latin typeface="Courier New"/>
              </a:rPr>
              <a:t> </a:t>
            </a:r>
            <a:r>
              <a:rPr sz="2400" dirty="0" err="1">
                <a:solidFill>
                  <a:srgbClr val="A8FFC8"/>
                </a:solidFill>
                <a:latin typeface="Courier New"/>
              </a:rPr>
              <a:t>está</a:t>
            </a:r>
            <a:r>
              <a:rPr sz="2400" dirty="0">
                <a:solidFill>
                  <a:srgbClr val="A8FFC8"/>
                </a:solidFill>
                <a:latin typeface="Courier New"/>
              </a:rPr>
              <a:t> </a:t>
            </a:r>
            <a:r>
              <a:rPr sz="2400" dirty="0" err="1">
                <a:solidFill>
                  <a:srgbClr val="A8FFC8"/>
                </a:solidFill>
                <a:latin typeface="Courier New"/>
              </a:rPr>
              <a:t>testando</a:t>
            </a:r>
            <a:r>
              <a:rPr sz="2400" dirty="0">
                <a:solidFill>
                  <a:srgbClr val="A8FFC8"/>
                </a:solidFill>
                <a:latin typeface="Courier New"/>
              </a:rPr>
              <a:t>? analyze? sensor?  data?)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971800"/>
            <a:ext cx="11430000" cy="15087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1109960" cy="1251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 dirty="0">
                <a:solidFill>
                  <a:srgbClr val="A8FFC8"/>
                </a:solidFill>
                <a:latin typeface="Courier New"/>
              </a:rPr>
              <a:t>✅  </a:t>
            </a:r>
            <a:r>
              <a:rPr sz="2400" dirty="0" err="1">
                <a:solidFill>
                  <a:srgbClr val="A8FFC8"/>
                </a:solidFill>
                <a:latin typeface="Courier New"/>
              </a:rPr>
              <a:t>Frente</a:t>
            </a:r>
            <a:r>
              <a:rPr sz="2400" dirty="0">
                <a:solidFill>
                  <a:srgbClr val="A8FFC8"/>
                </a:solidFill>
                <a:latin typeface="Courier New"/>
              </a:rPr>
              <a:t> </a:t>
            </a:r>
            <a:r>
              <a:rPr sz="2400" dirty="0" err="1">
                <a:solidFill>
                  <a:srgbClr val="A8FFC8"/>
                </a:solidFill>
                <a:latin typeface="Courier New"/>
              </a:rPr>
              <a:t>correta</a:t>
            </a:r>
            <a:r>
              <a:rPr sz="2400" dirty="0">
                <a:solidFill>
                  <a:srgbClr val="A8FFC8"/>
                </a:solidFill>
                <a:latin typeface="Courier New"/>
              </a:rPr>
              <a:t>:</a:t>
            </a:r>
          </a:p>
          <a:p>
            <a:pPr>
              <a:spcBef>
                <a:spcPts val="200"/>
              </a:spcBef>
            </a:pPr>
            <a:r>
              <a:rPr sz="2400" dirty="0">
                <a:solidFill>
                  <a:srgbClr val="A8FFC8"/>
                </a:solidFill>
                <a:latin typeface="Courier New"/>
              </a:rPr>
              <a:t>   "Engineers [ANALYZE] sensor data."</a:t>
            </a:r>
          </a:p>
          <a:p>
            <a:pPr>
              <a:spcBef>
                <a:spcPts val="200"/>
              </a:spcBef>
            </a:pPr>
            <a:r>
              <a:rPr sz="2400" dirty="0">
                <a:solidFill>
                  <a:srgbClr val="A8FFC8"/>
                </a:solidFill>
                <a:latin typeface="Courier New"/>
              </a:rPr>
              <a:t>   (Claro: o </a:t>
            </a:r>
            <a:r>
              <a:rPr sz="2400" dirty="0" err="1">
                <a:solidFill>
                  <a:srgbClr val="A8FFC8"/>
                </a:solidFill>
                <a:latin typeface="Courier New"/>
              </a:rPr>
              <a:t>cartão</a:t>
            </a:r>
            <a:r>
              <a:rPr sz="2400" dirty="0">
                <a:solidFill>
                  <a:srgbClr val="A8FFC8"/>
                </a:solidFill>
                <a:latin typeface="Courier New"/>
              </a:rPr>
              <a:t> </a:t>
            </a:r>
            <a:r>
              <a:rPr sz="2400" dirty="0" err="1">
                <a:solidFill>
                  <a:srgbClr val="A8FFC8"/>
                </a:solidFill>
                <a:latin typeface="Courier New"/>
              </a:rPr>
              <a:t>testa</a:t>
            </a:r>
            <a:r>
              <a:rPr sz="2400" dirty="0">
                <a:solidFill>
                  <a:srgbClr val="A8FFC8"/>
                </a:solidFill>
                <a:latin typeface="Courier New"/>
              </a:rPr>
              <a:t> a </a:t>
            </a:r>
            <a:r>
              <a:rPr sz="2400" dirty="0" err="1">
                <a:solidFill>
                  <a:srgbClr val="A8FFC8"/>
                </a:solidFill>
                <a:latin typeface="Courier New"/>
              </a:rPr>
              <a:t>palavra</a:t>
            </a:r>
            <a:r>
              <a:rPr sz="2400" dirty="0">
                <a:solidFill>
                  <a:srgbClr val="A8FFC8"/>
                </a:solidFill>
                <a:latin typeface="Courier New"/>
              </a:rPr>
              <a:t> 'analyze')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394960"/>
            <a:ext cx="11430000" cy="5486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5486400"/>
            <a:ext cx="11201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ℹ  Importante: a frente é uma frase com contexto, não a palavra isolada.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F3816F5-0E3B-1B52-6BAB-BEB5023DF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327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O que NÃO fazer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Cartão antigo — todos os tiers devem evitar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549273"/>
            <a:ext cx="11430000" cy="10972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86433"/>
            <a:ext cx="11109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2400" dirty="0" err="1">
                <a:solidFill>
                  <a:srgbClr val="A8FFC8"/>
                </a:solidFill>
                <a:latin typeface="Courier New"/>
              </a:rPr>
              <a:t>Frente</a:t>
            </a:r>
            <a:r>
              <a:rPr sz="2400" dirty="0">
                <a:solidFill>
                  <a:srgbClr val="A8FFC8"/>
                </a:solidFill>
                <a:latin typeface="Courier New"/>
              </a:rPr>
              <a:t>:  process</a:t>
            </a:r>
          </a:p>
          <a:p>
            <a:pPr>
              <a:spcBef>
                <a:spcPts val="200"/>
              </a:spcBef>
            </a:pPr>
            <a:r>
              <a:rPr sz="2400" dirty="0">
                <a:solidFill>
                  <a:srgbClr val="A8FFC8"/>
                </a:solidFill>
                <a:latin typeface="Courier New"/>
              </a:rPr>
              <a:t>Verso:   </a:t>
            </a:r>
            <a:r>
              <a:rPr sz="2400" dirty="0" err="1">
                <a:solidFill>
                  <a:srgbClr val="A8FFC8"/>
                </a:solidFill>
                <a:latin typeface="Courier New"/>
              </a:rPr>
              <a:t>processo</a:t>
            </a:r>
            <a:r>
              <a:rPr sz="2400" dirty="0">
                <a:solidFill>
                  <a:srgbClr val="A8FFC8"/>
                </a:solidFill>
                <a:latin typeface="Courier New"/>
              </a:rPr>
              <a:t> / </a:t>
            </a:r>
            <a:r>
              <a:rPr sz="2400" dirty="0" err="1">
                <a:solidFill>
                  <a:srgbClr val="A8FFC8"/>
                </a:solidFill>
                <a:latin typeface="Courier New"/>
              </a:rPr>
              <a:t>processar</a:t>
            </a:r>
            <a:endParaRPr sz="2400" dirty="0">
              <a:solidFill>
                <a:srgbClr val="A8FFC8"/>
              </a:solidFill>
              <a:latin typeface="Courier New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3300984"/>
            <a:ext cx="73152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640080" y="3300984"/>
            <a:ext cx="11155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Sem contexto:  Você reconhece a palavra, mas não aprende a usá-la.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22776"/>
            <a:ext cx="73152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640080" y="3922776"/>
            <a:ext cx="11155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 err="1">
                <a:solidFill>
                  <a:srgbClr val="FFFFFF"/>
                </a:solidFill>
              </a:rPr>
              <a:t>Muito</a:t>
            </a:r>
            <a:r>
              <a:rPr sz="2000" b="0" i="0" dirty="0">
                <a:solidFill>
                  <a:srgbClr val="FFFFFF"/>
                </a:solidFill>
              </a:rPr>
              <a:t> </a:t>
            </a:r>
            <a:r>
              <a:rPr sz="2000" b="0" i="0" dirty="0" err="1">
                <a:solidFill>
                  <a:srgbClr val="FFFFFF"/>
                </a:solidFill>
              </a:rPr>
              <a:t>fácil</a:t>
            </a:r>
            <a:r>
              <a:rPr sz="2000" b="0" i="0" dirty="0">
                <a:solidFill>
                  <a:srgbClr val="FFFFFF"/>
                </a:solidFill>
              </a:rPr>
              <a:t>:  </a:t>
            </a:r>
            <a:r>
              <a:rPr sz="2000" b="0" i="0" dirty="0" err="1">
                <a:solidFill>
                  <a:srgbClr val="FFFFFF"/>
                </a:solidFill>
              </a:rPr>
              <a:t>Após</a:t>
            </a:r>
            <a:r>
              <a:rPr sz="2000" b="0" i="0" dirty="0">
                <a:solidFill>
                  <a:srgbClr val="FFFFFF"/>
                </a:solidFill>
              </a:rPr>
              <a:t> 2–3 </a:t>
            </a:r>
            <a:r>
              <a:rPr sz="2000" b="0" i="0" dirty="0" err="1">
                <a:solidFill>
                  <a:srgbClr val="FFFFFF"/>
                </a:solidFill>
              </a:rPr>
              <a:t>revisões</a:t>
            </a:r>
            <a:r>
              <a:rPr sz="2000" b="0" i="0" dirty="0">
                <a:solidFill>
                  <a:srgbClr val="FFFFFF"/>
                </a:solidFill>
              </a:rPr>
              <a:t> </a:t>
            </a:r>
            <a:r>
              <a:rPr sz="2000" b="0" i="0" dirty="0" err="1">
                <a:solidFill>
                  <a:srgbClr val="FFFFFF"/>
                </a:solidFill>
              </a:rPr>
              <a:t>você</a:t>
            </a:r>
            <a:r>
              <a:rPr sz="2000" b="0" i="0" dirty="0">
                <a:solidFill>
                  <a:srgbClr val="FFFFFF"/>
                </a:solidFill>
              </a:rPr>
              <a:t> </a:t>
            </a:r>
            <a:r>
              <a:rPr sz="2000" b="0" i="0" dirty="0" err="1">
                <a:solidFill>
                  <a:srgbClr val="FFFFFF"/>
                </a:solidFill>
              </a:rPr>
              <a:t>clica</a:t>
            </a:r>
            <a:r>
              <a:rPr sz="2000" b="0" i="0" dirty="0">
                <a:solidFill>
                  <a:srgbClr val="FFFFFF"/>
                </a:solidFill>
              </a:rPr>
              <a:t> </a:t>
            </a:r>
            <a:r>
              <a:rPr lang="en-BR" sz="2000" dirty="0">
                <a:solidFill>
                  <a:srgbClr val="FFFFFF"/>
                </a:solidFill>
              </a:rPr>
              <a:t>”Fácil” </a:t>
            </a:r>
            <a:r>
              <a:rPr sz="2000" b="0" i="0" dirty="0">
                <a:solidFill>
                  <a:srgbClr val="FFFFFF"/>
                </a:solidFill>
              </a:rPr>
              <a:t> — SM-2 agenda para 60 </a:t>
            </a:r>
            <a:r>
              <a:rPr sz="2000" b="0" i="0" dirty="0" err="1">
                <a:solidFill>
                  <a:srgbClr val="FFFFFF"/>
                </a:solidFill>
              </a:rPr>
              <a:t>dias</a:t>
            </a:r>
            <a:r>
              <a:rPr sz="2000" b="0" i="0" dirty="0">
                <a:solidFill>
                  <a:srgbClr val="FFFFFF"/>
                </a:solidFill>
              </a:rPr>
              <a:t> </a:t>
            </a:r>
            <a:r>
              <a:rPr sz="2000" b="0" i="0" dirty="0" err="1">
                <a:solidFill>
                  <a:srgbClr val="FFFFFF"/>
                </a:solidFill>
              </a:rPr>
              <a:t>sem</a:t>
            </a:r>
            <a:r>
              <a:rPr sz="2000" b="0" i="0" dirty="0">
                <a:solidFill>
                  <a:srgbClr val="FFFFFF"/>
                </a:solidFill>
              </a:rPr>
              <a:t> </a:t>
            </a:r>
            <a:r>
              <a:rPr sz="2000" b="0" i="0" dirty="0" err="1">
                <a:solidFill>
                  <a:srgbClr val="FFFFFF"/>
                </a:solidFill>
              </a:rPr>
              <a:t>aprendizado</a:t>
            </a:r>
            <a:r>
              <a:rPr sz="2000" b="0" i="0" dirty="0">
                <a:solidFill>
                  <a:srgbClr val="FFFFFF"/>
                </a:solidFill>
              </a:rPr>
              <a:t> real.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44568"/>
            <a:ext cx="73152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640080" y="4544568"/>
            <a:ext cx="11155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Não entra na memória de longo prazo:  Palavra isolada não cria conexões duradouras no cérebro.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394960"/>
            <a:ext cx="11430000" cy="548640"/>
          </a:xfrm>
          <a:prstGeom prst="rect">
            <a:avLst/>
          </a:prstGeom>
          <a:solidFill>
            <a:srgbClr val="5E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5486400"/>
            <a:ext cx="11201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⚠  Por que é ruim? O SM-2 agenda como 'aprendido' algo que você apenas reconheceu.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1BF57CC-E1B0-8714-EEEB-2EEDD2D17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Tier 1 — Foundation: visão geral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560320" cy="65836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9768" y="1252728"/>
            <a:ext cx="243230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Elemento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188720"/>
            <a:ext cx="9235440" cy="65836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90088" y="1252728"/>
            <a:ext cx="91074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Instrução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47088"/>
            <a:ext cx="256032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429768" y="1901952"/>
            <a:ext cx="24323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Texto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847088"/>
            <a:ext cx="923544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2990088" y="1901952"/>
            <a:ext cx="9107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 err="1">
                <a:solidFill>
                  <a:srgbClr val="FFFFFF"/>
                </a:solidFill>
              </a:rPr>
              <a:t>Estória</a:t>
            </a:r>
            <a:r>
              <a:rPr sz="2000" b="0" i="0" dirty="0">
                <a:solidFill>
                  <a:srgbClr val="FFFFFF"/>
                </a:solidFill>
              </a:rPr>
              <a:t> </a:t>
            </a:r>
            <a:r>
              <a:rPr sz="2000" b="0" i="0" dirty="0" err="1">
                <a:solidFill>
                  <a:srgbClr val="FFFFFF"/>
                </a:solidFill>
              </a:rPr>
              <a:t>Conhecida</a:t>
            </a:r>
            <a:r>
              <a:rPr sz="2000" b="0" i="0" dirty="0">
                <a:solidFill>
                  <a:srgbClr val="FFFFFF"/>
                </a:solidFill>
              </a:rPr>
              <a:t> </a:t>
            </a:r>
            <a:r>
              <a:rPr sz="2000" b="0" i="0" dirty="0" err="1">
                <a:solidFill>
                  <a:srgbClr val="FFFFFF"/>
                </a:solidFill>
              </a:rPr>
              <a:t>simplificada</a:t>
            </a:r>
            <a:r>
              <a:rPr sz="2000" b="0" i="0" dirty="0">
                <a:solidFill>
                  <a:srgbClr val="FFFFFF"/>
                </a:solidFill>
              </a:rPr>
              <a:t> (~200 </a:t>
            </a:r>
            <a:r>
              <a:rPr sz="2000" b="0" i="0" dirty="0" err="1">
                <a:solidFill>
                  <a:srgbClr val="FFFFFF"/>
                </a:solidFill>
              </a:rPr>
              <a:t>palavras</a:t>
            </a:r>
            <a:r>
              <a:rPr sz="2000" b="0" i="0" dirty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05456"/>
            <a:ext cx="256032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429768" y="2560320"/>
            <a:ext cx="24323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9C742"/>
                </a:solidFill>
              </a:rPr>
              <a:t>Lista de palavras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505456"/>
            <a:ext cx="923544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2990088" y="2560320"/>
            <a:ext cx="9107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9C742"/>
                </a:solidFill>
              </a:rPr>
              <a:t>10 palavras fornecidas pelo professor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63824"/>
            <a:ext cx="256032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429768" y="3218688"/>
            <a:ext cx="24323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Meta de cartões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163824"/>
            <a:ext cx="923544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2990088" y="3218688"/>
            <a:ext cx="9107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mín. 5  ·  alvo 7–8  ·  máx. 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22192"/>
            <a:ext cx="256032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429768" y="3877056"/>
            <a:ext cx="24323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Sessões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3822192"/>
            <a:ext cx="923544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2990088" y="3877056"/>
            <a:ext cx="9107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1–2 sessões ao longo do exercício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480560"/>
            <a:ext cx="256032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5" name="TextBox 24"/>
          <p:cNvSpPr txBox="1"/>
          <p:nvPr/>
        </p:nvSpPr>
        <p:spPr>
          <a:xfrm>
            <a:off x="429768" y="4535424"/>
            <a:ext cx="24323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Dicionário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480560"/>
            <a:ext cx="923544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2990088" y="4535424"/>
            <a:ext cx="9107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Google Translate é suficiente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486400"/>
            <a:ext cx="11430000" cy="8382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5577840"/>
            <a:ext cx="112014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 dirty="0">
                <a:solidFill>
                  <a:srgbClr val="FFFFFF"/>
                </a:solidFill>
              </a:rPr>
              <a:t>→  Sua </a:t>
            </a:r>
            <a:r>
              <a:rPr sz="1700" b="0" i="1" dirty="0" err="1">
                <a:solidFill>
                  <a:srgbClr val="FFFFFF"/>
                </a:solidFill>
              </a:rPr>
              <a:t>tarefa</a:t>
            </a:r>
            <a:r>
              <a:rPr sz="1700" b="0" i="1" dirty="0">
                <a:solidFill>
                  <a:srgbClr val="FFFFFF"/>
                </a:solidFill>
              </a:rPr>
              <a:t> </a:t>
            </a:r>
            <a:r>
              <a:rPr sz="1700" b="0" i="1" dirty="0" err="1">
                <a:solidFill>
                  <a:srgbClr val="FFFFFF"/>
                </a:solidFill>
              </a:rPr>
              <a:t>é</a:t>
            </a:r>
            <a:r>
              <a:rPr sz="1700" b="0" i="1" dirty="0">
                <a:solidFill>
                  <a:srgbClr val="FFFFFF"/>
                </a:solidFill>
              </a:rPr>
              <a:t> </a:t>
            </a:r>
            <a:r>
              <a:rPr sz="1700" b="0" i="1" dirty="0" err="1">
                <a:solidFill>
                  <a:srgbClr val="FFFFFF"/>
                </a:solidFill>
              </a:rPr>
              <a:t>aprender</a:t>
            </a:r>
            <a:r>
              <a:rPr sz="1700" b="0" i="1" dirty="0">
                <a:solidFill>
                  <a:srgbClr val="FFFFFF"/>
                </a:solidFill>
              </a:rPr>
              <a:t> a </a:t>
            </a:r>
            <a:r>
              <a:rPr sz="1700" b="0" i="1" dirty="0" err="1">
                <a:solidFill>
                  <a:srgbClr val="FFFFFF"/>
                </a:solidFill>
              </a:rPr>
              <a:t>criar</a:t>
            </a:r>
            <a:r>
              <a:rPr sz="1700" b="0" i="1" dirty="0">
                <a:solidFill>
                  <a:srgbClr val="FFFFFF"/>
                </a:solidFill>
              </a:rPr>
              <a:t> bons </a:t>
            </a:r>
            <a:r>
              <a:rPr sz="1700" b="0" i="1" dirty="0" err="1">
                <a:solidFill>
                  <a:srgbClr val="FFFFFF"/>
                </a:solidFill>
              </a:rPr>
              <a:t>cartões</a:t>
            </a:r>
            <a:r>
              <a:rPr sz="1700" b="0" i="1" dirty="0">
                <a:solidFill>
                  <a:srgbClr val="FFFFFF"/>
                </a:solidFill>
              </a:rPr>
              <a:t> — </a:t>
            </a:r>
            <a:r>
              <a:rPr sz="1700" b="0" i="1" dirty="0" err="1">
                <a:solidFill>
                  <a:srgbClr val="FFFFFF"/>
                </a:solidFill>
              </a:rPr>
              <a:t>não</a:t>
            </a:r>
            <a:r>
              <a:rPr sz="1700" b="0" i="1" dirty="0">
                <a:solidFill>
                  <a:srgbClr val="FFFFFF"/>
                </a:solidFill>
              </a:rPr>
              <a:t> </a:t>
            </a:r>
            <a:r>
              <a:rPr sz="1700" b="0" i="1" dirty="0" err="1">
                <a:solidFill>
                  <a:srgbClr val="FFFFFF"/>
                </a:solidFill>
              </a:rPr>
              <a:t>escolher</a:t>
            </a:r>
            <a:r>
              <a:rPr sz="1700" b="0" i="1" dirty="0">
                <a:solidFill>
                  <a:srgbClr val="FFFFFF"/>
                </a:solidFill>
              </a:rPr>
              <a:t> quais </a:t>
            </a:r>
            <a:r>
              <a:rPr sz="1700" b="0" i="1" dirty="0" err="1">
                <a:solidFill>
                  <a:srgbClr val="FFFFFF"/>
                </a:solidFill>
              </a:rPr>
              <a:t>palavras</a:t>
            </a:r>
            <a:r>
              <a:rPr sz="1700" b="0" i="1" dirty="0">
                <a:solidFill>
                  <a:srgbClr val="FFFFFF"/>
                </a:solidFill>
              </a:rPr>
              <a:t> </a:t>
            </a:r>
            <a:r>
              <a:rPr sz="1700" b="0" i="1" dirty="0" err="1">
                <a:solidFill>
                  <a:srgbClr val="FFFFFF"/>
                </a:solidFill>
              </a:rPr>
              <a:t>estudar</a:t>
            </a:r>
            <a:r>
              <a:rPr sz="1700" b="0" i="1" dirty="0">
                <a:solidFill>
                  <a:srgbClr val="FFFFFF"/>
                </a:solidFill>
              </a:rPr>
              <a:t>. </a:t>
            </a:r>
            <a:endParaRPr lang="pt-BR" sz="1700" b="0" i="1" dirty="0">
              <a:solidFill>
                <a:srgbClr val="FFFFFF"/>
              </a:solidFill>
            </a:endParaRPr>
          </a:p>
          <a:p>
            <a:r>
              <a:rPr lang="en-BR" sz="1700" i="1" dirty="0">
                <a:solidFill>
                  <a:srgbClr val="FFFFFF"/>
                </a:solidFill>
              </a:rPr>
              <a:t>→ </a:t>
            </a:r>
            <a:r>
              <a:rPr sz="1700" b="0" i="1" dirty="0">
                <a:solidFill>
                  <a:srgbClr val="FFFFFF"/>
                </a:solidFill>
              </a:rPr>
              <a:t>O professor </a:t>
            </a:r>
            <a:r>
              <a:rPr sz="1700" b="0" i="1" dirty="0" err="1">
                <a:solidFill>
                  <a:srgbClr val="FFFFFF"/>
                </a:solidFill>
              </a:rPr>
              <a:t>já</a:t>
            </a:r>
            <a:r>
              <a:rPr sz="1700" b="0" i="1" dirty="0">
                <a:solidFill>
                  <a:srgbClr val="FFFFFF"/>
                </a:solidFill>
              </a:rPr>
              <a:t> </a:t>
            </a:r>
            <a:r>
              <a:rPr sz="1700" b="0" i="1" dirty="0" err="1">
                <a:solidFill>
                  <a:srgbClr val="FFFFFF"/>
                </a:solidFill>
              </a:rPr>
              <a:t>escolheu</a:t>
            </a:r>
            <a:r>
              <a:rPr sz="1700" b="0" i="1" dirty="0">
                <a:solidFill>
                  <a:srgbClr val="FFFFFF"/>
                </a:solidFill>
              </a:rPr>
              <a:t> as </a:t>
            </a:r>
            <a:r>
              <a:rPr sz="1700" b="0" i="1" dirty="0" err="1">
                <a:solidFill>
                  <a:srgbClr val="FFFFFF"/>
                </a:solidFill>
              </a:rPr>
              <a:t>palavras</a:t>
            </a:r>
            <a:r>
              <a:rPr sz="1700" b="0" i="1" dirty="0">
                <a:solidFill>
                  <a:srgbClr val="FFFFFF"/>
                </a:solidFill>
              </a:rPr>
              <a:t> para </a:t>
            </a:r>
            <a:r>
              <a:rPr sz="1700" b="0" i="1" dirty="0" err="1">
                <a:solidFill>
                  <a:srgbClr val="FFFFFF"/>
                </a:solidFill>
              </a:rPr>
              <a:t>você</a:t>
            </a:r>
            <a:r>
              <a:rPr sz="1700" b="0" i="1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48A62DF1-0CA5-E403-9340-29FB4E14B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84773" y="6356350"/>
            <a:ext cx="2133600" cy="557830"/>
          </a:xfrm>
        </p:spPr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Tier 1 — Foundation: passo a passo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Como criar um cartão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411480" cy="566928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365760" y="1581912"/>
            <a:ext cx="411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1E2E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Pegue a lista de 10 palavras-alvo do professor.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30552"/>
            <a:ext cx="411480" cy="566928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365760" y="2203704"/>
            <a:ext cx="411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1E2E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03704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Escolha uma palavra da lista.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52344"/>
            <a:ext cx="411480" cy="566928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365760" y="2825496"/>
            <a:ext cx="411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1E2E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25496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Procure 1 frase exemplo com essa palavra (Google ou Cambridge).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74136"/>
            <a:ext cx="411480" cy="804672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365760" y="3447288"/>
            <a:ext cx="411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1E2E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47288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Troque uma palavra de contexto da frase por algo da sua vida:
     "Scientists" → "Engineers" / "Biologists" / "I"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33672"/>
            <a:ext cx="411480" cy="804672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365760" y="4306824"/>
            <a:ext cx="411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1E2E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306824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 err="1">
                <a:solidFill>
                  <a:srgbClr val="FFFFFF"/>
                </a:solidFill>
              </a:rPr>
              <a:t>Crie</a:t>
            </a:r>
            <a:r>
              <a:rPr sz="2000" b="0" i="0" dirty="0">
                <a:solidFill>
                  <a:srgbClr val="FFFFFF"/>
                </a:solidFill>
              </a:rPr>
              <a:t> o </a:t>
            </a:r>
            <a:r>
              <a:rPr sz="2000" b="0" i="0" dirty="0" err="1">
                <a:solidFill>
                  <a:srgbClr val="FFFFFF"/>
                </a:solidFill>
              </a:rPr>
              <a:t>cartão</a:t>
            </a:r>
            <a:r>
              <a:rPr sz="2000" b="0" i="0" dirty="0">
                <a:solidFill>
                  <a:srgbClr val="FFFFFF"/>
                </a:solidFill>
              </a:rPr>
              <a:t> no </a:t>
            </a:r>
            <a:r>
              <a:rPr sz="2000" b="0" i="0" dirty="0" err="1">
                <a:solidFill>
                  <a:srgbClr val="FFFFFF"/>
                </a:solidFill>
              </a:rPr>
              <a:t>StudyAmigo</a:t>
            </a:r>
            <a:r>
              <a:rPr sz="2000" b="0" i="0" dirty="0">
                <a:solidFill>
                  <a:srgbClr val="FFFFFF"/>
                </a:solidFill>
              </a:rPr>
              <a:t>:
     </a:t>
            </a:r>
            <a:r>
              <a:rPr sz="2000" b="0" i="0" dirty="0" err="1">
                <a:solidFill>
                  <a:srgbClr val="FFFFFF"/>
                </a:solidFill>
              </a:rPr>
              <a:t>Frente</a:t>
            </a:r>
            <a:r>
              <a:rPr sz="2000" b="0" i="0" dirty="0">
                <a:solidFill>
                  <a:srgbClr val="FFFFFF"/>
                </a:solidFill>
              </a:rPr>
              <a:t>: </a:t>
            </a:r>
            <a:r>
              <a:rPr sz="2000" b="0" i="0" dirty="0" err="1">
                <a:solidFill>
                  <a:srgbClr val="FFFFFF"/>
                </a:solidFill>
              </a:rPr>
              <a:t>sua</a:t>
            </a:r>
            <a:r>
              <a:rPr sz="2000" b="0" i="0" dirty="0">
                <a:solidFill>
                  <a:srgbClr val="FFFFFF"/>
                </a:solidFill>
              </a:rPr>
              <a:t> </a:t>
            </a:r>
            <a:r>
              <a:rPr sz="2000" b="0" i="0" dirty="0" err="1">
                <a:solidFill>
                  <a:srgbClr val="FFFFFF"/>
                </a:solidFill>
              </a:rPr>
              <a:t>frase</a:t>
            </a:r>
            <a:r>
              <a:rPr sz="2000" b="0" i="0" dirty="0">
                <a:solidFill>
                  <a:srgbClr val="FFFFFF"/>
                </a:solidFill>
              </a:rPr>
              <a:t> com a </a:t>
            </a:r>
            <a:r>
              <a:rPr sz="2000" b="0" i="0" dirty="0" err="1">
                <a:solidFill>
                  <a:srgbClr val="FFFFFF"/>
                </a:solidFill>
              </a:rPr>
              <a:t>palavra</a:t>
            </a:r>
            <a:r>
              <a:rPr sz="2000" b="0" i="0" dirty="0">
                <a:solidFill>
                  <a:srgbClr val="FFFFFF"/>
                </a:solidFill>
              </a:rPr>
              <a:t> </a:t>
            </a:r>
            <a:r>
              <a:rPr sz="2000" b="0" i="0" dirty="0" err="1">
                <a:solidFill>
                  <a:srgbClr val="FFFFFF"/>
                </a:solidFill>
              </a:rPr>
              <a:t>em</a:t>
            </a:r>
            <a:r>
              <a:rPr sz="2000" b="0" i="0" dirty="0">
                <a:solidFill>
                  <a:srgbClr val="FFFFFF"/>
                </a:solidFill>
              </a:rPr>
              <a:t> [MAIÚSCULO]</a:t>
            </a:r>
            <a:r>
              <a:rPr lang="pt-BR" sz="2000" b="0" i="0" dirty="0">
                <a:solidFill>
                  <a:srgbClr val="FFFFFF"/>
                </a:solidFill>
              </a:rPr>
              <a:t>            </a:t>
            </a:r>
            <a:r>
              <a:rPr sz="2000" b="0" i="0" dirty="0">
                <a:solidFill>
                  <a:srgbClr val="FFFFFF"/>
                </a:solidFill>
              </a:rPr>
              <a:t>Verso: </a:t>
            </a:r>
            <a:r>
              <a:rPr sz="2000" b="0" i="0" dirty="0" err="1">
                <a:solidFill>
                  <a:srgbClr val="FFFFFF"/>
                </a:solidFill>
              </a:rPr>
              <a:t>palavra</a:t>
            </a:r>
            <a:r>
              <a:rPr sz="2000" b="0" i="0" dirty="0">
                <a:solidFill>
                  <a:srgbClr val="FFFFFF"/>
                </a:solidFill>
              </a:rPr>
              <a:t> = </a:t>
            </a:r>
            <a:r>
              <a:rPr sz="2000" b="0" i="0" dirty="0" err="1">
                <a:solidFill>
                  <a:srgbClr val="FFFFFF"/>
                </a:solidFill>
              </a:rPr>
              <a:t>tradução</a:t>
            </a:r>
            <a:r>
              <a:rPr sz="2000" b="0" i="0" dirty="0">
                <a:solidFill>
                  <a:srgbClr val="FFFFFF"/>
                </a:solidFill>
              </a:rPr>
              <a:t> </a:t>
            </a:r>
            <a:r>
              <a:rPr sz="2000" b="0" i="0" dirty="0" err="1">
                <a:solidFill>
                  <a:srgbClr val="FFFFFF"/>
                </a:solidFill>
              </a:rPr>
              <a:t>em</a:t>
            </a:r>
            <a:r>
              <a:rPr sz="2000" b="0" i="0" dirty="0">
                <a:solidFill>
                  <a:srgbClr val="FFFFFF"/>
                </a:solidFill>
              </a:rPr>
              <a:t> </a:t>
            </a:r>
            <a:r>
              <a:rPr sz="2000" b="0" i="0" dirty="0" err="1">
                <a:solidFill>
                  <a:srgbClr val="FFFFFF"/>
                </a:solidFill>
              </a:rPr>
              <a:t>português</a:t>
            </a:r>
            <a:endParaRPr sz="2000" b="0" i="0" dirty="0">
              <a:solidFill>
                <a:srgbClr val="FFFFFF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5760" y="5093208"/>
            <a:ext cx="411480" cy="566928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365760" y="5166360"/>
            <a:ext cx="411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1E2E"/>
                </a:solidFill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16636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Repita para mais 4–7 palavras da lista.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715000"/>
            <a:ext cx="411480" cy="566928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TextBox 23"/>
          <p:cNvSpPr txBox="1"/>
          <p:nvPr/>
        </p:nvSpPr>
        <p:spPr>
          <a:xfrm>
            <a:off x="365760" y="5788152"/>
            <a:ext cx="411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1E2E"/>
                </a:solidFill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788152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FFFFFF"/>
                </a:solidFill>
              </a:rPr>
              <a:t>Revise </a:t>
            </a:r>
            <a:r>
              <a:rPr sz="2000" b="0" i="0" dirty="0" err="1">
                <a:solidFill>
                  <a:srgbClr val="FFFFFF"/>
                </a:solidFill>
              </a:rPr>
              <a:t>imediatamente</a:t>
            </a:r>
            <a:r>
              <a:rPr sz="2000" b="0" i="0" dirty="0">
                <a:solidFill>
                  <a:srgbClr val="FFFFFF"/>
                </a:solidFill>
              </a:rPr>
              <a:t> </a:t>
            </a:r>
            <a:r>
              <a:rPr sz="2000" b="0" i="0" dirty="0" err="1">
                <a:solidFill>
                  <a:srgbClr val="FFFFFF"/>
                </a:solidFill>
              </a:rPr>
              <a:t>após</a:t>
            </a:r>
            <a:r>
              <a:rPr sz="2000" b="0" i="0" dirty="0">
                <a:solidFill>
                  <a:srgbClr val="FFFFFF"/>
                </a:solidFill>
              </a:rPr>
              <a:t> </a:t>
            </a:r>
            <a:r>
              <a:rPr sz="2000" b="0" i="0" dirty="0" err="1">
                <a:solidFill>
                  <a:srgbClr val="FFFFFF"/>
                </a:solidFill>
              </a:rPr>
              <a:t>criar</a:t>
            </a:r>
            <a:r>
              <a:rPr sz="2000" b="0" i="0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30063F99-C43C-CF6A-2272-FB8BB70F5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Tier 1 — Exemplo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 dirty="0" err="1">
                <a:solidFill>
                  <a:srgbClr val="CCCCCC"/>
                </a:solidFill>
              </a:rPr>
              <a:t>Palavra</a:t>
            </a:r>
            <a:r>
              <a:rPr sz="1800" b="0" i="1" dirty="0">
                <a:solidFill>
                  <a:srgbClr val="CCCCCC"/>
                </a:solidFill>
              </a:rPr>
              <a:t>: </a:t>
            </a:r>
            <a:r>
              <a:rPr sz="2000" b="1" i="1" dirty="0">
                <a:solidFill>
                  <a:srgbClr val="CCCCCC"/>
                </a:solidFill>
              </a:rPr>
              <a:t>gather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79412" y="1491741"/>
            <a:ext cx="11430000" cy="3204667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2292" y="1628902"/>
            <a:ext cx="11109960" cy="306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2000" dirty="0">
                <a:solidFill>
                  <a:srgbClr val="A8FFC8"/>
                </a:solidFill>
                <a:latin typeface="Courier New"/>
              </a:rPr>
              <a:t>Frase do </a:t>
            </a:r>
            <a:r>
              <a:rPr sz="2000" dirty="0" err="1">
                <a:solidFill>
                  <a:srgbClr val="A8FFC8"/>
                </a:solidFill>
                <a:latin typeface="Courier New"/>
              </a:rPr>
              <a:t>dicionário</a:t>
            </a:r>
            <a:r>
              <a:rPr sz="2000" dirty="0">
                <a:solidFill>
                  <a:srgbClr val="A8FFC8"/>
                </a:solidFill>
                <a:latin typeface="Courier New"/>
              </a:rPr>
              <a:t>:</a:t>
            </a:r>
          </a:p>
          <a:p>
            <a:pPr>
              <a:spcBef>
                <a:spcPts val="200"/>
              </a:spcBef>
            </a:pPr>
            <a:r>
              <a:rPr sz="2000" dirty="0">
                <a:solidFill>
                  <a:srgbClr val="A8FFC8"/>
                </a:solidFill>
                <a:latin typeface="Courier New"/>
              </a:rPr>
              <a:t>  "The girl gathered flowers in the forest."</a:t>
            </a:r>
          </a:p>
          <a:p>
            <a:pPr>
              <a:spcBef>
                <a:spcPts val="200"/>
              </a:spcBef>
            </a:pPr>
            <a:r>
              <a:rPr sz="2000" dirty="0">
                <a:solidFill>
                  <a:srgbClr val="A8FFC8"/>
                </a:solidFill>
                <a:latin typeface="Courier New"/>
              </a:rPr>
              <a:t> </a:t>
            </a:r>
          </a:p>
          <a:p>
            <a:pPr>
              <a:spcBef>
                <a:spcPts val="200"/>
              </a:spcBef>
            </a:pPr>
            <a:r>
              <a:rPr sz="2000" dirty="0" err="1">
                <a:solidFill>
                  <a:srgbClr val="A8FFC8"/>
                </a:solidFill>
                <a:latin typeface="Courier New"/>
              </a:rPr>
              <a:t>Substituição</a:t>
            </a:r>
            <a:r>
              <a:rPr sz="2000" dirty="0">
                <a:solidFill>
                  <a:srgbClr val="A8FFC8"/>
                </a:solidFill>
                <a:latin typeface="Courier New"/>
              </a:rPr>
              <a:t> (</a:t>
            </a:r>
            <a:r>
              <a:rPr sz="2000" dirty="0" err="1">
                <a:solidFill>
                  <a:srgbClr val="A8FFC8"/>
                </a:solidFill>
                <a:latin typeface="Courier New"/>
              </a:rPr>
              <a:t>aluno</a:t>
            </a:r>
            <a:r>
              <a:rPr sz="2000" dirty="0">
                <a:solidFill>
                  <a:srgbClr val="A8FFC8"/>
                </a:solidFill>
                <a:latin typeface="Courier New"/>
              </a:rPr>
              <a:t> de </a:t>
            </a:r>
            <a:r>
              <a:rPr sz="2000" dirty="0" err="1">
                <a:solidFill>
                  <a:srgbClr val="A8FFC8"/>
                </a:solidFill>
                <a:latin typeface="Courier New"/>
              </a:rPr>
              <a:t>Metrologia</a:t>
            </a:r>
            <a:r>
              <a:rPr sz="2000" dirty="0">
                <a:solidFill>
                  <a:srgbClr val="A8FFC8"/>
                </a:solidFill>
                <a:latin typeface="Courier New"/>
              </a:rPr>
              <a:t>):</a:t>
            </a:r>
          </a:p>
          <a:p>
            <a:pPr>
              <a:spcBef>
                <a:spcPts val="200"/>
              </a:spcBef>
            </a:pPr>
            <a:r>
              <a:rPr sz="2000" dirty="0">
                <a:solidFill>
                  <a:srgbClr val="A8FFC8"/>
                </a:solidFill>
                <a:latin typeface="Courier New"/>
              </a:rPr>
              <a:t>  "I gathered data from the sensors in the lab."</a:t>
            </a:r>
          </a:p>
          <a:p>
            <a:pPr>
              <a:spcBef>
                <a:spcPts val="200"/>
              </a:spcBef>
            </a:pPr>
            <a:r>
              <a:rPr sz="2000" dirty="0">
                <a:solidFill>
                  <a:srgbClr val="A8FFC8"/>
                </a:solidFill>
                <a:latin typeface="Courier New"/>
              </a:rPr>
              <a:t> </a:t>
            </a:r>
          </a:p>
          <a:p>
            <a:pPr>
              <a:spcBef>
                <a:spcPts val="200"/>
              </a:spcBef>
            </a:pPr>
            <a:r>
              <a:rPr sz="2000" dirty="0" err="1">
                <a:solidFill>
                  <a:srgbClr val="A8FFC8"/>
                </a:solidFill>
                <a:latin typeface="Courier New"/>
              </a:rPr>
              <a:t>Cartão</a:t>
            </a:r>
            <a:r>
              <a:rPr sz="2000" dirty="0">
                <a:solidFill>
                  <a:srgbClr val="A8FFC8"/>
                </a:solidFill>
                <a:latin typeface="Courier New"/>
              </a:rPr>
              <a:t> </a:t>
            </a:r>
            <a:r>
              <a:rPr sz="2000" dirty="0" err="1">
                <a:solidFill>
                  <a:srgbClr val="A8FFC8"/>
                </a:solidFill>
                <a:latin typeface="Courier New"/>
              </a:rPr>
              <a:t>criado</a:t>
            </a:r>
            <a:r>
              <a:rPr sz="2000" dirty="0">
                <a:solidFill>
                  <a:srgbClr val="A8FFC8"/>
                </a:solidFill>
                <a:latin typeface="Courier New"/>
              </a:rPr>
              <a:t>:</a:t>
            </a:r>
          </a:p>
          <a:p>
            <a:pPr>
              <a:spcBef>
                <a:spcPts val="200"/>
              </a:spcBef>
            </a:pPr>
            <a:r>
              <a:rPr sz="2000" dirty="0">
                <a:solidFill>
                  <a:srgbClr val="A8FFC8"/>
                </a:solidFill>
                <a:latin typeface="Courier New"/>
              </a:rPr>
              <a:t>  </a:t>
            </a:r>
            <a:r>
              <a:rPr sz="2000" dirty="0" err="1">
                <a:solidFill>
                  <a:srgbClr val="A8FFC8"/>
                </a:solidFill>
                <a:latin typeface="Courier New"/>
              </a:rPr>
              <a:t>Frente</a:t>
            </a:r>
            <a:r>
              <a:rPr sz="2000" dirty="0">
                <a:solidFill>
                  <a:srgbClr val="A8FFC8"/>
                </a:solidFill>
                <a:latin typeface="Courier New"/>
              </a:rPr>
              <a:t>:  "I [GATHERED] data from the sensors in the lab."</a:t>
            </a:r>
          </a:p>
          <a:p>
            <a:pPr>
              <a:spcBef>
                <a:spcPts val="200"/>
              </a:spcBef>
            </a:pPr>
            <a:r>
              <a:rPr sz="2000" dirty="0">
                <a:solidFill>
                  <a:srgbClr val="A8FFC8"/>
                </a:solidFill>
                <a:latin typeface="Courier New"/>
              </a:rPr>
              <a:t>  Verso:   gather / gathered  =  </a:t>
            </a:r>
            <a:r>
              <a:rPr sz="2000" dirty="0" err="1">
                <a:solidFill>
                  <a:srgbClr val="A8FFC8"/>
                </a:solidFill>
                <a:latin typeface="Courier New"/>
              </a:rPr>
              <a:t>coletar</a:t>
            </a:r>
            <a:r>
              <a:rPr sz="2000" dirty="0">
                <a:solidFill>
                  <a:srgbClr val="A8FFC8"/>
                </a:solidFill>
                <a:latin typeface="Courier New"/>
              </a:rPr>
              <a:t>, </a:t>
            </a:r>
            <a:r>
              <a:rPr sz="2000" dirty="0" err="1">
                <a:solidFill>
                  <a:srgbClr val="A8FFC8"/>
                </a:solidFill>
                <a:latin typeface="Courier New"/>
              </a:rPr>
              <a:t>reunir</a:t>
            </a:r>
            <a:endParaRPr sz="2000" dirty="0">
              <a:solidFill>
                <a:srgbClr val="A8FFC8"/>
              </a:solidFill>
              <a:latin typeface="Courier New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1124" y="4885471"/>
            <a:ext cx="73152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562292" y="4903759"/>
            <a:ext cx="11247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Você modificou a frase  → seu cérebro processou ativamente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24" y="5434111"/>
            <a:ext cx="73152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562292" y="5452399"/>
            <a:ext cx="11247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A frase fala da sua vida  → âncora de memória pessoal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24" y="5982751"/>
            <a:ext cx="73152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562292" y="6001039"/>
            <a:ext cx="11247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A palavra está marcada  → SM-2 testa exatamente o que você aprendeu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80F8C4-D6D0-895C-E910-0D14A435A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Ferramenta: Cambridge Learner's Dictionary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Por que o Cambridge, não o Google Translate?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2194560" cy="65836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29768" y="1481328"/>
            <a:ext cx="20665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2000"/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4114800" cy="65836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2624328" y="1481328"/>
            <a:ext cx="39867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C742"/>
                </a:solidFill>
              </a:rPr>
              <a:t>Google Translate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1417320"/>
            <a:ext cx="5486400" cy="65836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6739128" y="1481328"/>
            <a:ext cx="53583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C742"/>
                </a:solidFill>
              </a:rPr>
              <a:t>Cambridge Learner's Dictionary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75688"/>
            <a:ext cx="219456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429768" y="2130552"/>
            <a:ext cx="20665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O que fornece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2075688"/>
            <a:ext cx="411480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2624328" y="2130552"/>
            <a:ext cx="39867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Tradução direta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2075688"/>
            <a:ext cx="548640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6739128" y="2130552"/>
            <a:ext cx="53583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ECC71"/>
                </a:solidFill>
              </a:rPr>
              <a:t>Tradução + classe gramatical + colocações + exemplo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34056"/>
            <a:ext cx="219456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429768" y="2788920"/>
            <a:ext cx="20665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Ideal para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2734056"/>
            <a:ext cx="411480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2624328" y="2788920"/>
            <a:ext cx="39867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Entender o significado rapidamente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2734056"/>
            <a:ext cx="548640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TextBox 21"/>
          <p:cNvSpPr txBox="1"/>
          <p:nvPr/>
        </p:nvSpPr>
        <p:spPr>
          <a:xfrm>
            <a:off x="6739128" y="2788920"/>
            <a:ext cx="53583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ECC71"/>
                </a:solidFill>
              </a:rPr>
              <a:t>Criar o verso completo do cartão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392424"/>
            <a:ext cx="219456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TextBox 23"/>
          <p:cNvSpPr txBox="1"/>
          <p:nvPr/>
        </p:nvSpPr>
        <p:spPr>
          <a:xfrm>
            <a:off x="429768" y="3447288"/>
            <a:ext cx="20665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FFFFFF"/>
                </a:solidFill>
              </a:rPr>
              <a:t>Tier </a:t>
            </a:r>
            <a:r>
              <a:rPr sz="2000" b="0" i="0" dirty="0" err="1">
                <a:solidFill>
                  <a:srgbClr val="FFFFFF"/>
                </a:solidFill>
              </a:rPr>
              <a:t>recomendado</a:t>
            </a:r>
            <a:endParaRPr sz="2000" b="0" i="0" dirty="0">
              <a:solidFill>
                <a:srgbClr val="FFFFFF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560320" y="3392424"/>
            <a:ext cx="411480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2624328" y="3447288"/>
            <a:ext cx="39867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Tier 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3392424"/>
            <a:ext cx="548640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8" name="TextBox 27"/>
          <p:cNvSpPr txBox="1"/>
          <p:nvPr/>
        </p:nvSpPr>
        <p:spPr>
          <a:xfrm>
            <a:off x="6739128" y="3447288"/>
            <a:ext cx="53583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9C742"/>
                </a:solidFill>
              </a:rPr>
              <a:t>Tier 2 e Tier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135120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9C742"/>
                </a:solidFill>
              </a:rPr>
              <a:t>O </a:t>
            </a:r>
            <a:r>
              <a:rPr sz="2000" b="1" i="0" dirty="0" err="1">
                <a:solidFill>
                  <a:srgbClr val="F9C742"/>
                </a:solidFill>
              </a:rPr>
              <a:t>que</a:t>
            </a:r>
            <a:r>
              <a:rPr sz="2000" b="1" i="0" dirty="0">
                <a:solidFill>
                  <a:srgbClr val="F9C742"/>
                </a:solidFill>
              </a:rPr>
              <a:t> o Cambridge </a:t>
            </a:r>
            <a:r>
              <a:rPr sz="2000" b="1" i="0" dirty="0" err="1">
                <a:solidFill>
                  <a:srgbClr val="F9C742"/>
                </a:solidFill>
              </a:rPr>
              <a:t>mostra</a:t>
            </a:r>
            <a:r>
              <a:rPr sz="2000" b="1" i="0" dirty="0">
                <a:solidFill>
                  <a:srgbClr val="F9C742"/>
                </a:solidFill>
              </a:rPr>
              <a:t> </a:t>
            </a:r>
            <a:r>
              <a:rPr lang="pt-BR" sz="2000" b="1" i="0" dirty="0">
                <a:solidFill>
                  <a:srgbClr val="F9C742"/>
                </a:solidFill>
              </a:rPr>
              <a:t>o </a:t>
            </a:r>
            <a:r>
              <a:rPr sz="2000" b="1" i="0" dirty="0" err="1">
                <a:solidFill>
                  <a:srgbClr val="F9C742"/>
                </a:solidFill>
              </a:rPr>
              <a:t>que</a:t>
            </a:r>
            <a:r>
              <a:rPr sz="2000" b="1" i="0" dirty="0">
                <a:solidFill>
                  <a:srgbClr val="F9C742"/>
                </a:solidFill>
              </a:rPr>
              <a:t> o Google Translate </a:t>
            </a:r>
            <a:r>
              <a:rPr sz="2000" b="1" i="0" dirty="0" err="1">
                <a:solidFill>
                  <a:srgbClr val="F9C742"/>
                </a:solidFill>
              </a:rPr>
              <a:t>não</a:t>
            </a:r>
            <a:r>
              <a:rPr sz="2000" b="1" i="0" dirty="0">
                <a:solidFill>
                  <a:srgbClr val="F9C742"/>
                </a:solidFill>
              </a:rPr>
              <a:t> </a:t>
            </a:r>
            <a:r>
              <a:rPr sz="2000" b="1" i="0" dirty="0" err="1">
                <a:solidFill>
                  <a:srgbClr val="F9C742"/>
                </a:solidFill>
              </a:rPr>
              <a:t>mostra</a:t>
            </a:r>
            <a:r>
              <a:rPr sz="2000" b="1" i="0" dirty="0">
                <a:solidFill>
                  <a:srgbClr val="F9C742"/>
                </a:solidFill>
              </a:rPr>
              <a:t>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638040"/>
            <a:ext cx="73152" cy="292608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1" name="TextBox 30"/>
          <p:cNvSpPr txBox="1"/>
          <p:nvPr/>
        </p:nvSpPr>
        <p:spPr>
          <a:xfrm>
            <a:off x="530352" y="4546600"/>
            <a:ext cx="11155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FFFFFF"/>
                </a:solidFill>
              </a:rPr>
              <a:t>Classe </a:t>
            </a:r>
            <a:r>
              <a:rPr sz="2000" b="0" i="0" dirty="0" err="1">
                <a:solidFill>
                  <a:srgbClr val="FFFFFF"/>
                </a:solidFill>
              </a:rPr>
              <a:t>gramatical</a:t>
            </a:r>
            <a:r>
              <a:rPr sz="2000" b="0" i="0" dirty="0">
                <a:solidFill>
                  <a:srgbClr val="FFFFFF"/>
                </a:solidFill>
              </a:rPr>
              <a:t>:</a:t>
            </a:r>
            <a:r>
              <a:rPr lang="pt-BR" sz="2000" b="0" i="0" dirty="0">
                <a:solidFill>
                  <a:srgbClr val="FFFFFF"/>
                </a:solidFill>
              </a:rPr>
              <a:t>  verbo</a:t>
            </a:r>
            <a:r>
              <a:rPr sz="2000" b="0" i="0" dirty="0">
                <a:solidFill>
                  <a:srgbClr val="FFFFFF"/>
                </a:solidFill>
              </a:rPr>
              <a:t> (v.)</a:t>
            </a:r>
            <a:r>
              <a:rPr lang="pt-BR" sz="2000" b="0" i="0" dirty="0">
                <a:solidFill>
                  <a:srgbClr val="FFFFFF"/>
                </a:solidFill>
              </a:rPr>
              <a:t>, substantivo</a:t>
            </a:r>
            <a:r>
              <a:rPr sz="2000" b="0" i="0" dirty="0">
                <a:solidFill>
                  <a:srgbClr val="FFFFFF"/>
                </a:solidFill>
              </a:rPr>
              <a:t>  (n.)</a:t>
            </a:r>
            <a:r>
              <a:rPr lang="pt-BR" sz="2000" b="0" i="0" dirty="0">
                <a:solidFill>
                  <a:srgbClr val="FFFFFF"/>
                </a:solidFill>
              </a:rPr>
              <a:t>, adjetivo</a:t>
            </a:r>
            <a:r>
              <a:rPr sz="2000" b="0" i="0" dirty="0">
                <a:solidFill>
                  <a:srgbClr val="FFFFFF"/>
                </a:solidFill>
              </a:rPr>
              <a:t> (adj.)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076952"/>
            <a:ext cx="73152" cy="292608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3" name="TextBox 32"/>
          <p:cNvSpPr txBox="1"/>
          <p:nvPr/>
        </p:nvSpPr>
        <p:spPr>
          <a:xfrm>
            <a:off x="530352" y="4985512"/>
            <a:ext cx="11155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Nível de dificuldade da palavra:  A1 → C2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515864"/>
            <a:ext cx="73152" cy="292608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5" name="TextBox 34"/>
          <p:cNvSpPr txBox="1"/>
          <p:nvPr/>
        </p:nvSpPr>
        <p:spPr>
          <a:xfrm>
            <a:off x="530352" y="5424424"/>
            <a:ext cx="11155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Colocações comuns:  gather data  /  gather evidence  /  gather information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954776"/>
            <a:ext cx="73152" cy="292608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7" name="TextBox 36"/>
          <p:cNvSpPr txBox="1"/>
          <p:nvPr/>
        </p:nvSpPr>
        <p:spPr>
          <a:xfrm>
            <a:off x="530352" y="5863336"/>
            <a:ext cx="11155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Frase-exemplo editada por lexicógrafos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327648"/>
            <a:ext cx="11430000" cy="50292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6419088"/>
            <a:ext cx="11201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🌐  Acesso gratuito:  dictionary.cambridge.org  →  pesquise a palavra  →  'Learner's Dictionary'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88872927-76E7-76AC-0BDD-5C470CE22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160504-D60A-2C79-2AB2-F828EE120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0D61A0-1B03-F238-0269-0D67E0A6DE41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40B4D4-A362-32E8-30B6-3087B22C6E85}"/>
              </a:ext>
            </a:extLst>
          </p:cNvPr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Ferramenta: Cambridge Learner's Dictionary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1A1A6AC-F749-B654-F915-6A991C547FAE}"/>
              </a:ext>
            </a:extLst>
          </p:cNvPr>
          <p:cNvSpPr/>
          <p:nvPr/>
        </p:nvSpPr>
        <p:spPr>
          <a:xfrm>
            <a:off x="365760" y="6327648"/>
            <a:ext cx="11430000" cy="50292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3FFB7F7-9A89-55FF-888E-707AFA4934A8}"/>
              </a:ext>
            </a:extLst>
          </p:cNvPr>
          <p:cNvSpPr txBox="1"/>
          <p:nvPr/>
        </p:nvSpPr>
        <p:spPr>
          <a:xfrm>
            <a:off x="502920" y="6419088"/>
            <a:ext cx="11201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🌐  Acesso gratuito:  dictionary.cambridge.org  →  pesquise a palavra  →  'Learner's Dictionary'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05A3D5C1-7C43-A301-A095-41DE8DE07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C1710343-EFE3-E9B5-345D-2B672D6D0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511" y="996696"/>
            <a:ext cx="6386989" cy="5244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6890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6C0D71-DBA2-D097-D955-F2C1FB075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1ED77E-840E-19FB-D461-968141948B35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D608A0-BCBD-AAEB-0618-548A406DFD5F}"/>
              </a:ext>
            </a:extLst>
          </p:cNvPr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Ferramenta: Cambridge Learner's Dictionary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E2A9B32-B55B-A1DB-CDEA-781C316E6F03}"/>
              </a:ext>
            </a:extLst>
          </p:cNvPr>
          <p:cNvSpPr/>
          <p:nvPr/>
        </p:nvSpPr>
        <p:spPr>
          <a:xfrm>
            <a:off x="365760" y="6327648"/>
            <a:ext cx="11430000" cy="50292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2CDBA7D-4BF5-AE0E-2E82-478A61F1F4D9}"/>
              </a:ext>
            </a:extLst>
          </p:cNvPr>
          <p:cNvSpPr txBox="1"/>
          <p:nvPr/>
        </p:nvSpPr>
        <p:spPr>
          <a:xfrm>
            <a:off x="502920" y="6419088"/>
            <a:ext cx="11201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🌐  Acesso gratuito:  dictionary.cambridge.org  →  pesquise a palavra  →  'Learner's Dictionary'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E19CDB8C-831A-2AA6-2247-20678243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33EAB0-6EB4-2957-B0F6-6B948A7B1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111" y="1142648"/>
            <a:ext cx="6348889" cy="521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7007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Tier 2 — Developing: visão geral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560320" cy="65836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9768" y="1252728"/>
            <a:ext cx="243230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Elemento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188720"/>
            <a:ext cx="9235440" cy="65836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90088" y="1252728"/>
            <a:ext cx="91074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Instrução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47088"/>
            <a:ext cx="256032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429768" y="1901952"/>
            <a:ext cx="24323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Texto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847088"/>
            <a:ext cx="923544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2990088" y="1901952"/>
            <a:ext cx="9107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Estória Conhecida — versão rica (~300 palavras)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05456"/>
            <a:ext cx="256032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429768" y="2560320"/>
            <a:ext cx="24323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9C742"/>
                </a:solidFill>
              </a:rPr>
              <a:t>Lista de palavras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505456"/>
            <a:ext cx="923544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2990088" y="2560320"/>
            <a:ext cx="9107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9C742"/>
                </a:solidFill>
              </a:rPr>
              <a:t>20 palavras fornecidas pelo professor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63824"/>
            <a:ext cx="256032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429768" y="3218688"/>
            <a:ext cx="24323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Meta de cartões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163824"/>
            <a:ext cx="923544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2990088" y="3218688"/>
            <a:ext cx="9107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mín. 8  ·  alvo 10–12  ·  máx. 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22192"/>
            <a:ext cx="256032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429768" y="3877056"/>
            <a:ext cx="24323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DADE8"/>
                </a:solidFill>
              </a:rPr>
              <a:t>Sessões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3822192"/>
            <a:ext cx="923544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2990088" y="3877056"/>
            <a:ext cx="9107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DADE8"/>
                </a:solidFill>
              </a:rPr>
              <a:t>2–3 sessões  (não tudo no mesmo dia)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480560"/>
            <a:ext cx="256032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5" name="TextBox 24"/>
          <p:cNvSpPr txBox="1"/>
          <p:nvPr/>
        </p:nvSpPr>
        <p:spPr>
          <a:xfrm>
            <a:off x="429768" y="4535424"/>
            <a:ext cx="24323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ECC71"/>
                </a:solidFill>
              </a:rPr>
              <a:t>Dicionário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480560"/>
            <a:ext cx="923544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2990088" y="4535424"/>
            <a:ext cx="9107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ECC71"/>
                </a:solidFill>
              </a:rPr>
              <a:t>Cambridge Learner's Dictionary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486400"/>
            <a:ext cx="11430000" cy="5486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5577840"/>
            <a:ext cx="11201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→  Você escolhe quais das 20 palavras vai transformar em cartão. Escolher quais palavras estudar já é um exercício valioso.</a:t>
            </a: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3B48A8FE-D66A-0EDA-7111-8F47DE48D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Tier 2 — O formato do verso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O verso do Tier 2 exige mais do que o Tier 1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1430000" cy="28346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109960" cy="2734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2000" dirty="0">
                <a:solidFill>
                  <a:srgbClr val="A8FFC8"/>
                </a:solidFill>
                <a:latin typeface="Courier New"/>
              </a:rPr>
              <a:t>Tier 1 (simples):</a:t>
            </a:r>
          </a:p>
          <a:p>
            <a:pPr>
              <a:spcBef>
                <a:spcPts val="200"/>
              </a:spcBef>
            </a:pPr>
            <a:r>
              <a:rPr sz="2000" dirty="0">
                <a:solidFill>
                  <a:srgbClr val="A8FFC8"/>
                </a:solidFill>
                <a:latin typeface="Courier New"/>
              </a:rPr>
              <a:t>  gather / gathered  =  </a:t>
            </a:r>
            <a:r>
              <a:rPr sz="2000" dirty="0" err="1">
                <a:solidFill>
                  <a:srgbClr val="A8FFC8"/>
                </a:solidFill>
                <a:latin typeface="Courier New"/>
              </a:rPr>
              <a:t>coletar</a:t>
            </a:r>
            <a:r>
              <a:rPr sz="2000" dirty="0">
                <a:solidFill>
                  <a:srgbClr val="A8FFC8"/>
                </a:solidFill>
                <a:latin typeface="Courier New"/>
              </a:rPr>
              <a:t>, </a:t>
            </a:r>
            <a:r>
              <a:rPr sz="2000" dirty="0" err="1">
                <a:solidFill>
                  <a:srgbClr val="A8FFC8"/>
                </a:solidFill>
                <a:latin typeface="Courier New"/>
              </a:rPr>
              <a:t>reunir</a:t>
            </a:r>
            <a:endParaRPr sz="2000" dirty="0">
              <a:solidFill>
                <a:srgbClr val="A8FFC8"/>
              </a:solidFill>
              <a:latin typeface="Courier New"/>
            </a:endParaRPr>
          </a:p>
          <a:p>
            <a:pPr>
              <a:spcBef>
                <a:spcPts val="200"/>
              </a:spcBef>
            </a:pPr>
            <a:r>
              <a:rPr sz="2000" dirty="0">
                <a:solidFill>
                  <a:srgbClr val="A8FFC8"/>
                </a:solidFill>
                <a:latin typeface="Courier New"/>
              </a:rPr>
              <a:t> </a:t>
            </a:r>
          </a:p>
          <a:p>
            <a:pPr>
              <a:spcBef>
                <a:spcPts val="200"/>
              </a:spcBef>
            </a:pPr>
            <a:r>
              <a:rPr sz="2000" dirty="0">
                <a:solidFill>
                  <a:srgbClr val="A8FFC8"/>
                </a:solidFill>
                <a:latin typeface="Courier New"/>
              </a:rPr>
              <a:t>Tier 2 (</a:t>
            </a:r>
            <a:r>
              <a:rPr sz="2000" dirty="0" err="1">
                <a:solidFill>
                  <a:srgbClr val="A8FFC8"/>
                </a:solidFill>
                <a:latin typeface="Courier New"/>
              </a:rPr>
              <a:t>completo</a:t>
            </a:r>
            <a:r>
              <a:rPr sz="2000" dirty="0">
                <a:solidFill>
                  <a:srgbClr val="A8FFC8"/>
                </a:solidFill>
                <a:latin typeface="Courier New"/>
              </a:rPr>
              <a:t>):</a:t>
            </a:r>
          </a:p>
          <a:p>
            <a:pPr>
              <a:spcBef>
                <a:spcPts val="200"/>
              </a:spcBef>
            </a:pPr>
            <a:r>
              <a:rPr sz="2000" dirty="0">
                <a:solidFill>
                  <a:srgbClr val="A8FFC8"/>
                </a:solidFill>
                <a:latin typeface="Courier New"/>
              </a:rPr>
              <a:t>  gather (v.)  =  </a:t>
            </a:r>
            <a:r>
              <a:rPr sz="2000" dirty="0" err="1">
                <a:solidFill>
                  <a:srgbClr val="A8FFC8"/>
                </a:solidFill>
                <a:latin typeface="Courier New"/>
              </a:rPr>
              <a:t>coletar</a:t>
            </a:r>
            <a:r>
              <a:rPr sz="2000" dirty="0">
                <a:solidFill>
                  <a:srgbClr val="A8FFC8"/>
                </a:solidFill>
                <a:latin typeface="Courier New"/>
              </a:rPr>
              <a:t>, </a:t>
            </a:r>
            <a:r>
              <a:rPr sz="2000" dirty="0" err="1">
                <a:solidFill>
                  <a:srgbClr val="A8FFC8"/>
                </a:solidFill>
                <a:latin typeface="Courier New"/>
              </a:rPr>
              <a:t>reunir</a:t>
            </a:r>
            <a:endParaRPr sz="2000" dirty="0">
              <a:solidFill>
                <a:srgbClr val="A8FFC8"/>
              </a:solidFill>
              <a:latin typeface="Courier New"/>
            </a:endParaRPr>
          </a:p>
          <a:p>
            <a:pPr>
              <a:spcBef>
                <a:spcPts val="200"/>
              </a:spcBef>
            </a:pPr>
            <a:r>
              <a:rPr sz="2000" dirty="0">
                <a:solidFill>
                  <a:srgbClr val="A8FFC8"/>
                </a:solidFill>
                <a:latin typeface="Courier New"/>
              </a:rPr>
              <a:t>  ☞ gather data  /  gather evidence  /  gather information</a:t>
            </a:r>
          </a:p>
          <a:p>
            <a:pPr>
              <a:spcBef>
                <a:spcPts val="200"/>
              </a:spcBef>
            </a:pPr>
            <a:r>
              <a:rPr sz="2000" dirty="0">
                <a:solidFill>
                  <a:srgbClr val="A8FFC8"/>
                </a:solidFill>
                <a:latin typeface="Courier New"/>
              </a:rPr>
              <a:t>  ─────────────────────────────────────────────────────────</a:t>
            </a:r>
          </a:p>
          <a:p>
            <a:pPr>
              <a:spcBef>
                <a:spcPts val="200"/>
              </a:spcBef>
            </a:pPr>
            <a:r>
              <a:rPr sz="2000" dirty="0">
                <a:solidFill>
                  <a:srgbClr val="A8FFC8"/>
                </a:solidFill>
                <a:latin typeface="Courier New"/>
              </a:rPr>
              <a:t>  "Nos </a:t>
            </a:r>
            <a:r>
              <a:rPr sz="2000" dirty="0" err="1">
                <a:solidFill>
                  <a:srgbClr val="A8FFC8"/>
                </a:solidFill>
                <a:latin typeface="Courier New"/>
              </a:rPr>
              <a:t>coletamos</a:t>
            </a:r>
            <a:r>
              <a:rPr sz="2000" dirty="0">
                <a:solidFill>
                  <a:srgbClr val="A8FFC8"/>
                </a:solidFill>
                <a:latin typeface="Courier New"/>
              </a:rPr>
              <a:t> dados de </a:t>
            </a:r>
            <a:r>
              <a:rPr sz="2000" dirty="0" err="1">
                <a:solidFill>
                  <a:srgbClr val="A8FFC8"/>
                </a:solidFill>
                <a:latin typeface="Courier New"/>
              </a:rPr>
              <a:t>calibracao</a:t>
            </a:r>
            <a:r>
              <a:rPr sz="2000" dirty="0">
                <a:solidFill>
                  <a:srgbClr val="A8FFC8"/>
                </a:solidFill>
                <a:latin typeface="Courier New"/>
              </a:rPr>
              <a:t> dos </a:t>
            </a:r>
            <a:r>
              <a:rPr sz="2000" dirty="0" err="1">
                <a:solidFill>
                  <a:srgbClr val="A8FFC8"/>
                </a:solidFill>
                <a:latin typeface="Courier New"/>
              </a:rPr>
              <a:t>equipamentos</a:t>
            </a:r>
            <a:r>
              <a:rPr sz="2000" dirty="0">
                <a:solidFill>
                  <a:srgbClr val="A8FFC8"/>
                </a:solidFill>
                <a:latin typeface="Courier New"/>
              </a:rPr>
              <a:t> a </a:t>
            </a:r>
            <a:r>
              <a:rPr sz="2000" dirty="0" err="1">
                <a:solidFill>
                  <a:srgbClr val="A8FFC8"/>
                </a:solidFill>
                <a:latin typeface="Courier New"/>
              </a:rPr>
              <a:t>cada</a:t>
            </a:r>
            <a:r>
              <a:rPr sz="2000" dirty="0">
                <a:solidFill>
                  <a:srgbClr val="A8FFC8"/>
                </a:solidFill>
                <a:latin typeface="Courier New"/>
              </a:rPr>
              <a:t> </a:t>
            </a:r>
            <a:r>
              <a:rPr sz="2000" dirty="0" err="1">
                <a:solidFill>
                  <a:srgbClr val="A8FFC8"/>
                </a:solidFill>
                <a:latin typeface="Courier New"/>
              </a:rPr>
              <a:t>sessao</a:t>
            </a:r>
            <a:r>
              <a:rPr sz="2000" dirty="0">
                <a:solidFill>
                  <a:srgbClr val="A8FFC8"/>
                </a:solidFill>
                <a:latin typeface="Courier New"/>
              </a:rPr>
              <a:t>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297680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C742"/>
                </a:solidFill>
              </a:rPr>
              <a:t>O verso do Tier 2 deve ter sempre: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736592"/>
            <a:ext cx="73152" cy="3200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530352" y="4663440"/>
            <a:ext cx="11155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FFFFFF"/>
                </a:solidFill>
              </a:rPr>
              <a:t>Classe </a:t>
            </a:r>
            <a:r>
              <a:rPr sz="2000" b="0" i="0" dirty="0" err="1">
                <a:solidFill>
                  <a:srgbClr val="FFFFFF"/>
                </a:solidFill>
              </a:rPr>
              <a:t>gramatical</a:t>
            </a:r>
            <a:r>
              <a:rPr sz="2000" b="0" i="0" dirty="0">
                <a:solidFill>
                  <a:srgbClr val="FFFFFF"/>
                </a:solidFill>
              </a:rPr>
              <a:t>:  </a:t>
            </a:r>
            <a:r>
              <a:rPr lang="pt-BR" sz="2000" b="0" i="0" dirty="0">
                <a:solidFill>
                  <a:srgbClr val="FFFFFF"/>
                </a:solidFill>
              </a:rPr>
              <a:t>verbo </a:t>
            </a:r>
            <a:r>
              <a:rPr sz="2000" b="0" i="0" dirty="0">
                <a:solidFill>
                  <a:srgbClr val="FFFFFF"/>
                </a:solidFill>
              </a:rPr>
              <a:t>(v.)</a:t>
            </a:r>
            <a:r>
              <a:rPr lang="pt-BR" sz="2000" b="0" i="0" dirty="0">
                <a:solidFill>
                  <a:srgbClr val="FFFFFF"/>
                </a:solidFill>
              </a:rPr>
              <a:t>, substantivo</a:t>
            </a:r>
            <a:r>
              <a:rPr sz="2000" b="0" i="0" dirty="0">
                <a:solidFill>
                  <a:srgbClr val="FFFFFF"/>
                </a:solidFill>
              </a:rPr>
              <a:t>  (n.)</a:t>
            </a:r>
            <a:r>
              <a:rPr lang="pt-BR" sz="2000" b="0" i="0" dirty="0">
                <a:solidFill>
                  <a:srgbClr val="FFFFFF"/>
                </a:solidFill>
              </a:rPr>
              <a:t>,  adjetivo</a:t>
            </a:r>
            <a:r>
              <a:rPr sz="2000" b="0" i="0" dirty="0">
                <a:solidFill>
                  <a:srgbClr val="FFFFFF"/>
                </a:solidFill>
              </a:rPr>
              <a:t> (adj.)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193792"/>
            <a:ext cx="73152" cy="3200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517652" y="5120640"/>
            <a:ext cx="11155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Colocação:  ☞ gather data  /  gather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650992"/>
            <a:ext cx="73152" cy="3200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530352" y="5577840"/>
            <a:ext cx="11155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Tradução da frase:  separada por linha horizontal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E99C018-7A24-0B3D-7596-B6D96FCBE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Tier 2 — Developing: passo a passo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Como criar um cartão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345" y="1408176"/>
            <a:ext cx="411480" cy="530352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345" y="1481328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1E2E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265" y="146304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Pegue a lista de 20 palavras-alvo do professor.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345" y="1984248"/>
            <a:ext cx="411480" cy="530352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345" y="2057400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1E2E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265" y="2039112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Escolha uma palavra — aquela que você não saberia usar numa frase agora.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345" y="2560320"/>
            <a:ext cx="411480" cy="877824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345" y="2633472"/>
            <a:ext cx="4114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1E2E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265" y="2615184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Abra o Cambridge Dictionary (learner's version):
     anote a classe gramatical  ·  anote uma colocação comum (☞)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345" y="3483864"/>
            <a:ext cx="411480" cy="877824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345" y="3557016"/>
            <a:ext cx="41148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1E2E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265" y="3538728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Use a Tradução Reversa para criar a frase:
     escreva em português  →  cole no Google Translate  →  edite pelo menos um elemento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345" y="4407408"/>
            <a:ext cx="411480" cy="1225295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345" y="4480560"/>
            <a:ext cx="411480" cy="1133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1E2E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265" y="4462272"/>
            <a:ext cx="10972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Monte o cartão:
     Frente: sua frase com a palavra em [MAIÚSCULO]
     Verso: palavra (classe) = tradução  ☞ colocação  +  tradução da frase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345" y="5678423"/>
            <a:ext cx="411480" cy="530352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7345" y="5751575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1E2E"/>
                </a:solidFill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265" y="5733287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Repita para 7–11 palavras, em sessões separadas.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345" y="6254495"/>
            <a:ext cx="411480" cy="530352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7345" y="6327647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1E2E"/>
                </a:solidFill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265" y="6309359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Revise após cada sessão.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59EA3A6F-775E-DE7D-187D-C9D2DD37F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66358" y="653008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Tier 2 — Exemplo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Palavra: suspicious</a:t>
            </a:r>
          </a:p>
        </p:txBody>
      </p:sp>
      <p:sp>
        <p:nvSpPr>
          <p:cNvPr id="5" name="Rectangle 4"/>
          <p:cNvSpPr/>
          <p:nvPr/>
        </p:nvSpPr>
        <p:spPr>
          <a:xfrm>
            <a:off x="379413" y="1508760"/>
            <a:ext cx="11430000" cy="52578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562293" y="1645920"/>
            <a:ext cx="11356080" cy="4909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dirty="0">
                <a:solidFill>
                  <a:srgbClr val="A8FFC8"/>
                </a:solidFill>
                <a:latin typeface="Courier New"/>
              </a:rPr>
              <a:t>Cambridge:</a:t>
            </a:r>
          </a:p>
          <a:p>
            <a:pPr>
              <a:spcBef>
                <a:spcPts val="200"/>
              </a:spcBef>
            </a:pPr>
            <a:r>
              <a:rPr dirty="0">
                <a:solidFill>
                  <a:srgbClr val="A8FFC8"/>
                </a:solidFill>
                <a:latin typeface="Courier New"/>
              </a:rPr>
              <a:t>  suspicious (adj.) = </a:t>
            </a:r>
            <a:r>
              <a:rPr dirty="0" err="1">
                <a:solidFill>
                  <a:srgbClr val="A8FFC8"/>
                </a:solidFill>
                <a:latin typeface="Courier New"/>
              </a:rPr>
              <a:t>desconfiado</a:t>
            </a:r>
            <a:r>
              <a:rPr dirty="0">
                <a:solidFill>
                  <a:srgbClr val="A8FFC8"/>
                </a:solidFill>
                <a:latin typeface="Courier New"/>
              </a:rPr>
              <a:t>, </a:t>
            </a:r>
            <a:r>
              <a:rPr dirty="0" err="1">
                <a:solidFill>
                  <a:srgbClr val="A8FFC8"/>
                </a:solidFill>
                <a:latin typeface="Courier New"/>
              </a:rPr>
              <a:t>suspeito</a:t>
            </a:r>
            <a:endParaRPr dirty="0">
              <a:solidFill>
                <a:srgbClr val="A8FFC8"/>
              </a:solidFill>
              <a:latin typeface="Courier New"/>
            </a:endParaRPr>
          </a:p>
          <a:p>
            <a:pPr>
              <a:spcBef>
                <a:spcPts val="200"/>
              </a:spcBef>
            </a:pPr>
            <a:r>
              <a:rPr dirty="0">
                <a:solidFill>
                  <a:srgbClr val="A8FFC8"/>
                </a:solidFill>
                <a:latin typeface="Courier New"/>
              </a:rPr>
              <a:t>  ☞ suspicious of  /  feel suspicious  /  suspicious behavior</a:t>
            </a:r>
          </a:p>
          <a:p>
            <a:pPr>
              <a:spcBef>
                <a:spcPts val="200"/>
              </a:spcBef>
            </a:pPr>
            <a:r>
              <a:rPr dirty="0">
                <a:solidFill>
                  <a:srgbClr val="A8FFC8"/>
                </a:solidFill>
                <a:latin typeface="Courier New"/>
              </a:rPr>
              <a:t> </a:t>
            </a:r>
          </a:p>
          <a:p>
            <a:pPr>
              <a:spcBef>
                <a:spcPts val="200"/>
              </a:spcBef>
            </a:pPr>
            <a:r>
              <a:rPr dirty="0">
                <a:solidFill>
                  <a:srgbClr val="A8FFC8"/>
                </a:solidFill>
                <a:latin typeface="Courier New"/>
              </a:rPr>
              <a:t>Frase </a:t>
            </a:r>
            <a:r>
              <a:rPr dirty="0" err="1">
                <a:solidFill>
                  <a:srgbClr val="A8FFC8"/>
                </a:solidFill>
                <a:latin typeface="Courier New"/>
              </a:rPr>
              <a:t>em</a:t>
            </a:r>
            <a:r>
              <a:rPr dirty="0">
                <a:solidFill>
                  <a:srgbClr val="A8FFC8"/>
                </a:solidFill>
                <a:latin typeface="Courier New"/>
              </a:rPr>
              <a:t> </a:t>
            </a:r>
            <a:r>
              <a:rPr dirty="0" err="1">
                <a:solidFill>
                  <a:srgbClr val="A8FFC8"/>
                </a:solidFill>
                <a:latin typeface="Courier New"/>
              </a:rPr>
              <a:t>portugu</a:t>
            </a:r>
            <a:r>
              <a:rPr lang="en-BR" dirty="0">
                <a:solidFill>
                  <a:srgbClr val="A8FFC8"/>
                </a:solidFill>
                <a:latin typeface="Courier New"/>
              </a:rPr>
              <a:t>ê</a:t>
            </a:r>
            <a:r>
              <a:rPr dirty="0">
                <a:solidFill>
                  <a:srgbClr val="A8FFC8"/>
                </a:solidFill>
                <a:latin typeface="Courier New"/>
              </a:rPr>
              <a:t>s:  "O </a:t>
            </a:r>
            <a:r>
              <a:rPr dirty="0" err="1">
                <a:solidFill>
                  <a:srgbClr val="A8FFC8"/>
                </a:solidFill>
                <a:latin typeface="Courier New"/>
              </a:rPr>
              <a:t>engenheiro</a:t>
            </a:r>
            <a:r>
              <a:rPr dirty="0">
                <a:solidFill>
                  <a:srgbClr val="A8FFC8"/>
                </a:solidFill>
                <a:latin typeface="Courier New"/>
              </a:rPr>
              <a:t> </a:t>
            </a:r>
            <a:r>
              <a:rPr dirty="0" err="1">
                <a:solidFill>
                  <a:srgbClr val="A8FFC8"/>
                </a:solidFill>
                <a:latin typeface="Courier New"/>
              </a:rPr>
              <a:t>ficou</a:t>
            </a:r>
            <a:r>
              <a:rPr dirty="0">
                <a:solidFill>
                  <a:srgbClr val="A8FFC8"/>
                </a:solidFill>
                <a:latin typeface="Courier New"/>
              </a:rPr>
              <a:t> </a:t>
            </a:r>
            <a:r>
              <a:rPr dirty="0" err="1">
                <a:solidFill>
                  <a:srgbClr val="A8FFC8"/>
                </a:solidFill>
                <a:latin typeface="Courier New"/>
              </a:rPr>
              <a:t>desconfiado</a:t>
            </a:r>
            <a:r>
              <a:rPr dirty="0">
                <a:solidFill>
                  <a:srgbClr val="A8FFC8"/>
                </a:solidFill>
                <a:latin typeface="Courier New"/>
              </a:rPr>
              <a:t> do </a:t>
            </a:r>
            <a:r>
              <a:rPr dirty="0" err="1">
                <a:solidFill>
                  <a:srgbClr val="A8FFC8"/>
                </a:solidFill>
                <a:latin typeface="Courier New"/>
              </a:rPr>
              <a:t>resultado</a:t>
            </a:r>
            <a:r>
              <a:rPr dirty="0">
                <a:solidFill>
                  <a:srgbClr val="A8FFC8"/>
                </a:solidFill>
                <a:latin typeface="Courier New"/>
              </a:rPr>
              <a:t> do sensor."</a:t>
            </a:r>
          </a:p>
          <a:p>
            <a:pPr>
              <a:spcBef>
                <a:spcPts val="200"/>
              </a:spcBef>
            </a:pPr>
            <a:r>
              <a:rPr dirty="0">
                <a:solidFill>
                  <a:srgbClr val="A8FFC8"/>
                </a:solidFill>
                <a:latin typeface="Courier New"/>
              </a:rPr>
              <a:t> </a:t>
            </a:r>
          </a:p>
          <a:p>
            <a:pPr>
              <a:spcBef>
                <a:spcPts val="200"/>
              </a:spcBef>
            </a:pPr>
            <a:r>
              <a:rPr dirty="0">
                <a:solidFill>
                  <a:srgbClr val="A8FFC8"/>
                </a:solidFill>
                <a:latin typeface="Courier New"/>
              </a:rPr>
              <a:t>Google Translate:    "The engineer was suspicious of the sensor reading."</a:t>
            </a:r>
          </a:p>
          <a:p>
            <a:pPr>
              <a:spcBef>
                <a:spcPts val="200"/>
              </a:spcBef>
            </a:pPr>
            <a:r>
              <a:rPr dirty="0">
                <a:solidFill>
                  <a:srgbClr val="A8FFC8"/>
                </a:solidFill>
                <a:latin typeface="Courier New"/>
              </a:rPr>
              <a:t> </a:t>
            </a:r>
          </a:p>
          <a:p>
            <a:pPr>
              <a:spcBef>
                <a:spcPts val="200"/>
              </a:spcBef>
            </a:pPr>
            <a:r>
              <a:rPr dirty="0">
                <a:solidFill>
                  <a:srgbClr val="A8FFC8"/>
                </a:solidFill>
                <a:latin typeface="Courier New"/>
              </a:rPr>
              <a:t>Edi</a:t>
            </a:r>
            <a:r>
              <a:rPr lang="en-BR" dirty="0">
                <a:solidFill>
                  <a:srgbClr val="A8FFC8"/>
                </a:solidFill>
                <a:latin typeface="Courier New"/>
              </a:rPr>
              <a:t>çã</a:t>
            </a:r>
            <a:r>
              <a:rPr dirty="0">
                <a:solidFill>
                  <a:srgbClr val="A8FFC8"/>
                </a:solidFill>
                <a:latin typeface="Courier New"/>
              </a:rPr>
              <a:t>o (</a:t>
            </a:r>
            <a:r>
              <a:rPr dirty="0" err="1">
                <a:solidFill>
                  <a:srgbClr val="A8FFC8"/>
                </a:solidFill>
                <a:latin typeface="Courier New"/>
              </a:rPr>
              <a:t>personaliza</a:t>
            </a:r>
            <a:r>
              <a:rPr lang="en-BR" dirty="0">
                <a:solidFill>
                  <a:srgbClr val="A8FFC8"/>
                </a:solidFill>
                <a:latin typeface="Courier New"/>
              </a:rPr>
              <a:t>ção</a:t>
            </a:r>
            <a:r>
              <a:rPr dirty="0">
                <a:solidFill>
                  <a:srgbClr val="A8FFC8"/>
                </a:solidFill>
                <a:latin typeface="Courier New"/>
              </a:rPr>
              <a:t>):</a:t>
            </a:r>
          </a:p>
          <a:p>
            <a:pPr>
              <a:spcBef>
                <a:spcPts val="200"/>
              </a:spcBef>
            </a:pPr>
            <a:r>
              <a:rPr dirty="0">
                <a:solidFill>
                  <a:srgbClr val="A8FFC8"/>
                </a:solidFill>
                <a:latin typeface="Courier New"/>
              </a:rPr>
              <a:t>  "We were suspicious of the calibration results after the first test."</a:t>
            </a:r>
          </a:p>
          <a:p>
            <a:pPr>
              <a:spcBef>
                <a:spcPts val="200"/>
              </a:spcBef>
            </a:pPr>
            <a:r>
              <a:rPr dirty="0">
                <a:solidFill>
                  <a:srgbClr val="A8FFC8"/>
                </a:solidFill>
                <a:latin typeface="Courier New"/>
              </a:rPr>
              <a:t> </a:t>
            </a:r>
          </a:p>
          <a:p>
            <a:pPr>
              <a:spcBef>
                <a:spcPts val="200"/>
              </a:spcBef>
            </a:pPr>
            <a:r>
              <a:rPr dirty="0">
                <a:solidFill>
                  <a:srgbClr val="A8FFC8"/>
                </a:solidFill>
                <a:latin typeface="Courier New"/>
              </a:rPr>
              <a:t>Cart</a:t>
            </a:r>
            <a:r>
              <a:rPr lang="en-BR" dirty="0">
                <a:solidFill>
                  <a:srgbClr val="A8FFC8"/>
                </a:solidFill>
                <a:latin typeface="Courier New"/>
              </a:rPr>
              <a:t>ã</a:t>
            </a:r>
            <a:r>
              <a:rPr dirty="0">
                <a:solidFill>
                  <a:srgbClr val="A8FFC8"/>
                </a:solidFill>
                <a:latin typeface="Courier New"/>
              </a:rPr>
              <a:t>o </a:t>
            </a:r>
            <a:r>
              <a:rPr dirty="0" err="1">
                <a:solidFill>
                  <a:srgbClr val="A8FFC8"/>
                </a:solidFill>
                <a:latin typeface="Courier New"/>
              </a:rPr>
              <a:t>criado</a:t>
            </a:r>
            <a:r>
              <a:rPr dirty="0">
                <a:solidFill>
                  <a:srgbClr val="A8FFC8"/>
                </a:solidFill>
                <a:latin typeface="Courier New"/>
              </a:rPr>
              <a:t>:</a:t>
            </a:r>
          </a:p>
          <a:p>
            <a:pPr>
              <a:spcBef>
                <a:spcPts val="200"/>
              </a:spcBef>
            </a:pPr>
            <a:r>
              <a:rPr dirty="0">
                <a:solidFill>
                  <a:srgbClr val="A8FFC8"/>
                </a:solidFill>
                <a:latin typeface="Courier New"/>
              </a:rPr>
              <a:t>  </a:t>
            </a:r>
            <a:r>
              <a:rPr dirty="0" err="1">
                <a:solidFill>
                  <a:srgbClr val="A8FFC8"/>
                </a:solidFill>
                <a:latin typeface="Courier New"/>
              </a:rPr>
              <a:t>Frente</a:t>
            </a:r>
            <a:r>
              <a:rPr dirty="0">
                <a:solidFill>
                  <a:srgbClr val="A8FFC8"/>
                </a:solidFill>
                <a:latin typeface="Courier New"/>
              </a:rPr>
              <a:t>: "We were [SUSPICIOUS] of the calibration results after the first test."</a:t>
            </a:r>
          </a:p>
          <a:p>
            <a:pPr>
              <a:spcBef>
                <a:spcPts val="200"/>
              </a:spcBef>
            </a:pPr>
            <a:r>
              <a:rPr dirty="0">
                <a:solidFill>
                  <a:srgbClr val="A8FFC8"/>
                </a:solidFill>
                <a:latin typeface="Courier New"/>
              </a:rPr>
              <a:t>  Verso:  suspicious (adj.) = </a:t>
            </a:r>
            <a:r>
              <a:rPr dirty="0" err="1">
                <a:solidFill>
                  <a:srgbClr val="A8FFC8"/>
                </a:solidFill>
                <a:latin typeface="Courier New"/>
              </a:rPr>
              <a:t>desconfiado</a:t>
            </a:r>
            <a:r>
              <a:rPr dirty="0">
                <a:solidFill>
                  <a:srgbClr val="A8FFC8"/>
                </a:solidFill>
                <a:latin typeface="Courier New"/>
              </a:rPr>
              <a:t>  ☞ suspicious of / feel suspicious</a:t>
            </a:r>
          </a:p>
          <a:p>
            <a:pPr>
              <a:spcBef>
                <a:spcPts val="200"/>
              </a:spcBef>
            </a:pPr>
            <a:r>
              <a:rPr dirty="0">
                <a:solidFill>
                  <a:srgbClr val="A8FFC8"/>
                </a:solidFill>
                <a:latin typeface="Courier New"/>
              </a:rPr>
              <a:t>          ──────────────────────────────────────────────────────────────────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spcBef>
                <a:spcPts val="200"/>
              </a:spcBef>
            </a:pPr>
            <a:r>
              <a:rPr dirty="0">
                <a:solidFill>
                  <a:srgbClr val="A8FFC8"/>
                </a:solidFill>
                <a:latin typeface="Courier New"/>
              </a:rPr>
              <a:t>       </a:t>
            </a:r>
            <a:r>
              <a:rPr lang="pt-BR" dirty="0">
                <a:solidFill>
                  <a:srgbClr val="A8FFC8"/>
                </a:solidFill>
                <a:latin typeface="Courier New"/>
              </a:rPr>
              <a:t>   </a:t>
            </a:r>
            <a:r>
              <a:rPr dirty="0">
                <a:solidFill>
                  <a:srgbClr val="A8FFC8"/>
                </a:solidFill>
                <a:latin typeface="Courier New"/>
              </a:rPr>
              <a:t>"</a:t>
            </a:r>
            <a:r>
              <a:rPr lang="pt-BR" dirty="0">
                <a:solidFill>
                  <a:srgbClr val="A8FFC8"/>
                </a:solidFill>
                <a:latin typeface="Courier New"/>
              </a:rPr>
              <a:t>Nós </a:t>
            </a:r>
            <a:r>
              <a:rPr dirty="0" err="1">
                <a:solidFill>
                  <a:srgbClr val="A8FFC8"/>
                </a:solidFill>
                <a:latin typeface="Courier New"/>
              </a:rPr>
              <a:t>desconfia</a:t>
            </a:r>
            <a:r>
              <a:rPr lang="pt-BR" dirty="0">
                <a:solidFill>
                  <a:srgbClr val="A8FFC8"/>
                </a:solidFill>
                <a:latin typeface="Courier New"/>
              </a:rPr>
              <a:t>m</a:t>
            </a:r>
            <a:r>
              <a:rPr dirty="0" err="1">
                <a:solidFill>
                  <a:srgbClr val="A8FFC8"/>
                </a:solidFill>
                <a:latin typeface="Courier New"/>
              </a:rPr>
              <a:t>os</a:t>
            </a:r>
            <a:r>
              <a:rPr dirty="0">
                <a:solidFill>
                  <a:srgbClr val="A8FFC8"/>
                </a:solidFill>
                <a:latin typeface="Courier New"/>
              </a:rPr>
              <a:t> dos </a:t>
            </a:r>
            <a:r>
              <a:rPr dirty="0" err="1">
                <a:solidFill>
                  <a:srgbClr val="A8FFC8"/>
                </a:solidFill>
                <a:latin typeface="Courier New"/>
              </a:rPr>
              <a:t>resultados</a:t>
            </a:r>
            <a:r>
              <a:rPr dirty="0">
                <a:solidFill>
                  <a:srgbClr val="A8FFC8"/>
                </a:solidFill>
                <a:latin typeface="Courier New"/>
              </a:rPr>
              <a:t> d</a:t>
            </a:r>
            <a:r>
              <a:rPr lang="pt-BR" dirty="0">
                <a:solidFill>
                  <a:srgbClr val="A8FFC8"/>
                </a:solidFill>
                <a:latin typeface="Courier New"/>
              </a:rPr>
              <a:t>a </a:t>
            </a:r>
            <a:r>
              <a:rPr dirty="0" err="1">
                <a:solidFill>
                  <a:srgbClr val="A8FFC8"/>
                </a:solidFill>
                <a:latin typeface="Courier New"/>
              </a:rPr>
              <a:t>calibra</a:t>
            </a:r>
            <a:r>
              <a:rPr lang="en-BR" dirty="0">
                <a:solidFill>
                  <a:srgbClr val="A8FFC8"/>
                </a:solidFill>
                <a:latin typeface="Courier New"/>
              </a:rPr>
              <a:t>ção</a:t>
            </a:r>
            <a:r>
              <a:rPr dirty="0">
                <a:solidFill>
                  <a:srgbClr val="A8FFC8"/>
                </a:solidFill>
                <a:latin typeface="Courier New"/>
              </a:rPr>
              <a:t> ap</a:t>
            </a:r>
            <a:r>
              <a:rPr lang="en-BR" dirty="0">
                <a:solidFill>
                  <a:srgbClr val="A8FFC8"/>
                </a:solidFill>
                <a:latin typeface="Courier New"/>
              </a:rPr>
              <a:t>ó</a:t>
            </a:r>
            <a:r>
              <a:rPr dirty="0">
                <a:solidFill>
                  <a:srgbClr val="A8FFC8"/>
                </a:solidFill>
                <a:latin typeface="Courier New"/>
              </a:rPr>
              <a:t>s o </a:t>
            </a:r>
            <a:r>
              <a:rPr dirty="0" err="1">
                <a:solidFill>
                  <a:srgbClr val="A8FFC8"/>
                </a:solidFill>
                <a:latin typeface="Courier New"/>
              </a:rPr>
              <a:t>primeiro</a:t>
            </a:r>
            <a:r>
              <a:rPr dirty="0">
                <a:solidFill>
                  <a:srgbClr val="A8FFC8"/>
                </a:solidFill>
                <a:latin typeface="Courier New"/>
              </a:rPr>
              <a:t> teste."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972D64-C474-79CD-FE6F-1CBC84D47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Tier 3 — Expanding: visão geral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560320" cy="65836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429768" y="1252728"/>
            <a:ext cx="24323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C742"/>
                </a:solidFill>
              </a:rPr>
              <a:t>Elemento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188720"/>
            <a:ext cx="9235440" cy="65836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2990088" y="1252728"/>
            <a:ext cx="9107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C742"/>
                </a:solidFill>
              </a:rPr>
              <a:t>Instrução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47088"/>
            <a:ext cx="256032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429768" y="1901952"/>
            <a:ext cx="24323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Texto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847088"/>
            <a:ext cx="923544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2990088" y="1901952"/>
            <a:ext cx="9107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Texto autêntico (60 Minutes / NYT — IA)  ·  400–600 palavras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05456"/>
            <a:ext cx="256032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429768" y="2560320"/>
            <a:ext cx="24323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DADE8"/>
                </a:solidFill>
              </a:rPr>
              <a:t>Lista de palavras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505456"/>
            <a:ext cx="923544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2990088" y="2560320"/>
            <a:ext cx="9107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DADE8"/>
                </a:solidFill>
              </a:rPr>
              <a:t>Seleção autônoma — você sublinha o que não conhece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63824"/>
            <a:ext cx="256032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429768" y="3218688"/>
            <a:ext cx="24323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Meta de cartões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163824"/>
            <a:ext cx="923544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2990088" y="3218688"/>
            <a:ext cx="9107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mín. 10  ·  alvo 13–15  ·  máx. 18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22192"/>
            <a:ext cx="256032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429768" y="3877056"/>
            <a:ext cx="24323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Sessões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3822192"/>
            <a:ext cx="923544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2990088" y="3877056"/>
            <a:ext cx="9107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2–3 sessões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480560"/>
            <a:ext cx="256032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5" name="TextBox 24"/>
          <p:cNvSpPr txBox="1"/>
          <p:nvPr/>
        </p:nvSpPr>
        <p:spPr>
          <a:xfrm>
            <a:off x="429768" y="4535424"/>
            <a:ext cx="24323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ECC71"/>
                </a:solidFill>
              </a:rPr>
              <a:t>Dicionário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480560"/>
            <a:ext cx="923544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2990088" y="4535424"/>
            <a:ext cx="9107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ECC71"/>
                </a:solidFill>
              </a:rPr>
              <a:t>Cambridge  +  Merriam-Webster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486400"/>
            <a:ext cx="11430000" cy="5486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5577840"/>
            <a:ext cx="11201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 dirty="0">
                <a:solidFill>
                  <a:srgbClr val="FFFFFF"/>
                </a:solidFill>
              </a:rPr>
              <a:t>→  O verso </a:t>
            </a:r>
            <a:r>
              <a:rPr sz="1700" b="0" i="1" dirty="0" err="1">
                <a:solidFill>
                  <a:srgbClr val="FFFFFF"/>
                </a:solidFill>
              </a:rPr>
              <a:t>é</a:t>
            </a:r>
            <a:r>
              <a:rPr sz="1700" b="0" i="1" dirty="0">
                <a:solidFill>
                  <a:srgbClr val="FFFFFF"/>
                </a:solidFill>
              </a:rPr>
              <a:t> </a:t>
            </a:r>
            <a:r>
              <a:rPr lang="pt-BR" sz="1700" b="0" i="1" dirty="0">
                <a:solidFill>
                  <a:srgbClr val="FFFFFF"/>
                </a:solidFill>
              </a:rPr>
              <a:t>INTEIRAMENTE</a:t>
            </a:r>
            <a:r>
              <a:rPr sz="1700" b="0" i="1" dirty="0">
                <a:solidFill>
                  <a:srgbClr val="FFFFFF"/>
                </a:solidFill>
              </a:rPr>
              <a:t> </a:t>
            </a:r>
            <a:r>
              <a:rPr sz="1700" b="0" i="1" dirty="0" err="1">
                <a:solidFill>
                  <a:srgbClr val="FFFFFF"/>
                </a:solidFill>
              </a:rPr>
              <a:t>em</a:t>
            </a:r>
            <a:r>
              <a:rPr sz="1700" b="0" i="1" dirty="0">
                <a:solidFill>
                  <a:srgbClr val="FFFFFF"/>
                </a:solidFill>
              </a:rPr>
              <a:t> </a:t>
            </a:r>
            <a:r>
              <a:rPr sz="1700" b="0" i="1" dirty="0" err="1">
                <a:solidFill>
                  <a:srgbClr val="FFFFFF"/>
                </a:solidFill>
              </a:rPr>
              <a:t>inglês</a:t>
            </a:r>
            <a:r>
              <a:rPr sz="1700" b="0" i="1" dirty="0">
                <a:solidFill>
                  <a:srgbClr val="FFFFFF"/>
                </a:solidFill>
              </a:rPr>
              <a:t> — </a:t>
            </a:r>
            <a:r>
              <a:rPr sz="1700" b="0" i="1" dirty="0" err="1">
                <a:solidFill>
                  <a:srgbClr val="FFFFFF"/>
                </a:solidFill>
              </a:rPr>
              <a:t>sem</a:t>
            </a:r>
            <a:r>
              <a:rPr sz="1700" b="0" i="1" dirty="0">
                <a:solidFill>
                  <a:srgbClr val="FFFFFF"/>
                </a:solidFill>
              </a:rPr>
              <a:t> </a:t>
            </a:r>
            <a:r>
              <a:rPr sz="1700" b="0" i="1" dirty="0" err="1">
                <a:solidFill>
                  <a:srgbClr val="FFFFFF"/>
                </a:solidFill>
              </a:rPr>
              <a:t>tradução</a:t>
            </a:r>
            <a:r>
              <a:rPr sz="1700" b="0" i="1" dirty="0">
                <a:solidFill>
                  <a:srgbClr val="FFFFFF"/>
                </a:solidFill>
              </a:rPr>
              <a:t> da </a:t>
            </a:r>
            <a:r>
              <a:rPr sz="1700" b="0" i="1" dirty="0" err="1">
                <a:solidFill>
                  <a:srgbClr val="FFFFFF"/>
                </a:solidFill>
              </a:rPr>
              <a:t>palavra</a:t>
            </a:r>
            <a:r>
              <a:rPr sz="1700" b="0" i="1" dirty="0">
                <a:solidFill>
                  <a:srgbClr val="FFFFFF"/>
                </a:solidFill>
              </a:rPr>
              <a:t>, </a:t>
            </a:r>
            <a:r>
              <a:rPr sz="1700" b="0" i="1" dirty="0" err="1">
                <a:solidFill>
                  <a:srgbClr val="FFFFFF"/>
                </a:solidFill>
              </a:rPr>
              <a:t>apenas</a:t>
            </a:r>
            <a:r>
              <a:rPr sz="1700" b="0" i="1" dirty="0">
                <a:solidFill>
                  <a:srgbClr val="FFFFFF"/>
                </a:solidFill>
              </a:rPr>
              <a:t> </a:t>
            </a:r>
            <a:r>
              <a:rPr sz="1700" b="0" i="1" dirty="0" err="1">
                <a:solidFill>
                  <a:srgbClr val="FFFFFF"/>
                </a:solidFill>
              </a:rPr>
              <a:t>definição</a:t>
            </a:r>
            <a:r>
              <a:rPr sz="1700" b="0" i="1" dirty="0">
                <a:solidFill>
                  <a:srgbClr val="FFFFFF"/>
                </a:solidFill>
              </a:rPr>
              <a:t> </a:t>
            </a:r>
            <a:r>
              <a:rPr sz="1700" b="0" i="1" dirty="0" err="1">
                <a:solidFill>
                  <a:srgbClr val="FFFFFF"/>
                </a:solidFill>
              </a:rPr>
              <a:t>em</a:t>
            </a:r>
            <a:r>
              <a:rPr sz="1700" b="0" i="1" dirty="0">
                <a:solidFill>
                  <a:srgbClr val="FFFFFF"/>
                </a:solidFill>
              </a:rPr>
              <a:t> </a:t>
            </a:r>
            <a:r>
              <a:rPr sz="1700" b="0" i="1" dirty="0" err="1">
                <a:solidFill>
                  <a:srgbClr val="FFFFFF"/>
                </a:solidFill>
              </a:rPr>
              <a:t>inglês</a:t>
            </a:r>
            <a:r>
              <a:rPr sz="1700" b="0" i="1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C61AABAD-BE42-1BC6-E4AB-354490E6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Tier 3 — Expanding: passo a passo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Como criar um cartão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08176"/>
            <a:ext cx="411480" cy="530352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81328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1E2E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6304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Leia o texto uma vez completa sem parar para buscar palavras.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84248"/>
            <a:ext cx="411480" cy="530352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1E2E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39112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Releia e sublinhe todas as palavras que você não conhece ou conhece só parcialmente.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60320"/>
            <a:ext cx="411480" cy="859536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633472"/>
            <a:ext cx="41148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1E2E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15184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Para cada palavra sublinhada, abra o Cambridge ou Merriam-Webster:
     copie a classe gramatical e a definição em inglês  ·  escolha uma frase exemplo do dicionário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65576"/>
            <a:ext cx="411480" cy="530352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3538728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1E2E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2044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Monte a frente: frase do dicionário com a palavra em [MAIÚSCULO].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41648"/>
            <a:ext cx="411480" cy="1517904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4114800"/>
            <a:ext cx="411480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1E2E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96512"/>
            <a:ext cx="10972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Monte o verso:
     Linha 1: palavra (classe) = definição em inglês
     Linha 2: ☞ colocação 1  /  colocação 2
     Linha 3: tradução em português da frase da frente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605272"/>
            <a:ext cx="411480" cy="530352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5678424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1E2E"/>
                </a:solidFill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660136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Crie os cartões no baralho PASSAGE_E02_TIER3.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6181344"/>
            <a:ext cx="411480" cy="530352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6254496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1E2E"/>
                </a:solidFill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6236208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Revise todos os dias até o fim do exercício.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58C287F9-B26A-22AD-12BF-4426F55DC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z="2000" smtClean="0"/>
              <a:t>27</a:t>
            </a:fld>
            <a:endParaRPr lang="en-US" sz="2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Tier 3 — Exemplo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Palavra: drawn  (texto sobre Hassabis / DeepMind)</a:t>
            </a:r>
          </a:p>
        </p:txBody>
      </p:sp>
      <p:sp>
        <p:nvSpPr>
          <p:cNvPr id="5" name="Rectangle 4"/>
          <p:cNvSpPr/>
          <p:nvPr/>
        </p:nvSpPr>
        <p:spPr>
          <a:xfrm>
            <a:off x="379412" y="1416685"/>
            <a:ext cx="11430000" cy="52578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2292" y="1553845"/>
            <a:ext cx="11109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2000" dirty="0" err="1">
                <a:solidFill>
                  <a:srgbClr val="A8FFC8"/>
                </a:solidFill>
                <a:latin typeface="Courier New"/>
              </a:rPr>
              <a:t>Trecho</a:t>
            </a:r>
            <a:r>
              <a:rPr sz="2000" dirty="0">
                <a:solidFill>
                  <a:srgbClr val="A8FFC8"/>
                </a:solidFill>
                <a:latin typeface="Courier New"/>
              </a:rPr>
              <a:t> do </a:t>
            </a:r>
            <a:r>
              <a:rPr sz="2000" dirty="0" err="1">
                <a:solidFill>
                  <a:srgbClr val="A8FFC8"/>
                </a:solidFill>
                <a:latin typeface="Courier New"/>
              </a:rPr>
              <a:t>texto</a:t>
            </a:r>
            <a:r>
              <a:rPr sz="2000" dirty="0">
                <a:solidFill>
                  <a:srgbClr val="A8FFC8"/>
                </a:solidFill>
                <a:latin typeface="Courier New"/>
              </a:rPr>
              <a:t>:</a:t>
            </a:r>
          </a:p>
          <a:p>
            <a:pPr>
              <a:spcBef>
                <a:spcPts val="200"/>
              </a:spcBef>
            </a:pPr>
            <a:r>
              <a:rPr sz="2000" dirty="0">
                <a:solidFill>
                  <a:srgbClr val="A8FFC8"/>
                </a:solidFill>
                <a:latin typeface="Courier New"/>
              </a:rPr>
              <a:t>  "Hassabis was initially drawn to neuroscience because he believed</a:t>
            </a:r>
          </a:p>
          <a:p>
            <a:pPr>
              <a:spcBef>
                <a:spcPts val="200"/>
              </a:spcBef>
            </a:pPr>
            <a:r>
              <a:rPr sz="2000" dirty="0">
                <a:solidFill>
                  <a:srgbClr val="A8FFC8"/>
                </a:solidFill>
                <a:latin typeface="Courier New"/>
              </a:rPr>
              <a:t>   understanding the brain was the most reliable path to achieving</a:t>
            </a:r>
          </a:p>
          <a:p>
            <a:pPr>
              <a:spcBef>
                <a:spcPts val="200"/>
              </a:spcBef>
            </a:pPr>
            <a:r>
              <a:rPr sz="2000" dirty="0">
                <a:solidFill>
                  <a:srgbClr val="A8FFC8"/>
                </a:solidFill>
                <a:latin typeface="Courier New"/>
              </a:rPr>
              <a:t>   artificial general intelligence."</a:t>
            </a:r>
          </a:p>
          <a:p>
            <a:pPr>
              <a:spcBef>
                <a:spcPts val="200"/>
              </a:spcBef>
            </a:pPr>
            <a:r>
              <a:rPr sz="2000" dirty="0">
                <a:solidFill>
                  <a:srgbClr val="A8FFC8"/>
                </a:solidFill>
                <a:latin typeface="Courier New"/>
              </a:rPr>
              <a:t> </a:t>
            </a:r>
          </a:p>
          <a:p>
            <a:pPr>
              <a:spcBef>
                <a:spcPts val="200"/>
              </a:spcBef>
            </a:pPr>
            <a:r>
              <a:rPr sz="2000" dirty="0" err="1">
                <a:solidFill>
                  <a:srgbClr val="A8FFC8"/>
                </a:solidFill>
                <a:latin typeface="Courier New"/>
              </a:rPr>
              <a:t>Dicion</a:t>
            </a:r>
            <a:r>
              <a:rPr lang="en-BR" sz="2000" dirty="0">
                <a:solidFill>
                  <a:srgbClr val="A8FFC8"/>
                </a:solidFill>
                <a:latin typeface="Courier New"/>
              </a:rPr>
              <a:t>á</a:t>
            </a:r>
            <a:r>
              <a:rPr sz="2000" dirty="0" err="1">
                <a:solidFill>
                  <a:srgbClr val="A8FFC8"/>
                </a:solidFill>
                <a:latin typeface="Courier New"/>
              </a:rPr>
              <a:t>rio</a:t>
            </a:r>
            <a:r>
              <a:rPr sz="2000" dirty="0">
                <a:solidFill>
                  <a:srgbClr val="A8FFC8"/>
                </a:solidFill>
                <a:latin typeface="Courier New"/>
              </a:rPr>
              <a:t> (Cambridge):</a:t>
            </a:r>
          </a:p>
          <a:p>
            <a:pPr>
              <a:spcBef>
                <a:spcPts val="200"/>
              </a:spcBef>
            </a:pPr>
            <a:r>
              <a:rPr sz="2000" dirty="0">
                <a:solidFill>
                  <a:srgbClr val="A8FFC8"/>
                </a:solidFill>
                <a:latin typeface="Courier New"/>
              </a:rPr>
              <a:t>  draw (v.) = to attract or interest someone</a:t>
            </a:r>
          </a:p>
          <a:p>
            <a:pPr>
              <a:spcBef>
                <a:spcPts val="200"/>
              </a:spcBef>
            </a:pPr>
            <a:r>
              <a:rPr sz="2000" dirty="0">
                <a:solidFill>
                  <a:srgbClr val="A8FFC8"/>
                </a:solidFill>
                <a:latin typeface="Courier New"/>
              </a:rPr>
              <a:t>  "She was drawn to the idea of working abroad."</a:t>
            </a:r>
          </a:p>
          <a:p>
            <a:pPr>
              <a:spcBef>
                <a:spcPts val="200"/>
              </a:spcBef>
            </a:pPr>
            <a:r>
              <a:rPr sz="2000" dirty="0">
                <a:solidFill>
                  <a:srgbClr val="A8FFC8"/>
                </a:solidFill>
                <a:latin typeface="Courier New"/>
              </a:rPr>
              <a:t> </a:t>
            </a:r>
          </a:p>
          <a:p>
            <a:pPr>
              <a:spcBef>
                <a:spcPts val="200"/>
              </a:spcBef>
            </a:pPr>
            <a:r>
              <a:rPr sz="2000" dirty="0" err="1">
                <a:solidFill>
                  <a:srgbClr val="A8FFC8"/>
                </a:solidFill>
                <a:latin typeface="Courier New"/>
              </a:rPr>
              <a:t>Cartao</a:t>
            </a:r>
            <a:r>
              <a:rPr sz="2000" dirty="0">
                <a:solidFill>
                  <a:srgbClr val="A8FFC8"/>
                </a:solidFill>
                <a:latin typeface="Courier New"/>
              </a:rPr>
              <a:t> </a:t>
            </a:r>
            <a:r>
              <a:rPr sz="2000" dirty="0" err="1">
                <a:solidFill>
                  <a:srgbClr val="A8FFC8"/>
                </a:solidFill>
                <a:latin typeface="Courier New"/>
              </a:rPr>
              <a:t>criado</a:t>
            </a:r>
            <a:r>
              <a:rPr sz="2000" dirty="0">
                <a:solidFill>
                  <a:srgbClr val="A8FFC8"/>
                </a:solidFill>
                <a:latin typeface="Courier New"/>
              </a:rPr>
              <a:t>:</a:t>
            </a:r>
          </a:p>
          <a:p>
            <a:pPr>
              <a:spcBef>
                <a:spcPts val="200"/>
              </a:spcBef>
            </a:pPr>
            <a:r>
              <a:rPr sz="2000" dirty="0">
                <a:solidFill>
                  <a:srgbClr val="A8FFC8"/>
                </a:solidFill>
                <a:latin typeface="Courier New"/>
              </a:rPr>
              <a:t>  </a:t>
            </a:r>
            <a:r>
              <a:rPr sz="2000" dirty="0" err="1">
                <a:solidFill>
                  <a:srgbClr val="A8FFC8"/>
                </a:solidFill>
                <a:latin typeface="Courier New"/>
              </a:rPr>
              <a:t>Frente</a:t>
            </a:r>
            <a:r>
              <a:rPr sz="2000" dirty="0">
                <a:solidFill>
                  <a:srgbClr val="A8FFC8"/>
                </a:solidFill>
                <a:latin typeface="Courier New"/>
              </a:rPr>
              <a:t>: "She was [DRAWN] to the idea of working abroad."</a:t>
            </a:r>
          </a:p>
          <a:p>
            <a:pPr>
              <a:spcBef>
                <a:spcPts val="200"/>
              </a:spcBef>
            </a:pPr>
            <a:r>
              <a:rPr sz="2000" dirty="0">
                <a:solidFill>
                  <a:srgbClr val="A8FFC8"/>
                </a:solidFill>
                <a:latin typeface="Courier New"/>
              </a:rPr>
              <a:t>  Verso:  draw (v.) = to attract or interest someone</a:t>
            </a:r>
          </a:p>
          <a:p>
            <a:pPr>
              <a:spcBef>
                <a:spcPts val="200"/>
              </a:spcBef>
            </a:pPr>
            <a:r>
              <a:rPr sz="2000" dirty="0">
                <a:solidFill>
                  <a:srgbClr val="A8FFC8"/>
                </a:solidFill>
                <a:latin typeface="Courier New"/>
              </a:rPr>
              <a:t>          ☞ be drawn to  /  draw attention  /  draw interest</a:t>
            </a:r>
          </a:p>
          <a:p>
            <a:pPr>
              <a:spcBef>
                <a:spcPts val="200"/>
              </a:spcBef>
            </a:pPr>
            <a:r>
              <a:rPr sz="2000" dirty="0">
                <a:solidFill>
                  <a:srgbClr val="A8FFC8"/>
                </a:solidFill>
                <a:latin typeface="Courier New"/>
              </a:rPr>
              <a:t>          ──────────────────────────────────────────────────</a:t>
            </a:r>
          </a:p>
          <a:p>
            <a:pPr>
              <a:spcBef>
                <a:spcPts val="200"/>
              </a:spcBef>
            </a:pPr>
            <a:r>
              <a:rPr sz="2000" dirty="0">
                <a:solidFill>
                  <a:srgbClr val="A8FFC8"/>
                </a:solidFill>
                <a:latin typeface="Courier New"/>
              </a:rPr>
              <a:t>          "Ela se </a:t>
            </a:r>
            <a:r>
              <a:rPr sz="2000" dirty="0" err="1">
                <a:solidFill>
                  <a:srgbClr val="A8FFC8"/>
                </a:solidFill>
                <a:latin typeface="Courier New"/>
              </a:rPr>
              <a:t>sentiu</a:t>
            </a:r>
            <a:r>
              <a:rPr sz="2000" dirty="0">
                <a:solidFill>
                  <a:srgbClr val="A8FFC8"/>
                </a:solidFill>
                <a:latin typeface="Courier New"/>
              </a:rPr>
              <a:t> </a:t>
            </a:r>
            <a:r>
              <a:rPr sz="2000" dirty="0" err="1">
                <a:solidFill>
                  <a:srgbClr val="A8FFC8"/>
                </a:solidFill>
                <a:latin typeface="Courier New"/>
              </a:rPr>
              <a:t>atraida</a:t>
            </a:r>
            <a:r>
              <a:rPr sz="2000" dirty="0">
                <a:solidFill>
                  <a:srgbClr val="A8FFC8"/>
                </a:solidFill>
                <a:latin typeface="Courier New"/>
              </a:rPr>
              <a:t> pela </a:t>
            </a:r>
            <a:r>
              <a:rPr sz="2000" dirty="0" err="1">
                <a:solidFill>
                  <a:srgbClr val="A8FFC8"/>
                </a:solidFill>
                <a:latin typeface="Courier New"/>
              </a:rPr>
              <a:t>ideia</a:t>
            </a:r>
            <a:r>
              <a:rPr sz="2000" dirty="0">
                <a:solidFill>
                  <a:srgbClr val="A8FFC8"/>
                </a:solidFill>
                <a:latin typeface="Courier New"/>
              </a:rPr>
              <a:t> de </a:t>
            </a:r>
            <a:r>
              <a:rPr sz="2000" dirty="0" err="1">
                <a:solidFill>
                  <a:srgbClr val="A8FFC8"/>
                </a:solidFill>
                <a:latin typeface="Courier New"/>
              </a:rPr>
              <a:t>trabalhar</a:t>
            </a:r>
            <a:r>
              <a:rPr sz="2000" dirty="0">
                <a:solidFill>
                  <a:srgbClr val="A8FFC8"/>
                </a:solidFill>
                <a:latin typeface="Courier New"/>
              </a:rPr>
              <a:t> no exterior."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937E3A-A64E-A202-6C60-BA24CFA18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98425" y="6492875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Comparação: o que cada tier faz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Resumo dos três tiers lado a lado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8061" y="1619758"/>
            <a:ext cx="2651760" cy="71323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342069" y="1683766"/>
            <a:ext cx="25237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C742"/>
                </a:solidFill>
              </a:rPr>
              <a:t>Critério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9821" y="1619758"/>
            <a:ext cx="2651760" cy="71323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2993829" y="1683766"/>
            <a:ext cx="25237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C742"/>
                </a:solidFill>
              </a:rPr>
              <a:t>Tier 1</a:t>
            </a:r>
          </a:p>
        </p:txBody>
      </p:sp>
      <p:sp>
        <p:nvSpPr>
          <p:cNvPr id="9" name="Rectangle 8"/>
          <p:cNvSpPr/>
          <p:nvPr/>
        </p:nvSpPr>
        <p:spPr>
          <a:xfrm>
            <a:off x="5581581" y="1619758"/>
            <a:ext cx="2743200" cy="71323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5645589" y="1683766"/>
            <a:ext cx="26151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C742"/>
                </a:solidFill>
              </a:rPr>
              <a:t>Tier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4781" y="1619758"/>
            <a:ext cx="3657600" cy="71323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8388789" y="1683766"/>
            <a:ext cx="35295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C742"/>
                </a:solidFill>
              </a:rPr>
              <a:t>Tier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061" y="2332990"/>
            <a:ext cx="2651760" cy="71323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342069" y="2387854"/>
            <a:ext cx="25237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Texto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9821" y="2332990"/>
            <a:ext cx="2651760" cy="71323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2993829" y="2387854"/>
            <a:ext cx="25237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Estória ~200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81581" y="2332990"/>
            <a:ext cx="2743200" cy="71323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5645589" y="2387854"/>
            <a:ext cx="26151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Estória ~300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4781" y="2332990"/>
            <a:ext cx="3657600" cy="71323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8388789" y="2387854"/>
            <a:ext cx="35295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Autêntico 400–600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8061" y="3046222"/>
            <a:ext cx="2651760" cy="71323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TextBox 21"/>
          <p:cNvSpPr txBox="1"/>
          <p:nvPr/>
        </p:nvSpPr>
        <p:spPr>
          <a:xfrm>
            <a:off x="342069" y="3101086"/>
            <a:ext cx="25237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Quem escolhe as palavras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9821" y="3046222"/>
            <a:ext cx="2651760" cy="71323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TextBox 23"/>
          <p:cNvSpPr txBox="1"/>
          <p:nvPr/>
        </p:nvSpPr>
        <p:spPr>
          <a:xfrm>
            <a:off x="2993829" y="3101086"/>
            <a:ext cx="25237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9C742"/>
                </a:solidFill>
              </a:rPr>
              <a:t>Professor (10)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81581" y="3046222"/>
            <a:ext cx="2743200" cy="71323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5645589" y="3101086"/>
            <a:ext cx="26151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ECC71"/>
                </a:solidFill>
              </a:rPr>
              <a:t>Professor (20)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4781" y="3046222"/>
            <a:ext cx="3657600" cy="71323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8" name="TextBox 27"/>
          <p:cNvSpPr txBox="1"/>
          <p:nvPr/>
        </p:nvSpPr>
        <p:spPr>
          <a:xfrm>
            <a:off x="8388789" y="3101086"/>
            <a:ext cx="35295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DADE8"/>
                </a:solidFill>
              </a:rPr>
              <a:t>O aluno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061" y="3759454"/>
            <a:ext cx="2651760" cy="71323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0" name="TextBox 29"/>
          <p:cNvSpPr txBox="1"/>
          <p:nvPr/>
        </p:nvSpPr>
        <p:spPr>
          <a:xfrm>
            <a:off x="342069" y="3814318"/>
            <a:ext cx="25237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Meta de cartões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9821" y="3759454"/>
            <a:ext cx="2651760" cy="71323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2" name="TextBox 31"/>
          <p:cNvSpPr txBox="1"/>
          <p:nvPr/>
        </p:nvSpPr>
        <p:spPr>
          <a:xfrm>
            <a:off x="2993829" y="3814318"/>
            <a:ext cx="25237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5–8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81581" y="3759454"/>
            <a:ext cx="2743200" cy="71323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4" name="TextBox 33"/>
          <p:cNvSpPr txBox="1"/>
          <p:nvPr/>
        </p:nvSpPr>
        <p:spPr>
          <a:xfrm>
            <a:off x="5645589" y="3814318"/>
            <a:ext cx="26151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8–12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4781" y="3759454"/>
            <a:ext cx="3657600" cy="71323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6" name="TextBox 35"/>
          <p:cNvSpPr txBox="1"/>
          <p:nvPr/>
        </p:nvSpPr>
        <p:spPr>
          <a:xfrm>
            <a:off x="8388789" y="3814318"/>
            <a:ext cx="35295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10–15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8061" y="4472686"/>
            <a:ext cx="2651760" cy="71323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8" name="TextBox 37"/>
          <p:cNvSpPr txBox="1"/>
          <p:nvPr/>
        </p:nvSpPr>
        <p:spPr>
          <a:xfrm>
            <a:off x="342069" y="4527550"/>
            <a:ext cx="25237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Como cria a frase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9821" y="4472686"/>
            <a:ext cx="2651760" cy="71323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0" name="TextBox 39"/>
          <p:cNvSpPr txBox="1"/>
          <p:nvPr/>
        </p:nvSpPr>
        <p:spPr>
          <a:xfrm>
            <a:off x="2993829" y="4527550"/>
            <a:ext cx="25237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Substituição de 1 contexto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81581" y="4472686"/>
            <a:ext cx="2743200" cy="71323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2" name="TextBox 41"/>
          <p:cNvSpPr txBox="1"/>
          <p:nvPr/>
        </p:nvSpPr>
        <p:spPr>
          <a:xfrm>
            <a:off x="5645589" y="4527550"/>
            <a:ext cx="26151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Tradução Reversa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4781" y="4472686"/>
            <a:ext cx="3657600" cy="71323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4" name="TextBox 43"/>
          <p:cNvSpPr txBox="1"/>
          <p:nvPr/>
        </p:nvSpPr>
        <p:spPr>
          <a:xfrm>
            <a:off x="8388789" y="4527550"/>
            <a:ext cx="35295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Frase do dicionário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8061" y="5185918"/>
            <a:ext cx="2651760" cy="71323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6" name="TextBox 45"/>
          <p:cNvSpPr txBox="1"/>
          <p:nvPr/>
        </p:nvSpPr>
        <p:spPr>
          <a:xfrm>
            <a:off x="342069" y="5240782"/>
            <a:ext cx="25237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Idioma do verso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29821" y="5185918"/>
            <a:ext cx="2651760" cy="71323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8" name="TextBox 47"/>
          <p:cNvSpPr txBox="1"/>
          <p:nvPr/>
        </p:nvSpPr>
        <p:spPr>
          <a:xfrm>
            <a:off x="2993829" y="5240782"/>
            <a:ext cx="25237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Português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81581" y="5185918"/>
            <a:ext cx="2743200" cy="71323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0" name="TextBox 49"/>
          <p:cNvSpPr txBox="1"/>
          <p:nvPr/>
        </p:nvSpPr>
        <p:spPr>
          <a:xfrm>
            <a:off x="5645589" y="5240782"/>
            <a:ext cx="26151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PT + EN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4781" y="5185918"/>
            <a:ext cx="3657600" cy="71323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2" name="TextBox 51"/>
          <p:cNvSpPr txBox="1"/>
          <p:nvPr/>
        </p:nvSpPr>
        <p:spPr>
          <a:xfrm>
            <a:off x="8388789" y="5240782"/>
            <a:ext cx="35295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EN + tradução da frase</a:t>
            </a:r>
          </a:p>
        </p:txBody>
      </p:sp>
      <p:sp>
        <p:nvSpPr>
          <p:cNvPr id="53" name="Slide Number Placeholder 52">
            <a:extLst>
              <a:ext uri="{FF2B5EF4-FFF2-40B4-BE49-F238E27FC236}">
                <a16:creationId xmlns:a16="http://schemas.microsoft.com/office/drawing/2014/main" id="{A6695D9B-EBE4-72E3-B381-9E113BFDA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Quantos cartões você precisa criar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Metas de produção por tier — Component B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3200400" cy="914400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658368" y="1618488"/>
            <a:ext cx="30723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C742"/>
                </a:solidFill>
              </a:rPr>
              <a:t>Tier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794760" y="1554480"/>
            <a:ext cx="2286000" cy="914400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3858768" y="1618488"/>
            <a:ext cx="21579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C742"/>
                </a:solidFill>
              </a:rPr>
              <a:t>Mínimo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554480"/>
            <a:ext cx="3200400" cy="914400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6144768" y="1618488"/>
            <a:ext cx="30723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C742"/>
                </a:solidFill>
              </a:rPr>
              <a:t>Alvo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81160" y="1554480"/>
            <a:ext cx="2743200" cy="914400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9345168" y="1618488"/>
            <a:ext cx="26151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C742"/>
                </a:solidFill>
              </a:rPr>
              <a:t>Máximo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468880"/>
            <a:ext cx="3200400" cy="914400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658368" y="2523744"/>
            <a:ext cx="30723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9C742"/>
                </a:solidFill>
              </a:rPr>
              <a:t>Tier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4760" y="2468880"/>
            <a:ext cx="2286000" cy="914400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3858768" y="2523744"/>
            <a:ext cx="21579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2468880"/>
            <a:ext cx="3200400" cy="914400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6144768" y="2523744"/>
            <a:ext cx="30723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9C742"/>
                </a:solidFill>
              </a:rPr>
              <a:t>7–8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1160" y="2468880"/>
            <a:ext cx="2743200" cy="914400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9345168" y="2523744"/>
            <a:ext cx="26151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383280"/>
            <a:ext cx="3200400" cy="91440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TextBox 21"/>
          <p:cNvSpPr txBox="1"/>
          <p:nvPr/>
        </p:nvSpPr>
        <p:spPr>
          <a:xfrm>
            <a:off x="658368" y="3438144"/>
            <a:ext cx="30723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ECC71"/>
                </a:solidFill>
              </a:rPr>
              <a:t>Tier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94760" y="3383280"/>
            <a:ext cx="2286000" cy="91440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TextBox 23"/>
          <p:cNvSpPr txBox="1"/>
          <p:nvPr/>
        </p:nvSpPr>
        <p:spPr>
          <a:xfrm>
            <a:off x="3858768" y="3438144"/>
            <a:ext cx="21579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3383280"/>
            <a:ext cx="3200400" cy="91440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6144768" y="3438144"/>
            <a:ext cx="30723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ECC71"/>
                </a:solidFill>
              </a:rPr>
              <a:t>10–12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1160" y="3383280"/>
            <a:ext cx="2743200" cy="91440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8" name="TextBox 27"/>
          <p:cNvSpPr txBox="1"/>
          <p:nvPr/>
        </p:nvSpPr>
        <p:spPr>
          <a:xfrm>
            <a:off x="9345168" y="3438144"/>
            <a:ext cx="26151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4297680"/>
            <a:ext cx="3200400" cy="914400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0" name="TextBox 29"/>
          <p:cNvSpPr txBox="1"/>
          <p:nvPr/>
        </p:nvSpPr>
        <p:spPr>
          <a:xfrm>
            <a:off x="658368" y="4352544"/>
            <a:ext cx="30723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DADE8"/>
                </a:solidFill>
              </a:rPr>
              <a:t>Tier 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94760" y="4297680"/>
            <a:ext cx="2286000" cy="914400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2" name="TextBox 31"/>
          <p:cNvSpPr txBox="1"/>
          <p:nvPr/>
        </p:nvSpPr>
        <p:spPr>
          <a:xfrm>
            <a:off x="3858768" y="4352544"/>
            <a:ext cx="21579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4297680"/>
            <a:ext cx="3200400" cy="914400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4" name="TextBox 33"/>
          <p:cNvSpPr txBox="1"/>
          <p:nvPr/>
        </p:nvSpPr>
        <p:spPr>
          <a:xfrm>
            <a:off x="6144768" y="4352544"/>
            <a:ext cx="30723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DADE8"/>
                </a:solidFill>
              </a:rPr>
              <a:t>13–15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81160" y="4297680"/>
            <a:ext cx="2743200" cy="914400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6" name="TextBox 35"/>
          <p:cNvSpPr txBox="1"/>
          <p:nvPr/>
        </p:nvSpPr>
        <p:spPr>
          <a:xfrm>
            <a:off x="9345168" y="4352544"/>
            <a:ext cx="26151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6553" y="5310124"/>
            <a:ext cx="11430000" cy="10515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3713" y="5401564"/>
            <a:ext cx="11201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⚠  Importante: não crie todos os cartões no mesmo dia.
A nota considera em quantos dias diferentes você criou cartões.
Criar em 3 dias distintos vale mais do que criar 15 cartões em 1 hora.</a:t>
            </a: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56FD0179-E679-6B9C-F31C-C3F9DC76A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Nome do baralho (crítico!)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Nomeie o baralho exatamente como indicado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37525"/>
            <a:ext cx="2743200" cy="74980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29768" y="1601533"/>
            <a:ext cx="26151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C742"/>
                </a:solidFill>
              </a:rPr>
              <a:t>Seu tier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537525"/>
            <a:ext cx="8686800" cy="74980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3172968" y="1601533"/>
            <a:ext cx="85587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C742"/>
                </a:solidFill>
              </a:rPr>
              <a:t>Nome do baralho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87333"/>
            <a:ext cx="2743200" cy="74980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429768" y="2342197"/>
            <a:ext cx="26151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9C742"/>
                </a:solidFill>
              </a:rPr>
              <a:t>Tier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2287333"/>
            <a:ext cx="8686800" cy="74980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3172968" y="2342197"/>
            <a:ext cx="85587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9C742"/>
                </a:solidFill>
              </a:rPr>
              <a:t>PASSAGE_E02_TIER1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37141"/>
            <a:ext cx="2743200" cy="74980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429768" y="3092005"/>
            <a:ext cx="26151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ECC71"/>
                </a:solidFill>
              </a:rPr>
              <a:t>Tier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3037141"/>
            <a:ext cx="8686800" cy="74980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3172968" y="3092005"/>
            <a:ext cx="85587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ECC71"/>
                </a:solidFill>
              </a:rPr>
              <a:t>PASSAGE_E02_TIER2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621024"/>
            <a:ext cx="2743200" cy="74980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" y="3962019"/>
            <a:ext cx="261518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DADE8"/>
                </a:solidFill>
              </a:rPr>
              <a:t>Tier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3621024"/>
            <a:ext cx="8686800" cy="74980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172968" y="3962019"/>
            <a:ext cx="855878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DADE8"/>
                </a:solidFill>
              </a:rPr>
              <a:t>PASSAGE_E02_TIER3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989451"/>
            <a:ext cx="11430000" cy="685800"/>
          </a:xfrm>
          <a:prstGeom prst="rect">
            <a:avLst/>
          </a:prstGeom>
          <a:solidFill>
            <a:srgbClr val="5E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080891"/>
            <a:ext cx="11201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  ⚠  O sistema usa o nome do baralho para calcular a nota. Um nome errado faz seus cartões serem contabilizados como Component C em vez de B.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858131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9C742"/>
                </a:solidFill>
              </a:rPr>
              <a:t>Como criar o baralho no StudyAmigo: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269611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FFFFFF"/>
                </a:solidFill>
              </a:rPr>
              <a:t>1. </a:t>
            </a:r>
            <a:r>
              <a:rPr sz="2000" b="0" i="0" dirty="0" err="1">
                <a:solidFill>
                  <a:srgbClr val="FFFFFF"/>
                </a:solidFill>
              </a:rPr>
              <a:t>Acesse</a:t>
            </a:r>
            <a:r>
              <a:rPr sz="2000" b="0" i="0" dirty="0">
                <a:solidFill>
                  <a:srgbClr val="FFFFFF"/>
                </a:solidFill>
              </a:rPr>
              <a:t> </a:t>
            </a:r>
            <a:r>
              <a:rPr sz="2000" b="0" i="0" dirty="0" err="1">
                <a:solidFill>
                  <a:srgbClr val="FFFFFF"/>
                </a:solidFill>
              </a:rPr>
              <a:t>StudyAmigo</a:t>
            </a:r>
            <a:r>
              <a:rPr sz="2000" b="0" i="0" dirty="0">
                <a:solidFill>
                  <a:srgbClr val="FFFFFF"/>
                </a:solidFill>
              </a:rPr>
              <a:t> e </a:t>
            </a:r>
            <a:r>
              <a:rPr sz="2000" b="0" i="0" dirty="0" err="1">
                <a:solidFill>
                  <a:srgbClr val="FFFFFF"/>
                </a:solidFill>
              </a:rPr>
              <a:t>faça</a:t>
            </a:r>
            <a:r>
              <a:rPr sz="2000" b="0" i="0" dirty="0">
                <a:solidFill>
                  <a:srgbClr val="FFFFFF"/>
                </a:solidFill>
              </a:rPr>
              <a:t> login
2. Na </a:t>
            </a:r>
            <a:r>
              <a:rPr sz="2000" b="0" i="0" dirty="0" err="1">
                <a:solidFill>
                  <a:srgbClr val="FFFFFF"/>
                </a:solidFill>
              </a:rPr>
              <a:t>tela</a:t>
            </a:r>
            <a:r>
              <a:rPr sz="2000" b="0" i="0" dirty="0">
                <a:solidFill>
                  <a:srgbClr val="FFFFFF"/>
                </a:solidFill>
              </a:rPr>
              <a:t> de </a:t>
            </a:r>
            <a:r>
              <a:rPr sz="2000" b="0" i="0" dirty="0" err="1">
                <a:solidFill>
                  <a:srgbClr val="FFFFFF"/>
                </a:solidFill>
              </a:rPr>
              <a:t>baralhos</a:t>
            </a:r>
            <a:r>
              <a:rPr sz="2000" b="0" i="0" dirty="0">
                <a:solidFill>
                  <a:srgbClr val="FFFFFF"/>
                </a:solidFill>
              </a:rPr>
              <a:t>, clique </a:t>
            </a:r>
            <a:r>
              <a:rPr sz="2000" b="0" i="0" dirty="0" err="1">
                <a:solidFill>
                  <a:srgbClr val="FFFFFF"/>
                </a:solidFill>
              </a:rPr>
              <a:t>em</a:t>
            </a:r>
            <a:r>
              <a:rPr sz="2000" b="0" i="0" dirty="0">
                <a:solidFill>
                  <a:srgbClr val="FFFFFF"/>
                </a:solidFill>
              </a:rPr>
              <a:t>  Novo </a:t>
            </a:r>
            <a:r>
              <a:rPr sz="2000" b="0" i="0" dirty="0" err="1">
                <a:solidFill>
                  <a:srgbClr val="FFFFFF"/>
                </a:solidFill>
              </a:rPr>
              <a:t>Baralho</a:t>
            </a:r>
            <a:r>
              <a:rPr sz="2000" b="0" i="0" dirty="0">
                <a:solidFill>
                  <a:srgbClr val="FFFFFF"/>
                </a:solidFill>
              </a:rPr>
              <a:t>
3. </a:t>
            </a:r>
            <a:r>
              <a:rPr sz="2000" b="0" i="0" dirty="0" err="1">
                <a:solidFill>
                  <a:srgbClr val="FFFFFF"/>
                </a:solidFill>
              </a:rPr>
              <a:t>Digite</a:t>
            </a:r>
            <a:r>
              <a:rPr sz="2000" b="0" i="0" dirty="0">
                <a:solidFill>
                  <a:srgbClr val="FFFFFF"/>
                </a:solidFill>
              </a:rPr>
              <a:t> o </a:t>
            </a:r>
            <a:r>
              <a:rPr sz="2000" b="0" i="0" dirty="0" err="1">
                <a:solidFill>
                  <a:srgbClr val="FFFFFF"/>
                </a:solidFill>
              </a:rPr>
              <a:t>nome</a:t>
            </a:r>
            <a:r>
              <a:rPr sz="2000" b="0" i="0" dirty="0">
                <a:solidFill>
                  <a:srgbClr val="FFFFFF"/>
                </a:solidFill>
              </a:rPr>
              <a:t> </a:t>
            </a:r>
            <a:r>
              <a:rPr sz="2000" b="0" i="0" dirty="0" err="1">
                <a:solidFill>
                  <a:srgbClr val="FFFFFF"/>
                </a:solidFill>
              </a:rPr>
              <a:t>exato</a:t>
            </a:r>
            <a:r>
              <a:rPr sz="2000" b="0" i="0" dirty="0">
                <a:solidFill>
                  <a:srgbClr val="FFFFFF"/>
                </a:solidFill>
              </a:rPr>
              <a:t> da </a:t>
            </a:r>
            <a:r>
              <a:rPr sz="2000" b="0" i="0" dirty="0" err="1">
                <a:solidFill>
                  <a:srgbClr val="FFFFFF"/>
                </a:solidFill>
              </a:rPr>
              <a:t>tabela</a:t>
            </a:r>
            <a:r>
              <a:rPr sz="2000" b="0" i="0" dirty="0">
                <a:solidFill>
                  <a:srgbClr val="FFFFFF"/>
                </a:solidFill>
              </a:rPr>
              <a:t> </a:t>
            </a:r>
            <a:r>
              <a:rPr sz="2000" b="0" i="0" dirty="0" err="1">
                <a:solidFill>
                  <a:srgbClr val="FFFFFF"/>
                </a:solidFill>
              </a:rPr>
              <a:t>acima</a:t>
            </a:r>
            <a:r>
              <a:rPr sz="2000" b="0" i="0" dirty="0">
                <a:solidFill>
                  <a:srgbClr val="FFFFFF"/>
                </a:solidFill>
              </a:rPr>
              <a:t>
4. Use </a:t>
            </a:r>
            <a:r>
              <a:rPr sz="2000" b="0" i="0" dirty="0" err="1">
                <a:solidFill>
                  <a:srgbClr val="FFFFFF"/>
                </a:solidFill>
              </a:rPr>
              <a:t>este</a:t>
            </a:r>
            <a:r>
              <a:rPr sz="2000" b="0" i="0" dirty="0">
                <a:solidFill>
                  <a:srgbClr val="FFFFFF"/>
                </a:solidFill>
              </a:rPr>
              <a:t> </a:t>
            </a:r>
            <a:r>
              <a:rPr sz="2000" b="0" i="0" dirty="0" err="1">
                <a:solidFill>
                  <a:srgbClr val="FFFFFF"/>
                </a:solidFill>
              </a:rPr>
              <a:t>baralho</a:t>
            </a:r>
            <a:r>
              <a:rPr sz="2000" b="0" i="0" dirty="0">
                <a:solidFill>
                  <a:srgbClr val="FFFFFF"/>
                </a:solidFill>
              </a:rPr>
              <a:t> para </a:t>
            </a:r>
            <a:r>
              <a:rPr sz="2000" b="0" i="0" dirty="0" err="1">
                <a:solidFill>
                  <a:srgbClr val="FFFFFF"/>
                </a:solidFill>
              </a:rPr>
              <a:t>todos</a:t>
            </a:r>
            <a:r>
              <a:rPr sz="2000" b="0" i="0" dirty="0">
                <a:solidFill>
                  <a:srgbClr val="FFFFFF"/>
                </a:solidFill>
              </a:rPr>
              <a:t> </a:t>
            </a:r>
            <a:r>
              <a:rPr sz="2000" b="0" i="0" dirty="0" err="1">
                <a:solidFill>
                  <a:srgbClr val="FFFFFF"/>
                </a:solidFill>
              </a:rPr>
              <a:t>os</a:t>
            </a:r>
            <a:r>
              <a:rPr sz="2000" b="0" i="0" dirty="0">
                <a:solidFill>
                  <a:srgbClr val="FFFFFF"/>
                </a:solidFill>
              </a:rPr>
              <a:t> </a:t>
            </a:r>
            <a:r>
              <a:rPr sz="2000" b="0" i="0" dirty="0" err="1">
                <a:solidFill>
                  <a:srgbClr val="FFFFFF"/>
                </a:solidFill>
              </a:rPr>
              <a:t>cartões</a:t>
            </a:r>
            <a:r>
              <a:rPr sz="2000" b="0" i="0" dirty="0">
                <a:solidFill>
                  <a:srgbClr val="FFFFFF"/>
                </a:solidFill>
              </a:rPr>
              <a:t> do </a:t>
            </a:r>
            <a:r>
              <a:rPr sz="2000" b="0" i="0" dirty="0" err="1">
                <a:solidFill>
                  <a:srgbClr val="FFFFFF"/>
                </a:solidFill>
              </a:rPr>
              <a:t>texto</a:t>
            </a:r>
            <a:r>
              <a:rPr sz="2000" b="0" i="0" dirty="0">
                <a:solidFill>
                  <a:srgbClr val="FFFFFF"/>
                </a:solidFill>
              </a:rPr>
              <a:t> de E02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8C0A3255-E4F8-DDCF-F32D-8F3C1D69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Component C: material de livre escolha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Você também precisa de 5 cartões de material próprio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" y="1774571"/>
            <a:ext cx="73152" cy="292608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685800" y="1683131"/>
            <a:ext cx="11155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Mínimo de 5 cartões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8" y="2231771"/>
            <a:ext cx="73152" cy="292608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685800" y="2140331"/>
            <a:ext cx="11155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O material deve ser um texto em inglês (não lista de palavras)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" y="2688971"/>
            <a:ext cx="73152" cy="292608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685800" y="2597531"/>
            <a:ext cx="11155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Submeta a fonte junto com os cartões (URL, título, nome da música)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" y="3237611"/>
            <a:ext cx="7772400" cy="56692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585216" y="3301619"/>
            <a:ext cx="76443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C742"/>
                </a:solidFill>
              </a:rPr>
              <a:t>Material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93608" y="3237611"/>
            <a:ext cx="4023360" cy="56692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8357616" y="3301619"/>
            <a:ext cx="38953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C742"/>
                </a:solidFill>
              </a:rPr>
              <a:t>Aceito?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" y="3804539"/>
            <a:ext cx="7772400" cy="56692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585216" y="3859403"/>
            <a:ext cx="76443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Letra de música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93608" y="3804539"/>
            <a:ext cx="4023360" cy="56692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8357616" y="3859403"/>
            <a:ext cx="38953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ECC71"/>
                </a:solidFill>
              </a:rPr>
              <a:t>✅  (prefira vocabulário claro)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8" y="4371467"/>
            <a:ext cx="777240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585216" y="4426331"/>
            <a:ext cx="76443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Transcrição de vídeo (YouTube, TED)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93608" y="4371467"/>
            <a:ext cx="402336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TextBox 21"/>
          <p:cNvSpPr txBox="1"/>
          <p:nvPr/>
        </p:nvSpPr>
        <p:spPr>
          <a:xfrm>
            <a:off x="8357616" y="4426331"/>
            <a:ext cx="38953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ECC71"/>
                </a:solidFill>
              </a:rPr>
              <a:t>✅  Recomendado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8" y="4938395"/>
            <a:ext cx="7772400" cy="56692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TextBox 23"/>
          <p:cNvSpPr txBox="1"/>
          <p:nvPr/>
        </p:nvSpPr>
        <p:spPr>
          <a:xfrm>
            <a:off x="585216" y="4993259"/>
            <a:ext cx="76443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Artigo simplificado (BBC Learning, VOA)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93608" y="4938395"/>
            <a:ext cx="4023360" cy="56692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8357616" y="4993259"/>
            <a:ext cx="38953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ECC71"/>
                </a:solidFill>
              </a:rPr>
              <a:t>✅  Recomendado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208" y="5505323"/>
            <a:ext cx="777240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8" name="TextBox 27"/>
          <p:cNvSpPr txBox="1"/>
          <p:nvPr/>
        </p:nvSpPr>
        <p:spPr>
          <a:xfrm>
            <a:off x="585216" y="5560187"/>
            <a:ext cx="76443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Tradução de texto em português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93608" y="5505323"/>
            <a:ext cx="402336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0" name="TextBox 29"/>
          <p:cNvSpPr txBox="1"/>
          <p:nvPr/>
        </p:nvSpPr>
        <p:spPr>
          <a:xfrm>
            <a:off x="8357616" y="5560187"/>
            <a:ext cx="38953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74C3C"/>
                </a:solidFill>
              </a:rPr>
              <a:t>❌  Não aceito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8" y="6191123"/>
            <a:ext cx="11430000" cy="530352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2" name="TextBox 31"/>
          <p:cNvSpPr txBox="1"/>
          <p:nvPr/>
        </p:nvSpPr>
        <p:spPr>
          <a:xfrm>
            <a:off x="658368" y="6282563"/>
            <a:ext cx="11201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FFFFF"/>
                </a:solidFill>
              </a:rPr>
              <a:t>→  O nome do baralho de Component C pode ser qualquer nome — só o Component B tem nome fixo.</a:t>
            </a: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8AB1F025-61FC-B88F-088A-F7C9474FC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Sugestões de fontes para Component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Por onde começar?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532255"/>
            <a:ext cx="1371600" cy="36576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320040" y="1559687"/>
            <a:ext cx="137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1E2E"/>
                </a:solidFill>
              </a:rPr>
              <a:t>Tier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799" y="1605407"/>
            <a:ext cx="64008" cy="256032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1965960" y="1532255"/>
            <a:ext cx="9784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VOA Learning English — Beginners:  learningenglish.voanews.com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799" y="1998599"/>
            <a:ext cx="64008" cy="256032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1965960" y="1925447"/>
            <a:ext cx="9784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Letras de músicas pop/folk com vocabulário simples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799" y="2391791"/>
            <a:ext cx="64008" cy="256032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1965960" y="2318639"/>
            <a:ext cx="9784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Legendas de desenhos animados americanos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940431"/>
            <a:ext cx="1371600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320040" y="2967863"/>
            <a:ext cx="137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1E2E"/>
                </a:solidFill>
              </a:rPr>
              <a:t>Tier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799" y="3013583"/>
            <a:ext cx="64008" cy="2560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1965960" y="2940431"/>
            <a:ext cx="9784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BBC Learning English — News Report:  bbc.co.uk/learningenglish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799" y="3406775"/>
            <a:ext cx="64008" cy="2560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1965960" y="3333623"/>
            <a:ext cx="9784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Transcrições de vídeos TED-Ed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799" y="3799967"/>
            <a:ext cx="64008" cy="2560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1965960" y="3726815"/>
            <a:ext cx="9784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Artigos de introdução da Wikipedia em inglês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348607"/>
            <a:ext cx="1371600" cy="365760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TextBox 21"/>
          <p:cNvSpPr txBox="1"/>
          <p:nvPr/>
        </p:nvSpPr>
        <p:spPr>
          <a:xfrm>
            <a:off x="320040" y="4376039"/>
            <a:ext cx="137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1E2E"/>
                </a:solidFill>
              </a:rPr>
              <a:t>Tier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799" y="4421759"/>
            <a:ext cx="64008" cy="256032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TextBox 23"/>
          <p:cNvSpPr txBox="1"/>
          <p:nvPr/>
        </p:nvSpPr>
        <p:spPr>
          <a:xfrm>
            <a:off x="1965960" y="4348607"/>
            <a:ext cx="9784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The Guardian  /  Scientific American  /  MIT Technology Review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799" y="4814951"/>
            <a:ext cx="64008" cy="256032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1965960" y="4741799"/>
            <a:ext cx="9784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Transcrições de podcasts (Radiolab, Stuff You Should Know)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799" y="5208143"/>
            <a:ext cx="64008" cy="256032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8" name="TextBox 27"/>
          <p:cNvSpPr txBox="1"/>
          <p:nvPr/>
        </p:nvSpPr>
        <p:spPr>
          <a:xfrm>
            <a:off x="1965960" y="5134991"/>
            <a:ext cx="9784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Livros de não-ficção populares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039D037-9645-FA04-8C19-11DD89CB0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Erros mais comuns — evite!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O que NÃO fazer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00835"/>
            <a:ext cx="5852160" cy="594360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384048" y="1664843"/>
            <a:ext cx="57241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C742"/>
                </a:solidFill>
              </a:rPr>
              <a:t>❌  Erro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600835"/>
            <a:ext cx="5852160" cy="594360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6236208" y="1664843"/>
            <a:ext cx="57241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C742"/>
                </a:solidFill>
              </a:rPr>
              <a:t>✅  Correto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195195"/>
            <a:ext cx="5852160" cy="594360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384048" y="2250059"/>
            <a:ext cx="57241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Frente: palavra isolada  (process)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195195"/>
            <a:ext cx="5852160" cy="594360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6236208" y="2250059"/>
            <a:ext cx="57241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 err="1">
                <a:solidFill>
                  <a:srgbClr val="FFFFFF"/>
                </a:solidFill>
              </a:rPr>
              <a:t>Frente</a:t>
            </a:r>
            <a:r>
              <a:rPr sz="2000" b="0" i="0" dirty="0">
                <a:solidFill>
                  <a:srgbClr val="FFFFFF"/>
                </a:solidFill>
              </a:rPr>
              <a:t>: </a:t>
            </a:r>
            <a:r>
              <a:rPr sz="2000" b="0" i="0" dirty="0" err="1">
                <a:solidFill>
                  <a:srgbClr val="FFFFFF"/>
                </a:solidFill>
              </a:rPr>
              <a:t>frase</a:t>
            </a:r>
            <a:r>
              <a:rPr sz="2000" b="0" i="0" dirty="0">
                <a:solidFill>
                  <a:srgbClr val="FFFFFF"/>
                </a:solidFill>
              </a:rPr>
              <a:t> com  [PROCESS]</a:t>
            </a:r>
            <a:r>
              <a:rPr lang="pt-BR" sz="2000" b="0" i="0" dirty="0">
                <a:solidFill>
                  <a:srgbClr val="FFFFFF"/>
                </a:solidFill>
              </a:rPr>
              <a:t>, de 4 a 15 palavras</a:t>
            </a:r>
            <a:endParaRPr sz="2000" b="0" i="0" dirty="0">
              <a:solidFill>
                <a:srgbClr val="FFFFFF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0040" y="2789555"/>
            <a:ext cx="5852160" cy="59436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384048" y="2844419"/>
            <a:ext cx="57241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Verso: só tradução  (processo)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789555"/>
            <a:ext cx="5852160" cy="59436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6236208" y="2844419"/>
            <a:ext cx="57241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Verso: tradução + exemplo / colocação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383915"/>
            <a:ext cx="5852160" cy="594360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384048" y="3438779"/>
            <a:ext cx="57241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Cartão de cognato óbvio  (technology = tecnologia)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383915"/>
            <a:ext cx="5852160" cy="594360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6236208" y="3438779"/>
            <a:ext cx="57241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Pule cognatos que você já sabe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978275"/>
            <a:ext cx="5852160" cy="59436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TextBox 21"/>
          <p:cNvSpPr txBox="1"/>
          <p:nvPr/>
        </p:nvSpPr>
        <p:spPr>
          <a:xfrm>
            <a:off x="384048" y="4033139"/>
            <a:ext cx="57241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Criar todos os cartões em 1 dia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978275"/>
            <a:ext cx="5852160" cy="59436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TextBox 23"/>
          <p:cNvSpPr txBox="1"/>
          <p:nvPr/>
        </p:nvSpPr>
        <p:spPr>
          <a:xfrm>
            <a:off x="6236208" y="4033139"/>
            <a:ext cx="57241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Distribuir em 2–3 sessões diferentes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572635"/>
            <a:ext cx="5852160" cy="594360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384048" y="4627499"/>
            <a:ext cx="57241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Nome do baralho errado  (Exercicio2)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4572635"/>
            <a:ext cx="5852160" cy="594360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8" name="TextBox 27"/>
          <p:cNvSpPr txBox="1"/>
          <p:nvPr/>
        </p:nvSpPr>
        <p:spPr>
          <a:xfrm>
            <a:off x="6236208" y="4627499"/>
            <a:ext cx="57241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Nome exato:  PASSAGE_E02_TIER2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166995"/>
            <a:ext cx="5852160" cy="59436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0" name="TextBox 29"/>
          <p:cNvSpPr txBox="1"/>
          <p:nvPr/>
        </p:nvSpPr>
        <p:spPr>
          <a:xfrm>
            <a:off x="384048" y="5221859"/>
            <a:ext cx="57241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Frente sem marcação da palavra-alvo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5166995"/>
            <a:ext cx="5852160" cy="59436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2" name="TextBox 31"/>
          <p:cNvSpPr txBox="1"/>
          <p:nvPr/>
        </p:nvSpPr>
        <p:spPr>
          <a:xfrm>
            <a:off x="6236208" y="5221859"/>
            <a:ext cx="57241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Frente sempre com  [PALAVRA_EM_MAIÚSCULO]</a:t>
            </a: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72CBF150-7717-395F-8F40-4A0F75F19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O que acontece depois de criar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O ciclo completo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2560320" cy="155448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2377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1E2E"/>
                </a:solidFill>
              </a:rPr>
              <a:t>Criar cartão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66801"/>
            <a:ext cx="23774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 err="1">
                <a:solidFill>
                  <a:srgbClr val="1E1E2E"/>
                </a:solidFill>
              </a:rPr>
              <a:t>Revisar</a:t>
            </a:r>
            <a:r>
              <a:rPr sz="2000" b="0" i="0" dirty="0">
                <a:solidFill>
                  <a:srgbClr val="1E1E2E"/>
                </a:solidFill>
              </a:rPr>
              <a:t> </a:t>
            </a:r>
            <a:r>
              <a:rPr sz="2000" b="0" i="0" dirty="0" err="1">
                <a:solidFill>
                  <a:srgbClr val="1E1E2E"/>
                </a:solidFill>
              </a:rPr>
              <a:t>imediatamente</a:t>
            </a:r>
            <a:r>
              <a:rPr sz="2000" b="0" i="0" dirty="0">
                <a:solidFill>
                  <a:srgbClr val="1E1E2E"/>
                </a:solidFill>
              </a:rPr>
              <a:t>
(1ª </a:t>
            </a:r>
            <a:r>
              <a:rPr sz="2000" b="0" i="0" dirty="0" err="1">
                <a:solidFill>
                  <a:srgbClr val="1E1E2E"/>
                </a:solidFill>
              </a:rPr>
              <a:t>sessão</a:t>
            </a:r>
            <a:r>
              <a:rPr sz="2000" b="0" i="0" dirty="0">
                <a:solidFill>
                  <a:srgbClr val="1E1E2E"/>
                </a:solidFill>
              </a:rPr>
              <a:t> de </a:t>
            </a:r>
            <a:r>
              <a:rPr sz="2000" b="0" i="0" dirty="0" err="1">
                <a:solidFill>
                  <a:srgbClr val="1E1E2E"/>
                </a:solidFill>
              </a:rPr>
              <a:t>aprendizado</a:t>
            </a:r>
            <a:r>
              <a:rPr sz="2000" b="0" i="0" dirty="0">
                <a:solidFill>
                  <a:srgbClr val="1E1E2E"/>
                </a:solidFill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103120"/>
            <a:ext cx="365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554480"/>
            <a:ext cx="2560320" cy="15544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3566160" y="1645920"/>
            <a:ext cx="2377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SM-2 agenda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48840"/>
            <a:ext cx="2377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próxima revisão em 1–3 dias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103120"/>
            <a:ext cx="365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1554480"/>
            <a:ext cx="2560320" cy="1554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6537960" y="1645920"/>
            <a:ext cx="2377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Você volta e revisa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48840"/>
            <a:ext cx="2377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SM-2 ajusta o intervalo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103120"/>
            <a:ext cx="365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18320" y="1554480"/>
            <a:ext cx="2560320" cy="1554480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9509760" y="1645920"/>
            <a:ext cx="2377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Cartão maduro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148840"/>
            <a:ext cx="2377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intervalo ≥ 21 dias
(sua nota agradece)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303520"/>
            <a:ext cx="11430000" cy="685800"/>
          </a:xfrm>
          <a:prstGeom prst="rect">
            <a:avLst/>
          </a:prstGeom>
          <a:solidFill>
            <a:srgbClr val="5E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5394960"/>
            <a:ext cx="11201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⚠  Revisar imediatamente após criar é obrigatório.
Cartões criados e nunca revisados não entram no SM-2 e não geram nota.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615B4EE3-FB78-2202-8D0B-0B09500F2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Checklist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Antes de terminar o exercício, verifique: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55699"/>
            <a:ext cx="5760720" cy="384048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701419"/>
            <a:ext cx="5577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1E1E2E"/>
                </a:solidFill>
              </a:rPr>
              <a:t>Component B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186051"/>
            <a:ext cx="201168" cy="201168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12899"/>
            <a:ext cx="525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FFFFF"/>
                </a:solidFill>
              </a:rPr>
              <a:t>Criei o baralho com o nome exato do meu tier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606675"/>
            <a:ext cx="201168" cy="201168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533523"/>
            <a:ext cx="525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FFFFF"/>
                </a:solidFill>
              </a:rPr>
              <a:t>Criei pelo menos o mínimo de cartões do meu tier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027299"/>
            <a:ext cx="201168" cy="201168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954147"/>
            <a:ext cx="525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FFFFF"/>
                </a:solidFill>
              </a:rPr>
              <a:t>As frentes têm [PALAVRA EM MAIÚSCULO]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447923"/>
            <a:ext cx="201168" cy="201168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374771"/>
            <a:ext cx="525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FFFFF"/>
                </a:solidFill>
              </a:rPr>
              <a:t>Tier 2+: versos têm classe gramatical e ☞ colocação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868547"/>
            <a:ext cx="201168" cy="201168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795395"/>
            <a:ext cx="525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FFFFF"/>
                </a:solidFill>
              </a:rPr>
              <a:t>Criei cartões em mais de 1 dia (distribuição)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289171"/>
            <a:ext cx="201168" cy="201168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216019"/>
            <a:ext cx="525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FFFFF"/>
                </a:solidFill>
              </a:rPr>
              <a:t>Revisei os cartões logo após criar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655699"/>
            <a:ext cx="5486400" cy="38404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1701419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1E1E2E"/>
                </a:solidFill>
              </a:rPr>
              <a:t>Component 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2186051"/>
            <a:ext cx="201168" cy="201168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0" y="2112899"/>
            <a:ext cx="4983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FFFFF"/>
                </a:solidFill>
              </a:rPr>
              <a:t>Criei pelo menos 5 cartões de material próprio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2606675"/>
            <a:ext cx="201168" cy="201168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2533523"/>
            <a:ext cx="4983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FFFFF"/>
                </a:solidFill>
              </a:rPr>
              <a:t>Anotei a fonte do material (URL ou título)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3027299"/>
            <a:ext cx="201168" cy="201168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0" y="2954147"/>
            <a:ext cx="4983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FFFFF"/>
                </a:solidFill>
              </a:rPr>
              <a:t>O material é um texto em inglês (não uma tradução)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0DEEAD4D-CAEA-371C-5A13-4CF5BCC23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Resumo em uma frase por 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O que levar para casa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371600" cy="132588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137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1E2E"/>
                </a:solidFill>
              </a:rPr>
              <a:t>Tier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783080" y="1508760"/>
            <a:ext cx="10058400" cy="13258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1920240" y="1691640"/>
            <a:ext cx="9784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Pegue a lista do professor, troque uma palavra de contexto na frase do dicionário, coloque a palavra-alvo em [MAIÚSCULO] na frente.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017520"/>
            <a:ext cx="1371600" cy="1325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365760" y="3429000"/>
            <a:ext cx="137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1E2E"/>
                </a:solidFill>
              </a:rPr>
              <a:t>Tier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83080" y="3017520"/>
            <a:ext cx="10058400" cy="13258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1920240" y="3200400"/>
            <a:ext cx="9784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FFFFFF"/>
                </a:solidFill>
              </a:rPr>
              <a:t>Use o Cambridge, </a:t>
            </a:r>
            <a:r>
              <a:rPr sz="2000" b="0" i="0" dirty="0" err="1">
                <a:solidFill>
                  <a:srgbClr val="FFFFFF"/>
                </a:solidFill>
              </a:rPr>
              <a:t>escreva</a:t>
            </a:r>
            <a:r>
              <a:rPr sz="2000" b="0" i="0" dirty="0">
                <a:solidFill>
                  <a:srgbClr val="FFFFFF"/>
                </a:solidFill>
              </a:rPr>
              <a:t> </a:t>
            </a:r>
            <a:r>
              <a:rPr sz="2000" b="0" i="0" dirty="0" err="1">
                <a:solidFill>
                  <a:srgbClr val="FFFFFF"/>
                </a:solidFill>
              </a:rPr>
              <a:t>em</a:t>
            </a:r>
            <a:r>
              <a:rPr sz="2000" b="0" i="0" dirty="0">
                <a:solidFill>
                  <a:srgbClr val="FFFFFF"/>
                </a:solidFill>
              </a:rPr>
              <a:t> </a:t>
            </a:r>
            <a:r>
              <a:rPr sz="2000" b="0" i="0" dirty="0" err="1">
                <a:solidFill>
                  <a:srgbClr val="FFFFFF"/>
                </a:solidFill>
              </a:rPr>
              <a:t>português</a:t>
            </a:r>
            <a:r>
              <a:rPr sz="2000" b="0" i="0" dirty="0">
                <a:solidFill>
                  <a:srgbClr val="FFFFFF"/>
                </a:solidFill>
              </a:rPr>
              <a:t>, </a:t>
            </a:r>
            <a:r>
              <a:rPr sz="2000" b="0" i="0" dirty="0" err="1">
                <a:solidFill>
                  <a:srgbClr val="FFFFFF"/>
                </a:solidFill>
              </a:rPr>
              <a:t>traduza</a:t>
            </a:r>
            <a:r>
              <a:rPr sz="2000" b="0" i="0" dirty="0">
                <a:solidFill>
                  <a:srgbClr val="FFFFFF"/>
                </a:solidFill>
              </a:rPr>
              <a:t>, </a:t>
            </a:r>
            <a:r>
              <a:rPr sz="2000" b="0" i="0" dirty="0" err="1">
                <a:solidFill>
                  <a:srgbClr val="FFFFFF"/>
                </a:solidFill>
              </a:rPr>
              <a:t>edite</a:t>
            </a:r>
            <a:r>
              <a:rPr sz="2000" b="0" i="0" dirty="0">
                <a:solidFill>
                  <a:srgbClr val="FFFFFF"/>
                </a:solidFill>
              </a:rPr>
              <a:t> </a:t>
            </a:r>
            <a:r>
              <a:rPr sz="2000" b="0" i="0" dirty="0" err="1">
                <a:solidFill>
                  <a:srgbClr val="FFFFFF"/>
                </a:solidFill>
              </a:rPr>
              <a:t>uma</a:t>
            </a:r>
            <a:r>
              <a:rPr sz="2000" b="0" i="0" dirty="0">
                <a:solidFill>
                  <a:srgbClr val="FFFFFF"/>
                </a:solidFill>
              </a:rPr>
              <a:t> </a:t>
            </a:r>
            <a:r>
              <a:rPr lang="pt-BR" sz="2000" dirty="0">
                <a:solidFill>
                  <a:srgbClr val="FFFFFF"/>
                </a:solidFill>
              </a:rPr>
              <a:t>palavra</a:t>
            </a:r>
            <a:r>
              <a:rPr sz="2000" b="0" i="0" dirty="0">
                <a:solidFill>
                  <a:srgbClr val="FFFFFF"/>
                </a:solidFill>
              </a:rPr>
              <a:t>, </a:t>
            </a:r>
            <a:r>
              <a:rPr sz="2000" b="0" i="0" dirty="0" err="1">
                <a:solidFill>
                  <a:srgbClr val="FFFFFF"/>
                </a:solidFill>
              </a:rPr>
              <a:t>coloque</a:t>
            </a:r>
            <a:r>
              <a:rPr sz="2000" b="0" i="0" dirty="0">
                <a:solidFill>
                  <a:srgbClr val="FFFFFF"/>
                </a:solidFill>
              </a:rPr>
              <a:t> ☞ </a:t>
            </a:r>
            <a:r>
              <a:rPr sz="2000" b="0" i="0" dirty="0" err="1">
                <a:solidFill>
                  <a:srgbClr val="FFFFFF"/>
                </a:solidFill>
              </a:rPr>
              <a:t>colocação</a:t>
            </a:r>
            <a:r>
              <a:rPr sz="2000" b="0" i="0" dirty="0">
                <a:solidFill>
                  <a:srgbClr val="FFFFFF"/>
                </a:solidFill>
              </a:rPr>
              <a:t> no verso.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526280"/>
            <a:ext cx="1371600" cy="1325880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365760" y="4937760"/>
            <a:ext cx="137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1E2E"/>
                </a:solidFill>
              </a:rPr>
              <a:t>Tier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95780" y="4526280"/>
            <a:ext cx="10058400" cy="13258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1920240" y="4709160"/>
            <a:ext cx="9784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Leia completo, sublinhe o que não sabe, use frase do dicionário, defina em inglês, ☞ colocação, tradução da frase no verso.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1FAECA7-1046-CAB4-45E7-004689174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1887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9C742"/>
                </a:solidFill>
              </a:rPr>
              <a:t>Dúvidas?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2468880"/>
            <a:ext cx="73152" cy="292608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10789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Dúvidas sobre o tier:  fale com o professor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3035808"/>
            <a:ext cx="73152" cy="292608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777240" y="2944368"/>
            <a:ext cx="10789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Dúvidas sobre o StudyAmigo:  login, criar baralho → fale com o professor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3602736"/>
            <a:ext cx="73152" cy="292608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777240" y="3511296"/>
            <a:ext cx="10789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Dúvidas sobre o método de cartão:  este documento + exemplos dos slides anteriores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069080"/>
            <a:ext cx="8229600" cy="36576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579120" y="5002881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C742"/>
                </a:solidFill>
              </a:rPr>
              <a:t>Prazo de E02: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8040" y="5002881"/>
            <a:ext cx="777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Abril 2026  (data exata confirmada pelo professor)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Documento gerado em Março 2026 · StudyAmigo / E02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65B1AD8-0E18-926A-2156-72F63FE3E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3235</Words>
  <Application>Microsoft Macintosh PowerPoint</Application>
  <PresentationFormat>Custom</PresentationFormat>
  <Paragraphs>490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Aptos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Ewerton Madruga</cp:lastModifiedBy>
  <cp:revision>18</cp:revision>
  <dcterms:created xsi:type="dcterms:W3CDTF">2013-01-27T09:14:16Z</dcterms:created>
  <dcterms:modified xsi:type="dcterms:W3CDTF">2026-03-29T22:28:56Z</dcterms:modified>
  <cp:category/>
</cp:coreProperties>
</file>