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e MIGHT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4206240" cy="59436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70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8600" y="1764792"/>
            <a:ext cx="42062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6E2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0512"/>
            <a:ext cx="3977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(~70% de chance)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 formal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Expressar desejos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Especular sobre o passado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20624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70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MIGHT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709160" y="1764792"/>
            <a:ext cx="420624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10512"/>
            <a:ext cx="39776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(~40% de chance)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menor do que MAY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usado para permissão ou desejos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Especular sobre o passado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28600" y="4041648"/>
            <a:ext cx="86868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4041648"/>
            <a:ext cx="6080760" cy="256032"/>
          </a:xfrm>
          <a:prstGeom prst="rect">
            <a:avLst/>
          </a:prstGeom>
          <a:solidFill>
            <a:srgbClr val="6E2F8A">
              <a:alpha val="60000"/>
            </a:srgbClr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4041648"/>
            <a:ext cx="3474720" cy="256032"/>
          </a:xfrm>
          <a:prstGeom prst="rect">
            <a:avLst/>
          </a:prstGeom>
          <a:solidFill>
            <a:srgbClr val="1A5276">
              <a:alpha val="6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4334256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                 MIGHT (~40%)                  MAY (~70%)                  100%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599432"/>
            <a:ext cx="8686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59943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na prática cotidiana MAY e MIGHT são frequentemente intercambiáveis para possibilidade.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— Usos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88720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may rain later, so take an umbrella."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permissão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may have another cookie if you like."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450592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permissão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"May I borrow your pen, please?"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450592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Expressar desejos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"May the New Year bring you happiness."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12464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Especular sobre o passado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may have missed her plane."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712464"/>
            <a:ext cx="4297680" cy="329184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 formal (escrita/oficial)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"Visitors may not enter after 10 p.m."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— Exemplos do Cotidiano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91440" cy="173736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Diária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may be late tonight — traffic is bad.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 use your phone for a moment?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91440" cy="1737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&amp; Farmácia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said I may have an allergy.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feel a little dizzy after this medication.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&amp; Supermercado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product may be out of stock by the weekend.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 try this on?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Esportes &amp; Lazer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rain during the match.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may not play today — she twisted her ankle.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MIGHT — Usos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88720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(menos certa)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might rain tomorrow. (~40% de chance)"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81728" y="1188720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188720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88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menor do que MAY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91456" y="155448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might go to the gym later — not sure yet."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450592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Especular sobre o passado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might have missed her plane."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450592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educada (informal)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81635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might want to try the other size."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712464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para desejos ou permissão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"✗  "Might I come in?"  →  Use: "May I come in?""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1728" y="3712464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3712464"/>
            <a:ext cx="429768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7124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+ have + V₃  (passado)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91456" y="407822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might have taken the wrong bus."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MIGHT — Exemplos do Cotidiano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91440" cy="1737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Diária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might go to the gym after class — I'm not sure yet.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might have forgotten to set his alarm.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234440"/>
            <a:ext cx="91440" cy="173736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34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&amp; Farmácia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56362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might need to see a specialist.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might have caught a cold at the game.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54680"/>
            <a:ext cx="91440" cy="17373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&amp; Supermercado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might go up next week.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might buy that jacket if it goes on sale.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09160" y="3154680"/>
            <a:ext cx="4297680" cy="1737360"/>
          </a:xfrm>
          <a:prstGeom prst="rect">
            <a:avLst/>
          </a:prstGeom>
          <a:solidFill>
            <a:srgbClr val="FAFAF7"/>
          </a:solidFill>
          <a:ln w="12700">
            <a:solidFill>
              <a:srgbClr val="DD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54680"/>
            <a:ext cx="91440" cy="173736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Esportes &amp; Lazer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483864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might win the championship this year.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might not be fit enough to play on Saturday.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vs. MIGHT — Principais Diferenças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8778240" cy="3794760"/>
        </p:xfrm>
        <a:graphic>
          <a:graphicData uri="http://schemas.openxmlformats.org/drawingml/2006/table">
            <a:tbl>
              <a:tblPr/>
              <a:tblGrid>
                <a:gridCol w="2377440"/>
                <a:gridCol w="32004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Situação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 (maior)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may rain. (~70%)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 não usado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 (menor)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 não usado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It might rain. (~40%)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Dar permissão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You may sit down.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 não usado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Pedir permissão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May I come in?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 não usado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Expressar desejos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May you be happy!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 não usado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Especulação no passado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She may have left early.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She might have left early.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— MAY / MIGHT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 frases com MAY ou MIGHT: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" y="1636776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6367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I try on these shoes in a size 40?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0" y="1655064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655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" y="2212848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221284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176272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_______ snow tonight — the forecast shows only 30% chance.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40880" y="2231136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2311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1168" y="2788920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8892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2752344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_______ have already bought all the vegetables on the list.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40880" y="2807208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" y="3364992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36499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32841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your team win the tournament!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01168" y="3941064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94106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904488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_______ be at the gym right now — I'm not sure.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040880" y="3959352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959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01168" y="4517136"/>
            <a:ext cx="347472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451713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48056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pharmacy _______ be closed on Sundays.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040880" y="4535424"/>
            <a:ext cx="182880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4535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(respostas visíveis — cobrir antes da aula)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Aprendemos — Parte 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8778240" cy="3291840"/>
        </p:xfrm>
        <a:graphic>
          <a:graphicData uri="http://schemas.openxmlformats.org/drawingml/2006/table">
            <a:tbl>
              <a:tblPr/>
              <a:tblGrid>
                <a:gridCol w="1371600"/>
                <a:gridCol w="466344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Usos principais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Certeza / Força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CAN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(presente), permissão informal, possibilidade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Neutro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COULD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Habilidade (passado), pedido educado, condicional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Baixa–Média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 (~70%), permissão formal, desejos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Média–Alta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</a:rPr>
                        <a:t>MIGHT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Possibilidade (~40%), especulação no passado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1A2E"/>
                          </a:solidFill>
                        </a:rPr>
                        <a:t>Baixa–Média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82880" y="4572000"/>
            <a:ext cx="877824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SHALL, SHOULD, OUGHT TO, MUST — e verbos modais na voz passiva.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 + HAVE + Particípio Passado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859536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 +  </a:t>
            </a:r>
            <a:pPr algn="ctr" indent="0" marL="0">
              <a:buNone/>
            </a:pPr>
            <a:r>
              <a:rPr lang="en-US" sz="2200" b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particípio passado (</a:t>
            </a:r>
            <a:pPr algn="ctr" indent="0" marL="0">
              <a:buNone/>
            </a:pPr>
            <a:r>
              <a:rPr lang="en-US" sz="2200" b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V₃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para especular ou comentar sobre eventos NO PASSADO.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59152"/>
            <a:ext cx="164592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9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indent="0" marL="0">
              <a:buNone/>
            </a:pPr>
            <a:r>
              <a:rPr lang="en-US" sz="1700" b="1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 </a:t>
            </a:r>
            <a:pPr indent="0" marL="0">
              <a:buNone/>
            </a:pPr>
            <a:r>
              <a:rPr lang="en-US" sz="1700" b="1" i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</a:t>
            </a:r>
            <a:pPr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wrong bus.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4320" y="316382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163824"/>
            <a:ext cx="164592" cy="658368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6382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indent="0" marL="0">
              <a:buNone/>
            </a:pPr>
            <a:r>
              <a:rPr lang="en-US" sz="1700" b="1" i="1" dirty="0">
                <a:solidFill>
                  <a:srgbClr val="6E2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have </a:t>
            </a:r>
            <a:pPr indent="0" marL="0">
              <a:buNone/>
            </a:pPr>
            <a:r>
              <a:rPr lang="en-US" sz="1700" b="1" i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</a:t>
            </a:r>
            <a:pPr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 wallet at the supermarket.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74320" y="396849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968496"/>
            <a:ext cx="164592" cy="65836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684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indent="0" marL="0">
              <a:buNone/>
            </a:pPr>
            <a:r>
              <a:rPr lang="en-US" sz="1700" b="1" i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have </a:t>
            </a:r>
            <a:pPr indent="0" marL="0">
              <a:buNone/>
            </a:pPr>
            <a:r>
              <a:rPr lang="en-US" sz="1700" b="1" i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pPr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medicine at home.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0040" y="481888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verbo principal é sempre o PARTICÍPIO PASSADO (V₃).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Erros Comuns — Parte 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8778240" cy="379476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34747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❌ Errado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✅ Correto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She cans swim.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She can swim.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Sem -s na 3ª pessoa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I can to drive.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I can drive.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Sem "to" após modal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Can she swims?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Can she swim?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Infinitivo em perguntas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He could go yesterday.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He could have gone yesterday.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Passado = modal + have + V₃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May I to try this on?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May I try this on?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Sem "to" após modal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Mista — CAN / COULD / MAY / MIGHT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8503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melhor verbo modal para cada frase: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572768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572768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1572768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591056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you pass me the salt, please?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" y="2011680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011680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/ Can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1728" y="1572768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572768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10912" y="1572768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591056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_______ go to the match on Saturday — it depends on work.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10912" y="2011680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2011680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" y="2377440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377440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" y="2377440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395728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_______ run 5 km when she was training every day.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0352" y="2816352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816352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81728" y="2377440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2377440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10912" y="2377440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2395728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_______ have eaten something bad at the restaurant.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10912" y="2816352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2816352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1168" y="3182112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" y="3182112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0352" y="3182112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200400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_______ park here — it's a no-parking zone.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30352" y="3621024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3621024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/ can't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81728" y="3182112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3182112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10912" y="3182112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3200400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 I try a sample before buying?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10912" y="3621024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02352" y="3621024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Can / Could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01168" y="3986784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" y="3986784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30352" y="3986784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005072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a car, I _______ drive you to the pharmacy.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30352" y="4425696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" y="4425696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81728" y="3986784"/>
            <a:ext cx="329184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3986784"/>
            <a:ext cx="329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010912" y="3986784"/>
            <a:ext cx="3986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02352" y="4005072"/>
            <a:ext cx="3813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supermarket _______ be open until midnight on Fridays.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010912" y="4425696"/>
            <a:ext cx="3986784" cy="219456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02352" y="4425696"/>
            <a:ext cx="3895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 / could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Vamos Conversar — Atividade em Duplas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com um colega. Use verbos modais nas respostas!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600200"/>
            <a:ext cx="4572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6002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04088" y="1600200"/>
            <a:ext cx="822960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60020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do now that you COULDN'T do when you were a child?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01168" y="2404872"/>
            <a:ext cx="457200" cy="658368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24048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04088" y="2404872"/>
            <a:ext cx="822960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6E2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404872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MIGHT you go this weekend? Are you sure?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01168" y="3209544"/>
            <a:ext cx="457200" cy="65836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32095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04088" y="3209544"/>
            <a:ext cx="822960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209544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students use their phones during class at your school?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01168" y="4014216"/>
            <a:ext cx="457200" cy="65836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401421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" y="4014216"/>
            <a:ext cx="822960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7D66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014216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feel a little sick after lunch. What COULD you have eaten?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01168" y="4818888"/>
            <a:ext cx="8732520" cy="20116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4818888"/>
            <a:ext cx="8549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do professor: a última pergunta é um gancho para SHOULD/MUST na Aula 2!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Pontos-Chave — Parte 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2788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70432"/>
            <a:ext cx="27889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481328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modais nunca mudam de forma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-s, sem -ed, sem "to" após eles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4408" y="1170432"/>
            <a:ext cx="2788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2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1170432"/>
            <a:ext cx="278892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4136" y="1481328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+ verbo base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sentido presente / futuro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788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E2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1170432"/>
            <a:ext cx="2788920" cy="27432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481328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+ HAVE + V₃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ao passado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" y="2496312"/>
            <a:ext cx="2788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2496312"/>
            <a:ext cx="2788920" cy="27432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2807208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= habilidade presente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= passado / educado / condicional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64408" y="2496312"/>
            <a:ext cx="2788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7D660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4408" y="2496312"/>
            <a:ext cx="2788920" cy="27432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2807208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(~70%) vs. MIGHT (~40%)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expressam possibilidade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44768" y="2496312"/>
            <a:ext cx="2788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7D3C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2496312"/>
            <a:ext cx="2788920" cy="274320"/>
          </a:xfrm>
          <a:prstGeom prst="rect">
            <a:avLst/>
          </a:prstGeom>
          <a:solidFill>
            <a:srgbClr val="7D3C00"/>
          </a:solidFill>
          <a:ln w="12700">
            <a:solidFill>
              <a:srgbClr val="7D3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2807208"/>
            <a:ext cx="2606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MAY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permissão e desejos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3822192"/>
            <a:ext cx="91440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82219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SHALL / SHOULD / OUGHT TO / MUST + Voz Passiva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382219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Dúvidas? / Obrigado!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2026-06-06T15:11:47Z</dcterms:created>
  <dcterms:modified xsi:type="dcterms:W3CDTF">2026-06-06T15:11:47Z</dcterms:modified>
</cp:coreProperties>
</file>