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Parte 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Obrigação, Conselho e Voz Passiva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 hoje?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rápida: CAN, COULD, MAY, MIGHT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modais: SHALL, SHOULD, OUGHT TO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 HAVE TO — obrigação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vs. DON'T HAVE TO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na voz passiva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geral e prática final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 Rápida — Parte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 oral — responda sem olhar para as anotações!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0876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2704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Qual modal expressa habilidade no presente?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2704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2140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 é mais formal/educado: CAN ou COULD?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2140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269748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1576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Qual tem mais chance de acontecer: MAY ou MIGHT?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69748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71576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MAY (~70%)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329184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31012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Pode-se usar MIGHT para dar permissão?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329184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1012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 — só MAY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" y="388620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90448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Complete: "She _______ have left her bag at the supermarket."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3640" y="388620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0448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may / might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SHALL, SHOULD e OUGHT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27432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/ pouco frequente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ofertas e sugestões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(especialmente em perguntas)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D5F0E0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764792"/>
            <a:ext cx="2743200" cy="365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 / muito comum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1012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Conselho, recomendação,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expectativa, previsão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0DFA0"/>
          </a:solidFill>
          <a:ln w="25400">
            <a:solidFill>
              <a:srgbClr val="A07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26480" y="1764792"/>
            <a:ext cx="2743200" cy="36576"/>
          </a:xfrm>
          <a:prstGeom prst="rect">
            <a:avLst/>
          </a:prstGeom>
          <a:solidFill>
            <a:srgbClr val="A07828"/>
          </a:solidFill>
          <a:ln w="12700">
            <a:solidFill>
              <a:srgbClr val="A07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/ menos frequente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3620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SHOULD (mesmo significado)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comum em textos escritos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01168" y="47548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uso cotidiano em ESL, o foco prático é SHOULD — SHALL e OUGHT TO aparecem mais em textos formais e contratos.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87168" y="1170432"/>
            <a:ext cx="6400800" cy="566928"/>
          </a:xfrm>
          <a:prstGeom prst="rect">
            <a:avLst/>
          </a:prstGeom>
          <a:solidFill>
            <a:srgbClr val="D4E6F1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70432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I get a pizza for dinner tonight?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828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/ Voluntariar-se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7168" y="1828800"/>
            <a:ext cx="6400800" cy="566928"/>
          </a:xfrm>
          <a:prstGeom prst="rect">
            <a:avLst/>
          </a:prstGeom>
          <a:solidFill>
            <a:srgbClr val="DCE8F0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82880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bag looks heavy. Shall I carry it for you?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1168" y="2487168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4871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87168" y="2487168"/>
            <a:ext cx="6400800" cy="566928"/>
          </a:xfrm>
          <a:prstGeom prst="rect">
            <a:avLst/>
          </a:prstGeom>
          <a:solidFill>
            <a:srgbClr val="E4EEF8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48716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shall I do with your mail when it arrives?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01168" y="3145536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14553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87168" y="3145536"/>
            <a:ext cx="6400800" cy="566928"/>
          </a:xfrm>
          <a:prstGeom prst="rect">
            <a:avLst/>
          </a:prstGeom>
          <a:solidFill>
            <a:srgbClr val="D4E6F1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145536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shall be the first person to know.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01168" y="3803904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80390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87168" y="3803904"/>
            <a:ext cx="6400800" cy="566928"/>
          </a:xfrm>
          <a:prstGeom prst="rect">
            <a:avLst/>
          </a:prstGeom>
          <a:solidFill>
            <a:srgbClr val="DCE8F0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8039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shall meet you there at 7.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SHALL pode ser substituído: Sugestão → SHOULD  |  Oferta → CAN / COULD  |  Promessa → WILL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— Notas e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82296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SHALL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comum no inglês cotidiano moderno. </a:t>
            </a:r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conversas, prefira SHOULD ou WILL.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encontrado em: fala formal, documentos, contratos, cardápios e regulamentos.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cotidiano: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" y="2514600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14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entre amigos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we go to the park after lunch?"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" y="3264408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26440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no supermercado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I carry your groceries?"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" y="4014216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1421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 planos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I book us a table for Saturday?"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/ Sugestão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1170432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170432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get a haircut.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773936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7739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provável (presente)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2928" y="1773936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77393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should be at home right now.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377440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37744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(futuro)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52928" y="2377440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2377440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win tonight.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2980944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98094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have + V₃ (passado)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52928" y="2980944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980944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have given your boss the report yesterday.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584448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58444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be + V-ing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852928" y="3584448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3584448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wearing your seatbelt.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" y="4187952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41879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= aconselhar NÃO fazer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52928" y="4187952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4187952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shouldn't skip breakfast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78308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Rotina Diária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sleep at least 8 hours a night."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shouldn't skip breakfast."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97680" cy="1783080"/>
          </a:xfrm>
          <a:prstGeom prst="rect">
            <a:avLst/>
          </a:prstGeom>
          <a:solidFill>
            <a:srgbClr val="FCE4EC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Saúde &amp; Farmácia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see a doctor if the pain continues."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have taken the medicine before eating."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3108960"/>
            <a:ext cx="4297680" cy="1783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Compras &amp; Supermercado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compare prices before buying."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should have more staff at the checkout."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97680" cy="1783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Esportes &amp; Lazer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should train harder if he wants to make the team."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shouldn't run without warming up first."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685800"/>
          </a:xfrm>
          <a:prstGeom prst="rect">
            <a:avLst/>
          </a:prstGeom>
          <a:solidFill>
            <a:srgbClr val="F0DFA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OUGHT TO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 substituir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alterar o significado — soa mais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é menos frequente na fala.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" y="2331720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31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drink more water.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2331720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331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ought to drink more water.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3081528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0815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visit your grandparents more often.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3081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15968" y="3081528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30815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ought to visit your grandparents more often.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1168" y="3831336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83133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have called the doctor sooner.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3133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15968" y="3831336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38313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ought to have called the doctor sooner.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1168" y="4754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Negativa: "ought not to" (raro) — na prática, prefira SHOULDN'T.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/ SHOULD / OUGHT TO — Comparação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70432"/>
          <a:ext cx="8814816" cy="338328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560320"/>
                <a:gridCol w="296265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 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Formal / datado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Ofertas e sugestões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(especialmente perguntas)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Shall I carry your bags?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Neutro / comum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Conselho, expectativa,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previsão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You should eat more fruit.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OUGHT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Formal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Obrigação moral,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conselho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You ought to call your doctor.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46634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Para o ESL cotidiano, o foco prático é SHOULD. SHALL e OUGHT TO aparecem mais em leitura de textos formais.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2026-06-06T15:18:05Z</dcterms:created>
  <dcterms:modified xsi:type="dcterms:W3CDTF">2026-06-06T15:18:05Z</dcterms:modified>
</cp:coreProperties>
</file>