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0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64592" cy="3108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132320" y="-365760"/>
            <a:ext cx="2011680" cy="2011680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82880" y="4114800"/>
            <a:ext cx="914400" cy="91440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10515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Verbs — Part 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Ability, Permission &amp; Possibility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Ewerton Madruga  |  Curso Técnico em Segurança Cibernética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will we learn today?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the 12 verb tenses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irregular verbs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modal verbs?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verbs: CAN, COULD, MAY, MIGHT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12 Verb Tenses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286566"/>
              </p:ext>
            </p:extLst>
          </p:nvPr>
        </p:nvGraphicFramePr>
        <p:xfrm>
          <a:off x="164592" y="1143000"/>
          <a:ext cx="8787384" cy="34747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Past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Present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Future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Simple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ate pizza yesterday.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V₂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eat pizza every day.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V₁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will eat pizza tomorrow.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will + V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Continuous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was eating pizza when you arrived.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was/were + V-ing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am eating pizza right now.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am/is/are + V-ing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will be eating when you arrive.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will be + V-ing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Perfect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had eaten all the pizza when you arrived.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had + V₃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have eaten all the pizza.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have/has + V₃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will have eaten all the pizza by then.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will have + V₃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Perfect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Continuous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had been eating pizza for 2 hours.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had been + V-ing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have been eating pizza for 2 hours.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have/has been + V-ing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will have been eating for 2 hours by then.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will have been + V-ing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64592" y="4864608"/>
            <a:ext cx="8814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Subject   V = Verb   (V₁ = infinitive / V₂ = simple past / V₃ = past participle)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Irregular Verbs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verbs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 the past and past participle by adding </a:t>
            </a: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-ed / -d</a:t>
            </a:r>
            <a:endParaRPr lang="en-US" sz="1900" dirty="0"/>
          </a:p>
          <a:p>
            <a:pPr marL="0" indent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play → played → played</a:t>
            </a:r>
            <a:endParaRPr lang="en-US" sz="1900" dirty="0"/>
          </a:p>
          <a:p>
            <a:pPr marL="0" indent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live → lived → lived</a:t>
            </a:r>
            <a:endParaRPr lang="en-US" sz="1900" dirty="0"/>
          </a:p>
          <a:p>
            <a:pPr marL="0" indent="0">
              <a:buNone/>
            </a:pPr>
            <a:r>
              <a:rPr lang="en-US" sz="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verbs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have their own unique forms — must be memorized</a:t>
            </a:r>
            <a:endParaRPr lang="en-US" sz="1900" dirty="0"/>
          </a:p>
          <a:p>
            <a:pPr marL="0" indent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write → wrote → written</a:t>
            </a:r>
            <a:endParaRPr lang="en-US" sz="1900" dirty="0"/>
          </a:p>
          <a:p>
            <a:pPr marL="0" indent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take → took → taken</a:t>
            </a:r>
            <a:endParaRPr lang="en-US" sz="1900" dirty="0"/>
          </a:p>
          <a:p>
            <a:pPr marL="0" indent="0">
              <a:buNone/>
            </a:pPr>
            <a:r>
              <a:rPr lang="en-US" sz="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forms: </a:t>
            </a:r>
            <a:r>
              <a:rPr lang="en-US" sz="19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V₁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(infinitive)   |   </a:t>
            </a:r>
            <a:r>
              <a:rPr lang="en-US" sz="19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(simple past)   |   </a:t>
            </a:r>
            <a:r>
              <a:rPr lang="en-US" sz="19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V₃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(past participle)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Irregular Verbs — Examples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121462"/>
              </p:ext>
            </p:extLst>
          </p:nvPr>
        </p:nvGraphicFramePr>
        <p:xfrm>
          <a:off x="822960" y="1156716"/>
          <a:ext cx="7498080" cy="378561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Infinitive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Simple Present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Simple Past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Past Participle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 drive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drive(s)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drove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driven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 eat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eat(s)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ate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eaten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 buy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buy(s)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bought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bought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 run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run(s)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ran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run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 swim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swim(s)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swam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swum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 feel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feel(s)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felt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felt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 take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take(s)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took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taken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 go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go(es)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went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gone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Irregular Verbs — Quick Check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table with the correct verb forms: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72768"/>
          <a:ext cx="7772400" cy="290779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Infinitive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Simple Past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Past Participle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go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eat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run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buy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feel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went / gone   |   ate / eaten   |   ran / run   |   bought / bought   |   felt / felt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Modal Verbs?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verbs give special meaning to the main verb.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express: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237744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37744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1920240"/>
            <a:ext cx="2377440" cy="475488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2377440" cy="47548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3280" y="2514600"/>
            <a:ext cx="2377440" cy="47548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46520" y="2514600"/>
            <a:ext cx="2377440" cy="47548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" y="31089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modal verbs: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0040" y="3456432"/>
            <a:ext cx="201168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/ COULD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23160" y="3456432"/>
            <a:ext cx="2011680" cy="64008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26280" y="3456432"/>
            <a:ext cx="2240280" cy="64008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4564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 / SHOULD / OUGHT TO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40880" y="3456432"/>
            <a:ext cx="2011680" cy="64008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Verbs — Grammar Rules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50292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70432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77240" y="1170432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7043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followed by the BASE FORM (no "to")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1554480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 go.  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 to go. / She can goes.   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" y="2432304"/>
            <a:ext cx="502920" cy="109728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432304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77240" y="2432304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43230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-s in the 3rd person singular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816352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must leave.  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musts leave.   ✗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" y="3694176"/>
            <a:ext cx="502920" cy="109728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94176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777240" y="3694176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694176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auxiliary for questions and negatives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4078224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help?  /  You must not enter.  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can help?   ✗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Build Sentences with Modals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70432"/>
            <a:ext cx="420624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Affirmative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1517904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554480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 +  modal  +  base verb  +  (complement)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2039112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should drink more water."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170432"/>
            <a:ext cx="42062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1517904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554480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 +  modal  +  NOT  +  base verb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27448" y="2039112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not eat before the blood test."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82880" y="2926080"/>
            <a:ext cx="4206240" cy="34747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926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" y="3273552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310128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  +  subject  +  base verb  +  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" y="379476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carry these bags for me?"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17720" y="2926080"/>
            <a:ext cx="4206240" cy="347472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926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modal (past)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3273552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3310128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66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  +  HAVE  +  past participle (V₃)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27448" y="379476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could have taken the wrong medicine."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Verbs at a Glance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43000"/>
          <a:ext cx="8778240" cy="379476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Main Function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CAN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Ability (present) / Permission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can swim very well.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COULD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Ability (past) / Polite request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could ride a bike as a child.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Possibility / Permission (formal)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may rain this afternoon.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Possibility (less certain)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might go to the gym later.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SHALL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Suggestion / Offer (formal)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Shall I open the window?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SHOULD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Advice / Recommendation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should see a doctor.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OUGHT 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Moral obligation (formal)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ought to call your parents.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MUST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Strong obligation / Deduction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must take this medicine.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Aula 1 focus (gold rows)   |   Aula 2 content (light rows)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and COULD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420624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70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28600" y="1764792"/>
            <a:ext cx="42062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10512"/>
            <a:ext cx="39776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or possibility in the PRESENT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permission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and offers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206240" cy="59436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70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709160" y="1764792"/>
            <a:ext cx="42062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6E2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10512"/>
            <a:ext cx="39776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in the PAST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polite form of CAN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Possibility (less certain)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of CAN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8600" y="4462272"/>
            <a:ext cx="8686800" cy="45720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4622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is also the conditional of CAN:  "If we had oranges, I could make juice."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— Uses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88720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ability (present)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 speak English."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188720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permission (informal)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145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borrow your pen, please?"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450592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request something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help me, please?"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172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450592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can get very cold there at night."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12464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to help someone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carry your bags for you?"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8172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3712464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(can't) = not allowed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9145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cannot smoke in this room."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— Everyday Examples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91440" cy="1737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Routine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wake up early on weekdays.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borrow your charger?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34440"/>
            <a:ext cx="91440" cy="173736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Pharmacy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get this medicine without a prescription?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can't eat gluten.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54680"/>
            <a:ext cx="91440" cy="17373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&amp; Supermarket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pay by card?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get two for the price of one today.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54680"/>
            <a:ext cx="91440" cy="173736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Leisure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can run 10 km without stopping.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use your hands in football.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— Uses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88720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ability in the past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could play the piano when I was younger."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188720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permission (more polite)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145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I use your bathroom, please?"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450592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request something (polite)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you pass me the salt, please?"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172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450592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Possibility in the past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could have broken your leg."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12464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could go to the movies if you like."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8172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3712464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of CAN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9145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we had oranges, I could make you juice."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— Everyday Examples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91440" cy="1737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Routine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could ride a bike when I was five.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turn off the lights, please?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34440"/>
            <a:ext cx="91440" cy="173736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Pharmacy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could have taken the wrong pill — he wasn't paying attention.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 schedule an appointment for tomorrow?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54680"/>
            <a:ext cx="91440" cy="17373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&amp; Supermarket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show me a smaller size?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had it in stock, I could buy it today.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54680"/>
            <a:ext cx="91440" cy="173736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Leisure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could swim faster when she trained every day.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win if everyone plays their best.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vs. COULD — What's the Difference?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70432"/>
          <a:ext cx="8778240" cy="3840480"/>
        </p:xfrm>
        <a:graphic>
          <a:graphicData uri="http://schemas.openxmlformats.org/drawingml/2006/table">
            <a:tbl>
              <a:tblPr/>
              <a:tblGrid>
                <a:gridCol w="2286000"/>
                <a:gridCol w="3246120"/>
                <a:gridCol w="3246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Situation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F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Ability (present)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can cook pasta.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Ability (past)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could cook pasta as a kid.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Permission (informal)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Can I leave early today?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Permission (polite)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Could I leave early today?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can happen anytime.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could happen. (less certain)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Conditional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If I had flour, I could make bread.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— CAN / COULD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blanks with CAN, CAN'T, COULD or COULD HAVE: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" y="1636776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6367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you carry this box for me? It's too heavy.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40880" y="1655064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6550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/ Could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" y="2212848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221284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176272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_______ run very fast when she was in high school.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40880" y="2231136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2311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1168" y="2788920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78892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2752344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_______ smoke inside the pharmacy.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40880" y="2807208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807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/ cannot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" y="3364992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36499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328416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you have left your wallet at the supermarket?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01168" y="3941064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394106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904488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had more time, we _______ visit the whole market.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040880" y="3959352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959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01168" y="4517136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451713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48056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_______ eat spicy food — it makes him feel sick.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040880" y="4535424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45354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(answers shown — cover before class)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483</Words>
  <Application>Microsoft Macintosh PowerPoint</Application>
  <PresentationFormat>On-screen Show (16:9)</PresentationFormat>
  <Paragraphs>117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Ewerton Madruga</cp:lastModifiedBy>
  <cp:revision>2</cp:revision>
  <dcterms:created xsi:type="dcterms:W3CDTF">2026-06-05T22:34:10Z</dcterms:created>
  <dcterms:modified xsi:type="dcterms:W3CDTF">2026-06-05T22:41:33Z</dcterms:modified>
</cp:coreProperties>
</file>