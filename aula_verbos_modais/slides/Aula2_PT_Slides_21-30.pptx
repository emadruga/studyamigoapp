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Modais na Voz Passiva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86868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7043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Sujeito  +  </a:t>
            </a:r>
            <a:pPr algn="ctr" indent="0" marL="0">
              <a:buNone/>
            </a:pPr>
            <a:r>
              <a:rPr lang="en-US" sz="20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pPr algn="ctr" indent="0" marL="0">
              <a:buNone/>
            </a:pPr>
            <a:r>
              <a:rPr lang="en-US" sz="20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V₃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(particípio passado)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1168" y="1993392"/>
            <a:ext cx="685800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99339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 must be filled in before your appointment.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04888" y="1993392"/>
            <a:ext cx="1783080" cy="621792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0608" y="199339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+ be + V₃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724912"/>
            <a:ext cx="685800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72491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might be cancelled due to rain.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04888" y="2724912"/>
            <a:ext cx="1783080" cy="621792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272491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 + be + V₃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3456432"/>
            <a:ext cx="685800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45643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fruit should be kept in the refrigerator.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04888" y="3456432"/>
            <a:ext cx="1783080" cy="621792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345643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+ be + V₃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4187952"/>
            <a:ext cx="685800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418795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medicine could have been taken incorrectly.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04888" y="4187952"/>
            <a:ext cx="1783080" cy="621792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187952"/>
            <a:ext cx="1691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+ have been + V₃ (passado passivo)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usar a Voz Passiva com Modais?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a voz passiva para focar na </a:t>
            </a:r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ou no objeto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não em quem a realiza.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comum em: instruções, regras, avisos, embalagens e etiquetas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1993392"/>
            <a:ext cx="22860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993392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Bula de remédio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32888" y="1993392"/>
            <a:ext cx="640080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1993392"/>
            <a:ext cx="6217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medicine must be taken with food."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" y="2706624"/>
            <a:ext cx="22860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706624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Aviso no supermercado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32888" y="2706624"/>
            <a:ext cx="640080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706624"/>
            <a:ext cx="6217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"Trolleys should be returned after use."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3419856"/>
            <a:ext cx="22860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419856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Placa na loja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32888" y="3419856"/>
            <a:ext cx="640080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3419856"/>
            <a:ext cx="6217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"Pets cannot be brought into the store."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" y="4133088"/>
            <a:ext cx="2286000" cy="60350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4133088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Regulamento esportivo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32888" y="4133088"/>
            <a:ext cx="640080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A0D8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4133088"/>
            <a:ext cx="6217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"Shin guards must be worn during all matches."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1168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(quem faz a ação) é desconhecido, óbvio ou irrelevante.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Voz Passiva com Modais — Exemplos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70432"/>
          <a:ext cx="8869680" cy="3730752"/>
        </p:xfrm>
        <a:graphic>
          <a:graphicData uri="http://schemas.openxmlformats.org/drawingml/2006/table">
            <a:tbl>
              <a:tblPr/>
              <a:tblGrid>
                <a:gridCol w="1097280"/>
                <a:gridCol w="374904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Voz Ativa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Voz Passiva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MUST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You must refrigerate this product.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This product must be refrigerated.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SHOULD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They should wash the vegetables.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 vegetables should be washed.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CAN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Anyone can use this entrance.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This entrance can be used by anyone.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COULD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They could have cancelled the game.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 game could have been cancelled.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MAY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Someone may have taken the wrong bag.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The wrong bag may have been taken.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</a:rPr>
                        <a:t>MIGHT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A customer might have left it here.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1A1A2E"/>
                          </a:solidFill>
                        </a:rPr>
                        <a:t>It might have been left by a customer.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Erros Comuns — Passiva com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88720"/>
          <a:ext cx="8814816" cy="283464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314553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</a:rPr>
                        <a:t>❌ Errado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3A"/>
                          </a:solidFill>
                        </a:rPr>
                        <a:t>✅ Correto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C0392B"/>
                          </a:solidFill>
                        </a:rPr>
                        <a:t>It must be refrigerate.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7A3A"/>
                          </a:solidFill>
                        </a:rPr>
                        <a:t>It must be refrigerated.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V₃ (particípio), não infinitivo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C0392B"/>
                          </a:solidFill>
                        </a:rPr>
                        <a:t>It should been washed.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7A3A"/>
                          </a:solidFill>
                        </a:rPr>
                        <a:t>It should be washed.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modal + BE + V₃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C0392B"/>
                          </a:solidFill>
                        </a:rPr>
                        <a:t>It could been taken.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1A7A3A"/>
                          </a:solidFill>
                        </a:rPr>
                        <a:t>It could have been taken.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</a:rPr>
                        <a:t>Passado passivo: modal + have + been + V₃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64592" y="4160520"/>
            <a:ext cx="8814816" cy="77724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4160520"/>
            <a:ext cx="8631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Estruturas-chave: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Presente passivo: modal + BE + V₃
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Passado passivo: modal + HAVE BEEN + V₃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— Voz Passiva com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na voz passiva: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72768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7276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must sign this form.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85232" y="157276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87568" y="1572768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57276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 must be signed.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01168" y="2231136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23113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Someone might have moved my bag.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85232" y="223113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87568" y="2231136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23113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bag might have been moved.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01168" y="2889504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88950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They should serve the soup hot.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85232" y="288950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87568" y="2889504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889504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soup should be served hot.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1168" y="3547872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54787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Customers can return the product within 30 days.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5232" y="354787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87568" y="3547872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547872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can be returned within 30 days.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01168" y="4206240"/>
            <a:ext cx="5029200" cy="566928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42062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 player could have broken the record.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85232" y="420624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87568" y="4206240"/>
            <a:ext cx="3200400" cy="566928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420624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could have been broken.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Resumo Completo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70432"/>
          <a:ext cx="8869680" cy="3730752"/>
        </p:xfrm>
        <a:graphic>
          <a:graphicData uri="http://schemas.openxmlformats.org/drawingml/2006/table">
            <a:tbl>
              <a:tblPr/>
              <a:tblGrid>
                <a:gridCol w="1325880"/>
                <a:gridCol w="2926080"/>
                <a:gridCol w="1554480"/>
                <a:gridCol w="30632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Função Principal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Certeza / Força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Habilidade (presente) / Permissão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Neutro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I can swim.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COULD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Habilidade (passado) / Educado / Cond.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Baixo–Médio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I could cook as a child.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Possibilidade / Permissão (formal)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~70%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It may rain later.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0D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MIGHT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Possibilidade (menos certa)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~40%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I might go to the gym.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SHALL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Oferta / Sugestão (formal)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Neutro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Shall we go?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SHOULD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Conselho / Expectativa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Médio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You should see a doctor.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OUGHT 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Obrigação moral / Conselho (formal)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Médio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You ought to call her.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MUST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Obrigação forte / Dedução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Alto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1A1A2E"/>
                          </a:solidFill>
                        </a:rPr>
                        <a:t>You must rest today.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Confunda Estes Pares!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170432"/>
            <a:ext cx="2103120" cy="1719072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MUSTN'T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PROIBIDO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" y="1956816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mustn't smoke here."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21992" y="1170432"/>
            <a:ext cx="384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04872" y="1170432"/>
            <a:ext cx="2103120" cy="1719072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HAVE 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78024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NÃO OBRIGATÓRIO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78024" y="1956816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don't have to buy anything."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81728" y="1170432"/>
            <a:ext cx="2103120" cy="1719072"/>
          </a:xfrm>
          <a:prstGeom prst="rect">
            <a:avLst/>
          </a:prstGeom>
          <a:solidFill>
            <a:srgbClr val="FFF3CD"/>
          </a:solidFill>
          <a:ln w="25400">
            <a:solidFill>
              <a:srgbClr val="E0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do falante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956816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must try this cake!"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39128" y="1170432"/>
            <a:ext cx="384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22008" y="1170432"/>
            <a:ext cx="2103120" cy="1719072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17043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1572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externa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1956816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to be at work at 8."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" y="3108960"/>
            <a:ext cx="2103120" cy="1719072"/>
          </a:xfrm>
          <a:prstGeom prst="rect">
            <a:avLst/>
          </a:prstGeom>
          <a:solidFill>
            <a:srgbClr val="E0F0D8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7744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de chance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" y="3895344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may rain."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21992" y="3108960"/>
            <a:ext cx="384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404872" y="3108960"/>
            <a:ext cx="2103120" cy="1719072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78024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478024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de chance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78024" y="3895344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might rain."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1728" y="3108960"/>
            <a:ext cx="2103120" cy="1719072"/>
          </a:xfrm>
          <a:prstGeom prst="rect">
            <a:avLst/>
          </a:prstGeom>
          <a:solidFill>
            <a:srgbClr val="E0F0D8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presente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3895344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run 5 km."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39128" y="3108960"/>
            <a:ext cx="384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922008" y="3108960"/>
            <a:ext cx="2103120" cy="1719072"/>
          </a:xfrm>
          <a:prstGeom prst="rect">
            <a:avLst/>
          </a:prstGeom>
          <a:solidFill>
            <a:srgbClr val="DCE8F0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3108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95160" y="351129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 passada / educado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95160" y="3895344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could run faster last year."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Prática Final — Todos os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modal correto: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" y="1536192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5361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_______ eat in the changing room. It's not allowed.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1536192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536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" y="1984248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9842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She _______ play the guitar when she was 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6208" y="1984248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984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1168" y="2432304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43230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_______ I try this jacket on, please?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6208" y="2432304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24323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Can / Could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1168" y="2880360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880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supermarket _______ be closed — it's a holiday today.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6208" y="2880360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/ might / could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01168" y="3328416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3284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You _______ bring your gym bag; they provide towels there.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36208" y="3328416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32841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to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01168" y="3776472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7764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All visitors _______ sign in at the reception desk.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36208" y="3776472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37764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have to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01168" y="4224528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422452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He _______ have eaten something bad — he feels terrible.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36208" y="4224528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4224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/ may / might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01168" y="4672584"/>
            <a:ext cx="5943600" cy="365760"/>
          </a:xfrm>
          <a:prstGeom prst="rect">
            <a:avLst/>
          </a:prstGeom>
          <a:solidFill>
            <a:srgbClr val="E8EEF8"/>
          </a:solidFill>
          <a:ln w="12700">
            <a:solidFill>
              <a:srgbClr val="C8D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467258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Medicines _______ be kept out of reach of children.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36208" y="4672584"/>
            <a:ext cx="2651760" cy="365760"/>
          </a:xfrm>
          <a:prstGeom prst="rect">
            <a:avLst/>
          </a:prstGeom>
          <a:solidFill>
            <a:srgbClr val="F0DFA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81928" y="46725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/ should be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Falar! — Atividade Final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duplas ou pequenos grupos — use verbos modais nas respostas: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01168" y="1554480"/>
            <a:ext cx="4279392" cy="1581912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554480"/>
            <a:ext cx="411480" cy="1581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554480"/>
            <a:ext cx="411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" y="1664208"/>
            <a:ext cx="3730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toda pessoa MUST fazer para ter saúde?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ela DON'T HAVE TO fazer?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81728" y="1554480"/>
            <a:ext cx="4279392" cy="1581912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554480"/>
            <a:ext cx="411480" cy="1581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554480"/>
            <a:ext cx="411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57216" y="1664208"/>
            <a:ext cx="3730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bom colega de equipe SHOULD fazer?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SHOULDN'T fazer?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" y="3291840"/>
            <a:ext cx="4279392" cy="1581912"/>
          </a:xfrm>
          <a:prstGeom prst="rect">
            <a:avLst/>
          </a:prstGeom>
          <a:solidFill>
            <a:srgbClr val="D4E6F1"/>
          </a:solidFill>
          <a:ln w="25400">
            <a:solidFill>
              <a:srgbClr val="2471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" y="3291840"/>
            <a:ext cx="411480" cy="15819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3291840"/>
            <a:ext cx="411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" y="3401568"/>
            <a:ext cx="3730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chega ao supermercado e seu produto favorito sumiu.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COULD HAVE happened?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81728" y="3291840"/>
            <a:ext cx="4279392" cy="1581912"/>
          </a:xfrm>
          <a:prstGeom prst="rect">
            <a:avLst/>
          </a:prstGeom>
          <a:solidFill>
            <a:srgbClr val="F0DFA0"/>
          </a:solidFill>
          <a:ln w="25400">
            <a:solidFill>
              <a:srgbClr val="A078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1728" y="3291840"/>
            <a:ext cx="411480" cy="1581912"/>
          </a:xfrm>
          <a:prstGeom prst="rect">
            <a:avLst/>
          </a:prstGeom>
          <a:solidFill>
            <a:srgbClr val="A07828"/>
          </a:solidFill>
          <a:ln w="12700">
            <a:solidFill>
              <a:srgbClr val="A07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291840"/>
            <a:ext cx="411480" cy="1581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57216" y="3401568"/>
            <a:ext cx="37307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we make a list of rules for our classroom?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on it?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Pontos-Chave — Verbos Modais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170432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1704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" y="1499616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NUNCA mudam de forma — sem -s, sem -ed, sem 'to' depois deles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1170432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1704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499616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verbo base → significado presente / futuro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08192" y="1170432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1170432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117043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1499616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HAVE + V₃ → referência ao passado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1168" y="2487168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248716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487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" y="2816352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BE + V₃ → voz passiva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54680" y="2487168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248716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487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⏮️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46120" y="2816352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HAVE BEEN + V₃ → passado passivo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08192" y="2487168"/>
            <a:ext cx="27889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8192" y="2487168"/>
            <a:ext cx="2788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24871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99632" y="2816352"/>
            <a:ext cx="26060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MUST/HAVE TO | MUSTN'T/DON'T HAVE TO | MAY/MIGHT | CAN/COULD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374904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37490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DFA0"/>
                </a:solidFill>
              </a:rPr>
              <a:t>Obrigado! </a:t>
            </a:r>
            <a:pPr algn="ctr" indent="0" marL="0">
              <a:buNone/>
            </a:pPr>
            <a:r>
              <a:rPr lang="en-US" sz="1700" dirty="0">
                <a:solidFill>
                  <a:srgbClr val="C9A84C"/>
                </a:solidFill>
              </a:rPr>
              <a:t>  |  </a:t>
            </a:r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Dúvidas?</a:t>
            </a:r>
            <a:pPr algn="ctr" indent="0" marL="0">
              <a:buNone/>
            </a:pPr>
            <a:r>
              <a:rPr lang="en-US" sz="1700" dirty="0">
                <a:solidFill>
                  <a:srgbClr val="C9A84C"/>
                </a:solidFill>
              </a:rPr>
              <a:t>  |  </a:t>
            </a:r>
            <a:pPr algn="ctr" indent="0" marL="0">
              <a:buNone/>
            </a:pPr>
            <a:r>
              <a:rPr lang="en-US" sz="1400" i="1" dirty="0">
                <a:solidFill>
                  <a:srgbClr val="AABBCC"/>
                </a:solidFill>
              </a:rPr>
              <a:t>Próxima aula: Review + Speaking Practice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2026-06-06T15:24:48Z</dcterms:created>
  <dcterms:modified xsi:type="dcterms:W3CDTF">2026-06-06T15:24:48Z</dcterms:modified>
</cp:coreProperties>
</file>