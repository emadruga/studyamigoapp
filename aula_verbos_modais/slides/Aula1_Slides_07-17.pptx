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Modal Verbs?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verbs give special meaning to the main verb.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express: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237744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37744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1920240"/>
            <a:ext cx="2377440" cy="475488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2377440" cy="47548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3280" y="2514600"/>
            <a:ext cx="2377440" cy="47548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46520" y="2514600"/>
            <a:ext cx="2377440" cy="47548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modal verbs: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0040" y="3456432"/>
            <a:ext cx="201168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COULD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23160" y="3456432"/>
            <a:ext cx="2011680" cy="64008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26280" y="3456432"/>
            <a:ext cx="2240280" cy="64008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4564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/ SHOULD / OUGHT TO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40880" y="3456432"/>
            <a:ext cx="2011680" cy="64008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Verbs — Grammar Rules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50292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70432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1170432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7043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followed by the BASE FORM (no "to")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1554480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 go.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 to go. / She can goes.   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" y="2432304"/>
            <a:ext cx="502920" cy="109728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432304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77240" y="2432304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43230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-s in the 3rd person singular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816352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must leave.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musts leave.   ✗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" y="3694176"/>
            <a:ext cx="502920" cy="109728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94176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77240" y="3694176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9417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auxiliary for questions and negatives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078224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help?  /  You must not enter.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can help?   ✗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Build Sentences with Modals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70432"/>
            <a:ext cx="420624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Affirmative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517904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55448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 +  modal  +  base verb  +  (complement)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2039112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should drink more water."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170432"/>
            <a:ext cx="4206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1517904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55448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 +  modal  +  NOT  +  base verb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27448" y="2039112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not eat before the blood test."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2880" y="2926080"/>
            <a:ext cx="4206240" cy="34747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926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" y="3273552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310128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  +  subject  +  base verb  +  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" y="379476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carry these bags for me?"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2926080"/>
            <a:ext cx="4206240" cy="347472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926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modal (past)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3273552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3310128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66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  +  HAVE  +  past participle (V₃)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27448" y="379476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could have taken the wrong medicine."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Verbs at a Glance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43000"/>
          <a:ext cx="8778240" cy="379476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Main Function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Ability (present) / Permission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can swim very well.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COULD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Ability (past) / Polite request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could ride a bike as a child.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Possibility / Permission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may rain this afternoon.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Possibility (less certain)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might go to the gym later.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SHALL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Suggestion / Offer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Shall I open the window?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SHOULD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Advice / Recommendation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should see a doctor.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OUGHT 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Moral obligation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ought to call your parents.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MUST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Strong obligation / Deduction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must take this medicine.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Aula 1 focus (gold rows)   |   Aula 2 content (light rows)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and COULD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420624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70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8600" y="1764792"/>
            <a:ext cx="42062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0512"/>
            <a:ext cx="39776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or possibility in the PRESENT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permission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and offers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206240" cy="59436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70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709160" y="1764792"/>
            <a:ext cx="42062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6E2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10512"/>
            <a:ext cx="39776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in the PAST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polite form of CAN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Possibility (less certain)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of CAN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8600" y="4462272"/>
            <a:ext cx="8686800" cy="45720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4622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is also the conditional of CAN:  "If we had oranges, I could make juice."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— Uses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88720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ability (present)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speak English."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permission (informal)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borrow your pen, please?"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450592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request something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help me, please?"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450592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can get very cold there at night."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12464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to help someone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carry your bags for you?"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712464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(can't) = not allowed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cannot smoke in this room."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— Everyday Examples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91440" cy="1737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wake up early on weekdays.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borrow your charger?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91440" cy="1737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Pharmacy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get this medicine without a prescription?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can't eat gluten.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&amp; Supermarket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pay by card?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get two for the price of one today.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Leisure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can run 10 km without stopping.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use your hands in football.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— Uses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88720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ability in the past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could play the piano when I was younger."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permission (more polite)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I use your bathroom, please?"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450592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request something (polite)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you pass me the salt, please?"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450592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Possibility in the past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could have broken your leg."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12464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could go to the movies if you like."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712464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of CAN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we had oranges, I could make you juice."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— Everyday Examples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91440" cy="1737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could ride a bike when I was five.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turn off the lights, please?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91440" cy="1737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Pharmacy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could have taken the wrong pill — he wasn't paying attention.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 schedule an appointment for tomorrow?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&amp; Supermarket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show me a smaller size?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had it in stock, I could buy it today.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Leisure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could swim faster when she trained every day.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win if everyone plays their best.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vs. COULD — What's the Difference?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8778240" cy="3840480"/>
        </p:xfrm>
        <a:graphic>
          <a:graphicData uri="http://schemas.openxmlformats.org/drawingml/2006/table">
            <a:tbl>
              <a:tblPr/>
              <a:tblGrid>
                <a:gridCol w="2286000"/>
                <a:gridCol w="3246120"/>
                <a:gridCol w="3246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F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Ability (present)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can cook pasta.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Ability (past)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could cook pasta as a kid.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Permission (informal)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Can I leave early today?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Permission (polite)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Could I leave early today?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can happen anytime.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could happen. (less certain)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Conditional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If I had flour, I could make bread.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— CAN / COULD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blanks with CAN, CAN'T, COULD or COULD HAVE: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" y="1636776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6367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you carry this box for me? It's too heavy.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0" y="1655064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655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Could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" y="2212848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221284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176272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_______ run very fast when she was in high school.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40880" y="2231136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2311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1168" y="2788920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8892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2752344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_______ smoke inside the pharmacy.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40880" y="2807208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/ cannot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3364992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36499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32841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you have left your wallet at the supermarket?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01168" y="3941064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94106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904488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had more time, we _______ visit the whole market.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040880" y="3959352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959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01168" y="4517136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451713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48056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_______ eat spicy food — it makes him feel sick.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040880" y="4535424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4535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(answers shown — cover before class)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2026-06-06T14:26:08Z</dcterms:created>
  <dcterms:modified xsi:type="dcterms:W3CDTF">2026-06-06T14:26:08Z</dcterms:modified>
</cp:coreProperties>
</file>