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SHOULD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88720"/>
          <a:ext cx="8814816" cy="352044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31455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You should to eat less sugar.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You should eat less sugar.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'to'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She shoulds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She should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-s na 3ª pessoa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I should went to the gym.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I should have gone to the gym.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Passado = should + have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You should have go.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You should have gone.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V₃ (particípio), não infinitivo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SHALL / SHOULD / OUGHT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o modal mais adequado: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7276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_______ drink more water — it's really hot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7276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72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/ ought 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1168" y="2139696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39696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 I carry those grocery bags for you?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139696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39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" y="2706624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06624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bus _______ arrive at 3:15 — it's usually on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706624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7066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01168" y="3273552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273552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She _______ have gone to the doctor sooner.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273552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735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/ ought to have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01168" y="3840480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840480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You _______ eat junk food every day — it's bad for your health.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840480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40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" y="440740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40740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Players _______ arrive at the stadium one hour before the game.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40740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4074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/ ought to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e HAVE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4206240" cy="3566160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344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👨‍⚕️  Médico → MUST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" y="1783080"/>
            <a:ext cx="4023360" cy="36576"/>
          </a:xfrm>
          <a:prstGeom prst="rect">
            <a:avLst/>
          </a:prstGeom>
          <a:solidFill>
            <a:srgbClr val="E09800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874520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imposta pelo próprio FALANTE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 / pessoal)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9260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rest for three days."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1728" y="1170432"/>
            <a:ext cx="4206240" cy="3566160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2344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🛌  Paciente → HAVE 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73168" y="1783080"/>
            <a:ext cx="4023360" cy="3657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874520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vinda de uma FONTE EXTERNA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(regras, leis, terceiros)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73168" y="29260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to rest for three days."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Na prática, a distinção é sutil — em contextos informais, MUST e HAVE TO são frequentemente intercambiáveis.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61488" y="1170432"/>
            <a:ext cx="612648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17043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wear a seatbelt when you drive.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1828800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8288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 (certeza)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61488" y="1828800"/>
            <a:ext cx="6126480" cy="566928"/>
          </a:xfrm>
          <a:prstGeom prst="rect">
            <a:avLst/>
          </a:prstGeom>
          <a:solidFill>
            <a:srgbClr val="FFF8DC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82880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that snow. It must be cold outside.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2487168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enfatizada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61488" y="2487168"/>
            <a:ext cx="612648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248716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must have light and water to grow.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" y="3145536"/>
            <a:ext cx="24688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31455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forte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61488" y="3145536"/>
            <a:ext cx="6126480" cy="566928"/>
          </a:xfrm>
          <a:prstGeom prst="rect">
            <a:avLst/>
          </a:prstGeom>
          <a:solidFill>
            <a:srgbClr val="FFF8DC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314553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must get together for dinner soon.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803904"/>
            <a:ext cx="246888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8039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= Proibição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61488" y="3803904"/>
            <a:ext cx="6126480" cy="566928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380390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use your phone while driving.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" y="4526280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HAD TO substitui MUST no passado: "I had to pay the speeding ticket."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783080"/>
          </a:xfrm>
          <a:prstGeom prst="rect">
            <a:avLst/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Rotina Diária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must wake up at 6 a.m. tomorrow — I have an early class."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try this recipe!"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97680" cy="1783080"/>
          </a:xfrm>
          <a:prstGeom prst="rect">
            <a:avLst/>
          </a:prstGeom>
          <a:solidFill>
            <a:srgbClr val="FCE4EC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6187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Saúde &amp; Farmácia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66420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take this medicine twice a day."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228600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must be exhausted — she worked all night."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3108960"/>
            <a:ext cx="4297680" cy="1783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Compras &amp; Supermercado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keep your receipt to get a refund."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bread must be fresh — it smells amazing."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297680" cy="1783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8211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Esportes &amp; Lazer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84448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"Players must wear shin guards during the match."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4206240"/>
            <a:ext cx="4078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trains every day — he must really love football."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vs. HAVE TO — Diferença Principal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4023360" cy="2560320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" y="1737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sentida ou imposta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FALANTE (interna)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must call my mother."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(sinto que devo)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926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try this dish!"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(recomendação forte minha)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70432"/>
            <a:ext cx="4297680" cy="2560320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704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vinda de uma fonte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 (regras, leis, terceiros)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to be at work by 8 a.m."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(regra da empresa)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to show ID to enter."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(exigência externa)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" y="3858768"/>
            <a:ext cx="8686800" cy="6858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858768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perguntas,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mais natural: "Do you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on Saturdays?" (NÃO: "Must you work on Saturdays?")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 vs. DON'T HAVE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4069080" cy="342900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" y="1783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PROIBIDO — não é permitido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2212848"/>
            <a:ext cx="3886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not drink that."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É proibido.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mustn't tell John."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Você não tem permissão.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206240" cy="34290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7043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SEM OBRIGAÇÃO — opcional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212848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to drink that."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Pode beber se quiser, mas não é obrigatório.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to tell John."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É opcional.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4690872"/>
            <a:ext cx="868680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46908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Este é um dos erros mais comuns de alunos de ESL — MUSTN'T ≠ DON'T HAVE TO!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 vs. DON'T HAVE TO —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170432"/>
            <a:ext cx="141732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" y="1170432"/>
            <a:ext cx="14173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1704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27632" y="1170432"/>
            <a:ext cx="35661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7632" y="1170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(proibição)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9512" y="1170432"/>
            <a:ext cx="36576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 (opcional)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1627632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627632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Rotina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27632" y="1627632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1627632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be late for the exam.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39512" y="1627632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627632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wear a uniform on weekends.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4592" y="2423160"/>
            <a:ext cx="1417320" cy="70408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23160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Saúde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632" y="2423160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19072" y="2423160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drink alcohol while taking this medication.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39512" y="2423160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0952" y="2423160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fast before this test — only before blood work.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64592" y="3218688"/>
            <a:ext cx="1417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3218688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Compras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27632" y="3218688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3218688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mustn't open the package before paying.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39512" y="3218688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0952" y="3218688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bring a bag — we have free ones here.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64592" y="4014216"/>
            <a:ext cx="1417320" cy="70408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4014216"/>
            <a:ext cx="134416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Esportes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27632" y="4014216"/>
            <a:ext cx="3566160" cy="704088"/>
          </a:xfrm>
          <a:prstGeom prst="rect">
            <a:avLst/>
          </a:prstGeom>
          <a:solidFill>
            <a:srgbClr val="FDE8E8"/>
          </a:solidFill>
          <a:ln w="12700">
            <a:solidFill>
              <a:srgbClr val="E8C0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19072" y="401421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mustn't argue with the referee.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39512" y="4014216"/>
            <a:ext cx="3657600" cy="704088"/>
          </a:xfrm>
          <a:prstGeom prst="rect">
            <a:avLst/>
          </a:prstGeom>
          <a:solidFill>
            <a:srgbClr val="E8F5E9"/>
          </a:solidFill>
          <a:ln w="12700">
            <a:solidFill>
              <a:srgbClr val="B0D8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0952" y="4014216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join the extra practice — it's optional.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MUST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88720"/>
          <a:ext cx="8814816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31455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She musts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She must rest.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-s na 3ª pessoa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I must to leave.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I must leave.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'to'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He must go yesterday.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He had to go yesterday.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Passado de MUST = HAD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C0392B"/>
                          </a:solidFill>
                        </a:rPr>
                        <a:t>You mustn't bring ID. (sentido: "opcional")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1A7A3A"/>
                          </a:solidFill>
                        </a:rPr>
                        <a:t>You don't have to bring ID.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MUSTN'T ≠ DON'T HAVE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MUST / HAVE TO / MUSTN'T / DON'T HAVE 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o modal mais adequado: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7276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_______ run on the pool deck — it's slippery and dangerous.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7276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72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1168" y="2139696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39696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You _______ bring a gift to the party — it's not expected.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139696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39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" y="2706624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706624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All passengers _______ show their ticket before boarding.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706624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7066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 / must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01168" y="3273552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273552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Look at that dark sky. It _______ be about to rain.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273552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735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01168" y="3840480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840480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She _______ take an extra class last semester — it wasn't required.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840480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40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have to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" y="4407408"/>
            <a:ext cx="6035040" cy="47548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40740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 _______ leave early yesterday because my daughter was sick.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407408"/>
            <a:ext cx="2560320" cy="47548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4074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2026-06-06T15:20:16Z</dcterms:created>
  <dcterms:modified xsi:type="dcterms:W3CDTF">2026-06-06T15:20:16Z</dcterms:modified>
</cp:coreProperties>
</file>