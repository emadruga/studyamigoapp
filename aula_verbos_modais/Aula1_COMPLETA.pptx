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243560"/>
          </a:solidFill>
          <a:ln w="12700">
            <a:solidFill>
              <a:srgbClr val="243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33172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005840"/>
            <a:ext cx="164592" cy="31089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-914400"/>
            <a:ext cx="3200400" cy="3200400"/>
          </a:xfrm>
          <a:prstGeom prst="ellipse">
            <a:avLst/>
          </a:prstGeom>
          <a:solidFill>
            <a:srgbClr val="C9A84C">
              <a:alpha val="12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-365760"/>
            <a:ext cx="2011680" cy="2011680"/>
          </a:xfrm>
          <a:prstGeom prst="ellipse">
            <a:avLst/>
          </a:prstGeom>
          <a:solidFill>
            <a:srgbClr val="C9A84C">
              <a:alpha val="18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4114800"/>
            <a:ext cx="914400" cy="914400"/>
          </a:xfrm>
          <a:prstGeom prst="ellipse">
            <a:avLst/>
          </a:prstGeom>
          <a:solidFill>
            <a:srgbClr val="C9A84C">
              <a:alpha val="15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05156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Verbos Modais — Parte 1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822960" y="24688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F0D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Habilidade, Permissão e Possibilidade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2296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Ewerton Madruga  |  Curso Técnico em Segurança Cibernética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vamos aprender hoje?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8872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Revisão: os 12 tempos verbais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Revisão: verbos irregulares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são verbos modais?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Verbos modais: CAN, COULD, MAY, MIGHT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Exercícios práticos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Os 12 Tempos Verbais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1143000"/>
          <a:ext cx="8814816" cy="3611880"/>
        </p:xfrm>
        <a:graphic>
          <a:graphicData uri="http://schemas.openxmlformats.org/drawingml/2006/table">
            <a:tbl>
              <a:tblPr/>
              <a:tblGrid>
                <a:gridCol w="1188720"/>
                <a:gridCol w="2532888"/>
                <a:gridCol w="2532888"/>
                <a:gridCol w="2532888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Passado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Presente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Futuro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Simples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F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000000"/>
                          </a:solidFill>
                        </a:rPr>
                        <a:t>I ate pizza yesterday.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455"/>
                          </a:solidFill>
                        </a:rPr>
                        <a:t>S + V₂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CC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000000"/>
                          </a:solidFill>
                        </a:rPr>
                        <a:t>I eat pizza every day.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455"/>
                          </a:solidFill>
                        </a:rPr>
                        <a:t>S + V₁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000000"/>
                          </a:solidFill>
                        </a:rPr>
                        <a:t>I will eat pizza tomorrow.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455"/>
                          </a:solidFill>
                        </a:rPr>
                        <a:t>S + will + V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Contínuo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F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000000"/>
                          </a:solidFill>
                        </a:rPr>
                        <a:t>I was eating pizza when you arrived.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455"/>
                          </a:solidFill>
                        </a:rPr>
                        <a:t>S + was/were + V-ing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CC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000000"/>
                          </a:solidFill>
                        </a:rPr>
                        <a:t>I am eating pizza right now.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455"/>
                          </a:solidFill>
                        </a:rPr>
                        <a:t>S + am/is/are + V-ing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000000"/>
                          </a:solidFill>
                        </a:rPr>
                        <a:t>I will be eating when you arrive.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455"/>
                          </a:solidFill>
                        </a:rPr>
                        <a:t>S + will be + V-ing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Perfeito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F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000000"/>
                          </a:solidFill>
                        </a:rPr>
                        <a:t>I had eaten all the pizza when you arrived.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455"/>
                          </a:solidFill>
                        </a:rPr>
                        <a:t>S + had + V₃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CC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000000"/>
                          </a:solidFill>
                        </a:rPr>
                        <a:t>I have eaten all the pizza.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455"/>
                          </a:solidFill>
                        </a:rPr>
                        <a:t>S + have/has + V₃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000000"/>
                          </a:solidFill>
                        </a:rPr>
                        <a:t>I will have eaten all the pizza by then.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455"/>
                          </a:solidFill>
                        </a:rPr>
                        <a:t>S + will have + V₃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Perfeito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Contínuo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F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000000"/>
                          </a:solidFill>
                        </a:rPr>
                        <a:t>I had been eating pizza for 2 hours.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455"/>
                          </a:solidFill>
                        </a:rPr>
                        <a:t>S + had been + V-ing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CC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000000"/>
                          </a:solidFill>
                        </a:rPr>
                        <a:t>I have been eating pizza for 2 hours.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455"/>
                          </a:solidFill>
                        </a:rPr>
                        <a:t>S + have/has been + V-ing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000000"/>
                          </a:solidFill>
                        </a:rPr>
                        <a:t>I will have been eating for 2 hours by then.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455"/>
                          </a:solidFill>
                        </a:rPr>
                        <a:t>S + will have been + V-ing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164592" y="4864608"/>
            <a:ext cx="88148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Sujeito   V = Verbo   (V₁ = infinitivo / V₂ = passado simples / V₃ = particípio passado)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Verbos Irregulares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43000"/>
            <a:ext cx="8321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Verbos regulares</a:t>
            </a:r>
            <a:pPr indent="0" marL="0">
              <a:buNone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formam o passado e o particípio adicionando </a:t>
            </a:r>
            <a:pPr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-ed / -d</a:t>
            </a:r>
            <a:endParaRPr lang="en-US" sz="1900" dirty="0"/>
          </a:p>
          <a:p>
            <a:pPr indent="0" marL="0">
              <a:buNone/>
            </a:pPr>
            <a:r>
              <a:rPr lang="en-US" sz="1900" i="1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– play → played → played</a:t>
            </a:r>
            <a:endParaRPr lang="en-US" sz="1900" dirty="0"/>
          </a:p>
          <a:p>
            <a:pPr indent="0" marL="0">
              <a:buNone/>
            </a:pPr>
            <a:r>
              <a:rPr lang="en-US" sz="1900" i="1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– live → lived → lived</a:t>
            </a:r>
            <a:endParaRPr lang="en-US" sz="1900" dirty="0"/>
          </a:p>
          <a:p>
            <a:pPr indent="0" marL="0">
              <a:buNone/>
            </a:pPr>
            <a:r>
              <a:rPr lang="en-US" sz="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Verbos irregulares</a:t>
            </a:r>
            <a:pPr indent="0" marL="0">
              <a:buNone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têm formas próprias — precisam ser memorizados</a:t>
            </a:r>
            <a:endParaRPr lang="en-US" sz="1900" dirty="0"/>
          </a:p>
          <a:p>
            <a:pPr indent="0" marL="0">
              <a:buNone/>
            </a:pPr>
            <a:r>
              <a:rPr lang="en-US" sz="1900" i="1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– write → wrote → written</a:t>
            </a:r>
            <a:endParaRPr lang="en-US" sz="1900" dirty="0"/>
          </a:p>
          <a:p>
            <a:pPr indent="0" marL="0">
              <a:buNone/>
            </a:pPr>
            <a:r>
              <a:rPr lang="en-US" sz="1900" i="1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– take → took → taken</a:t>
            </a:r>
            <a:endParaRPr lang="en-US" sz="1900" dirty="0"/>
          </a:p>
          <a:p>
            <a:pPr indent="0" marL="0">
              <a:buNone/>
            </a:pPr>
            <a:r>
              <a:rPr lang="en-US" sz="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formas: </a:t>
            </a:r>
            <a:pPr indent="0" marL="0">
              <a:buNone/>
            </a:pPr>
            <a:r>
              <a:rPr lang="en-US" sz="1900" b="1" dirty="0">
                <a:solidFill>
                  <a:srgbClr val="A07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V₁</a:t>
            </a:r>
            <a:pPr indent="0" marL="0">
              <a:buNone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(infinitivo)   |   </a:t>
            </a:r>
            <a:pPr indent="0" marL="0">
              <a:buNone/>
            </a:pPr>
            <a:r>
              <a:rPr lang="en-US" sz="1900" b="1" dirty="0">
                <a:solidFill>
                  <a:srgbClr val="A07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V₂</a:t>
            </a:r>
            <a:pPr indent="0" marL="0">
              <a:buNone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(passado simples)   |   </a:t>
            </a:r>
            <a:pPr indent="0" marL="0">
              <a:buNone/>
            </a:pPr>
            <a:r>
              <a:rPr lang="en-US" sz="1900" b="1" dirty="0">
                <a:solidFill>
                  <a:srgbClr val="A07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V₃</a:t>
            </a:r>
            <a:pPr indent="0" marL="0">
              <a:buNone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(particípio passado)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Verbos Irregulares — Exemplos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1143000"/>
          <a:ext cx="8869680" cy="3840480"/>
        </p:xfrm>
        <a:graphic>
          <a:graphicData uri="http://schemas.openxmlformats.org/drawingml/2006/table">
            <a:tbl>
              <a:tblPr/>
              <a:tblGrid>
                <a:gridCol w="1737360"/>
                <a:gridCol w="1920240"/>
                <a:gridCol w="1920240"/>
                <a:gridCol w="192024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Infinitivo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Presente Simples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Passado Simples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Particípio Passado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782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to drive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drive(s)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drove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driven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to eat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eat(s)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ate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eaten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to buy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buy(s)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bought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bought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to run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run(s)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ran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run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to swim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swim(s)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swam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swum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to feel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feel(s)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felt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felt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to take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take(s)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took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taken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to go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go(es)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went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gone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Verbos Irregulares — Verificação Rápida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70432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 tabela com as formas corretas do verbo:</a:t>
            </a:r>
            <a:endParaRPr lang="en-US" sz="1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572768"/>
          <a:ext cx="7772400" cy="2926080"/>
        </p:xfrm>
        <a:graphic>
          <a:graphicData uri="http://schemas.openxmlformats.org/drawingml/2006/table">
            <a:tbl>
              <a:tblPr/>
              <a:tblGrid>
                <a:gridCol w="2103120"/>
                <a:gridCol w="2834640"/>
                <a:gridCol w="283464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Infinitivo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Passado Simples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7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Particípio Passado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782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</a:rPr>
                        <a:t>to go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999977"/>
                          </a:solidFill>
                        </a:rPr>
                        <a:t>___________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999977"/>
                          </a:solidFill>
                        </a:rPr>
                        <a:t>___________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</a:rPr>
                        <a:t>to eat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999977"/>
                          </a:solidFill>
                        </a:rPr>
                        <a:t>___________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999977"/>
                          </a:solidFill>
                        </a:rPr>
                        <a:t>___________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</a:rPr>
                        <a:t>to run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999977"/>
                          </a:solidFill>
                        </a:rPr>
                        <a:t>___________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999977"/>
                          </a:solidFill>
                        </a:rPr>
                        <a:t>___________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</a:rPr>
                        <a:t>to buy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999977"/>
                          </a:solidFill>
                        </a:rPr>
                        <a:t>___________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999977"/>
                          </a:solidFill>
                        </a:rPr>
                        <a:t>___________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</a:rPr>
                        <a:t>to feel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999977"/>
                          </a:solidFill>
                        </a:rPr>
                        <a:t>___________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999977"/>
                          </a:solidFill>
                        </a:rPr>
                        <a:t>___________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Respostas: went / gone   |   ate / eaten   |   ran / run   |   bought / bought   |   felt / felt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são Verbos Modais?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70432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Verbos modais dão um significado especial ao verbo principal.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20040" y="1572768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Eles expressam: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0040" y="1920240"/>
            <a:ext cx="2377440" cy="47548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92024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383280" y="1920240"/>
            <a:ext cx="2377440" cy="47548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92024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Permissão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46520" y="1920240"/>
            <a:ext cx="2377440" cy="475488"/>
          </a:xfrm>
          <a:prstGeom prst="rect">
            <a:avLst/>
          </a:prstGeom>
          <a:solidFill>
            <a:srgbClr val="6E2F8A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192024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Possibilidade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20040" y="2514600"/>
            <a:ext cx="2377440" cy="475488"/>
          </a:xfrm>
          <a:prstGeom prst="rect">
            <a:avLst/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51460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Obrigação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383280" y="2514600"/>
            <a:ext cx="2377440" cy="475488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251460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Conselho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46520" y="2514600"/>
            <a:ext cx="2377440" cy="475488"/>
          </a:xfrm>
          <a:prstGeom prst="rect">
            <a:avLst/>
          </a:prstGeom>
          <a:solidFill>
            <a:srgbClr val="7D3C00"/>
          </a:solidFill>
          <a:ln w="12700">
            <a:solidFill>
              <a:srgbClr val="7D3C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251460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Dedução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20040" y="310896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principais verbos modais: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20040" y="3456432"/>
            <a:ext cx="2011680" cy="6400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45643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/ COULD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423160" y="3456432"/>
            <a:ext cx="2011680" cy="640080"/>
          </a:xfrm>
          <a:prstGeom prst="rect">
            <a:avLst/>
          </a:prstGeom>
          <a:solidFill>
            <a:srgbClr val="6E2F8A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23160" y="345643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/ MIGHT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26280" y="3456432"/>
            <a:ext cx="2240280" cy="640080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26280" y="345643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SHALL / SHOULD / OUGHT TO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040880" y="3456432"/>
            <a:ext cx="2011680" cy="640080"/>
          </a:xfrm>
          <a:prstGeom prst="rect">
            <a:avLst/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40880" y="345643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Verbos Modais — Regras Gramaticais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70432"/>
            <a:ext cx="502920" cy="10972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170432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777240" y="1170432"/>
            <a:ext cx="82296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1A527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170432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seguidos do INFINITIVO SEM "to"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1554480"/>
            <a:ext cx="7955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can go.   ✓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can to go. / She can goes.   ✗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28600" y="2432304"/>
            <a:ext cx="502920" cy="1097280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" y="2432304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777240" y="2432304"/>
            <a:ext cx="82296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1A7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432304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-s na 3ª pessoa do singular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2816352"/>
            <a:ext cx="7955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must leave.   ✓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musts leave.   ✗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28600" y="3694176"/>
            <a:ext cx="502920" cy="1097280"/>
          </a:xfrm>
          <a:prstGeom prst="rect">
            <a:avLst/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3694176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777240" y="3694176"/>
            <a:ext cx="82296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7D660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694176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auxiliar para perguntas e negativas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14400" y="4078224"/>
            <a:ext cx="7955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help?  /  You must not enter.   ✓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can help?   ✗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Construir Frases com Verbos Modais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1170432"/>
            <a:ext cx="4206240" cy="34747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11704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Afirmativa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82880" y="1517904"/>
            <a:ext cx="4206240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1554480"/>
            <a:ext cx="40050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2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Sujeito  +  modal  +  verbo base  +  (complemento)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2608" y="2039112"/>
            <a:ext cx="40050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"She should drink more water."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17720" y="1170432"/>
            <a:ext cx="420624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11704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17720" y="1517904"/>
            <a:ext cx="4206240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27448" y="1554480"/>
            <a:ext cx="40050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Sujeito  +  modal  +  NOT  +  verbo base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27448" y="2039112"/>
            <a:ext cx="40050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must not eat before the blood test."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82880" y="2926080"/>
            <a:ext cx="4206240" cy="347472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" y="2926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82880" y="3273552"/>
            <a:ext cx="4206240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2608" y="3310128"/>
            <a:ext cx="40050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Modal  +  sujeito  +  verbo base  +  ?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92608" y="3794760"/>
            <a:ext cx="40050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 you carry these bags for me?"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617720" y="2926080"/>
            <a:ext cx="4206240" cy="347472"/>
          </a:xfrm>
          <a:prstGeom prst="rect">
            <a:avLst/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2926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Perfeito (passado)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17720" y="3273552"/>
            <a:ext cx="4206240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27448" y="3310128"/>
            <a:ext cx="40050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D66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modal  +  HAVE  +  particípio passado (V₃)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27448" y="3794760"/>
            <a:ext cx="40050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 could have taken the wrong medicine."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Verbos Modais — Visão Geral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143000"/>
          <a:ext cx="8778240" cy="3794760"/>
        </p:xfrm>
        <a:graphic>
          <a:graphicData uri="http://schemas.openxmlformats.org/drawingml/2006/table">
            <a:tbl>
              <a:tblPr/>
              <a:tblGrid>
                <a:gridCol w="1371600"/>
                <a:gridCol w="3200400"/>
                <a:gridCol w="42062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Modal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Função Principal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Exemplo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</a:rPr>
                        <a:t>CAN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Habilidade (presente) / Permissão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1A1A2E"/>
                          </a:solidFill>
                        </a:rPr>
                        <a:t>I can swim very well.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</a:rPr>
                        <a:t>COULD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Habilidade (passado) / Pedido educado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1A1A2E"/>
                          </a:solidFill>
                        </a:rPr>
                        <a:t>I could ride a bike as a child.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</a:rPr>
                        <a:t>MAY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Possibilidade / Permissão (formal)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1A1A2E"/>
                          </a:solidFill>
                        </a:rPr>
                        <a:t>It may rain this afternoon.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</a:rPr>
                        <a:t>MIGHT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Possibilidade (menos certa)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1A1A2E"/>
                          </a:solidFill>
                        </a:rPr>
                        <a:t>I might go to the gym later.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</a:rPr>
                        <a:t>SHALL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Sugestão / Oferta (formal)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1A1A2E"/>
                          </a:solidFill>
                        </a:rPr>
                        <a:t>Shall I open the window?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</a:rPr>
                        <a:t>SHOULD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Conselho / Recomendação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1A1A2E"/>
                          </a:solidFill>
                        </a:rPr>
                        <a:t>You should see a doctor.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</a:rPr>
                        <a:t>OUGHT TO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Obrigação moral (formal)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1A1A2E"/>
                          </a:solidFill>
                        </a:rPr>
                        <a:t>You ought to call your parents.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</a:rPr>
                        <a:t>MUST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Obrigação forte / Dedução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1A1A2E"/>
                          </a:solidFill>
                        </a:rPr>
                        <a:t>You must take this medicine.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182880" y="4864608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Foco da Aula 1 (linhas douradas)   |   Conteúdo da Aula 2 (linhas claras)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e COULD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70432"/>
            <a:ext cx="4206240" cy="5943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170432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228600" y="1764792"/>
            <a:ext cx="4206240" cy="2606040"/>
          </a:xfrm>
          <a:prstGeom prst="rect">
            <a:avLst/>
          </a:prstGeom>
          <a:solidFill>
            <a:srgbClr val="FFFFFF"/>
          </a:solidFill>
          <a:ln w="25400">
            <a:solidFill>
              <a:srgbClr val="1A527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810512"/>
            <a:ext cx="397764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 ou possibilidade NO PRESENTE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Permissão informal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e ofertas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709160" y="1170432"/>
            <a:ext cx="4206240" cy="594360"/>
          </a:xfrm>
          <a:prstGeom prst="rect">
            <a:avLst/>
          </a:prstGeom>
          <a:solidFill>
            <a:srgbClr val="6E2F8A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170432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COULD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4709160" y="1764792"/>
            <a:ext cx="4206240" cy="2606040"/>
          </a:xfrm>
          <a:prstGeom prst="rect">
            <a:avLst/>
          </a:prstGeom>
          <a:solidFill>
            <a:srgbClr val="FFFFFF"/>
          </a:solidFill>
          <a:ln w="25400">
            <a:solidFill>
              <a:srgbClr val="6E2F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810512"/>
            <a:ext cx="397764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 NO PASSADO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mais educada de CAN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Possibilidade (menos certa)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Condicional de CAN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28600" y="4462272"/>
            <a:ext cx="8686800" cy="457200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4462272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é também o condicional de CAN:  "If we had oranges, I could make juice."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— Usos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1188720"/>
            <a:ext cx="4297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" y="1188720"/>
            <a:ext cx="4297680" cy="32918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1188720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 geral (presente)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0896" y="1554480"/>
            <a:ext cx="41148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can speak English."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81728" y="1188720"/>
            <a:ext cx="4297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81728" y="1188720"/>
            <a:ext cx="4297680" cy="32918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3168" y="1188720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Pedir permissão (informal)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91456" y="1554480"/>
            <a:ext cx="41148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 I borrow your pen, please?"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01168" y="2450592"/>
            <a:ext cx="4297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1168" y="2450592"/>
            <a:ext cx="4297680" cy="32918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" y="2450592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Fazer um pedido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10896" y="2816352"/>
            <a:ext cx="41148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 you help me, please?"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81728" y="2450592"/>
            <a:ext cx="4297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81728" y="2450592"/>
            <a:ext cx="4297680" cy="32918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2450592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Possibilidade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91456" y="2816352"/>
            <a:ext cx="41148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"It can get very cold there at night."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01168" y="3712464"/>
            <a:ext cx="4297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1168" y="3712464"/>
            <a:ext cx="4297680" cy="32918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2608" y="3712464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Oferecer ajuda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10896" y="4078224"/>
            <a:ext cx="41148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 I carry your bags for you?"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681728" y="3712464"/>
            <a:ext cx="4297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81728" y="3712464"/>
            <a:ext cx="4297680" cy="32918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73168" y="3712464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(can't) = proibido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91456" y="4078224"/>
            <a:ext cx="41148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cannot smoke in this room."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— Exemplos do Cotidiano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234440"/>
            <a:ext cx="4297680" cy="1737360"/>
          </a:xfrm>
          <a:prstGeom prst="rect">
            <a:avLst/>
          </a:prstGeom>
          <a:solidFill>
            <a:srgbClr val="FAFAF7"/>
          </a:solidFill>
          <a:ln w="12700">
            <a:solidFill>
              <a:srgbClr val="DDDD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1234440"/>
            <a:ext cx="91440" cy="17373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1234440"/>
            <a:ext cx="4297680" cy="2926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123444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Rotina Diária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93192" y="1563624"/>
            <a:ext cx="4069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wake up early on weekdays.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 borrow your charger?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709160" y="1234440"/>
            <a:ext cx="4297680" cy="1737360"/>
          </a:xfrm>
          <a:prstGeom prst="rect">
            <a:avLst/>
          </a:prstGeom>
          <a:solidFill>
            <a:srgbClr val="FAFAF7"/>
          </a:solidFill>
          <a:ln w="12700">
            <a:solidFill>
              <a:srgbClr val="DDDD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1234440"/>
            <a:ext cx="91440" cy="1737360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1234440"/>
            <a:ext cx="4297680" cy="292608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23444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Saúde &amp; Farmácia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73752" y="1563624"/>
            <a:ext cx="4069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 get this medicine without a prescription?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can't eat gluten.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228600" y="3154680"/>
            <a:ext cx="4297680" cy="1737360"/>
          </a:xfrm>
          <a:prstGeom prst="rect">
            <a:avLst/>
          </a:prstGeom>
          <a:solidFill>
            <a:srgbClr val="FAFAF7"/>
          </a:solidFill>
          <a:ln w="12700">
            <a:solidFill>
              <a:srgbClr val="DDDD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" y="3154680"/>
            <a:ext cx="91440" cy="1737360"/>
          </a:xfrm>
          <a:prstGeom prst="rect">
            <a:avLst/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3154680"/>
            <a:ext cx="4297680" cy="292608"/>
          </a:xfrm>
          <a:prstGeom prst="rect">
            <a:avLst/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" y="315468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Compras &amp; Supermercado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93192" y="3483864"/>
            <a:ext cx="4069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 pay by card?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get two for the price of one today.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709160" y="3154680"/>
            <a:ext cx="4297680" cy="1737360"/>
          </a:xfrm>
          <a:prstGeom prst="rect">
            <a:avLst/>
          </a:prstGeom>
          <a:solidFill>
            <a:srgbClr val="FAFAF7"/>
          </a:solidFill>
          <a:ln w="12700">
            <a:solidFill>
              <a:srgbClr val="DDDD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9160" y="3154680"/>
            <a:ext cx="91440" cy="1737360"/>
          </a:xfrm>
          <a:prstGeom prst="rect">
            <a:avLst/>
          </a:prstGeom>
          <a:solidFill>
            <a:srgbClr val="7D3C00"/>
          </a:solidFill>
          <a:ln w="12700">
            <a:solidFill>
              <a:srgbClr val="7D3C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154680"/>
            <a:ext cx="4297680" cy="292608"/>
          </a:xfrm>
          <a:prstGeom prst="rect">
            <a:avLst/>
          </a:prstGeom>
          <a:solidFill>
            <a:srgbClr val="7D3C00"/>
          </a:solidFill>
          <a:ln w="12700">
            <a:solidFill>
              <a:srgbClr val="7D3C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315468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Esportes &amp; Lazer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73752" y="3483864"/>
            <a:ext cx="4069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can run 10 km without stopping.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use your hands in football.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COULD — Usos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1188720"/>
            <a:ext cx="4297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" y="1188720"/>
            <a:ext cx="4297680" cy="329184"/>
          </a:xfrm>
          <a:prstGeom prst="rect">
            <a:avLst/>
          </a:prstGeom>
          <a:solidFill>
            <a:srgbClr val="6E2F8A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1188720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 geral no passado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0896" y="1554480"/>
            <a:ext cx="41148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could play the piano when I was younger."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81728" y="1188720"/>
            <a:ext cx="4297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81728" y="1188720"/>
            <a:ext cx="4297680" cy="329184"/>
          </a:xfrm>
          <a:prstGeom prst="rect">
            <a:avLst/>
          </a:prstGeom>
          <a:solidFill>
            <a:srgbClr val="6E2F8A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3168" y="1188720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Pedir permissão (mais educado)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91456" y="1554480"/>
            <a:ext cx="41148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"Could I use your bathroom, please?"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01168" y="2450592"/>
            <a:ext cx="4297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1168" y="2450592"/>
            <a:ext cx="4297680" cy="329184"/>
          </a:xfrm>
          <a:prstGeom prst="rect">
            <a:avLst/>
          </a:prstGeom>
          <a:solidFill>
            <a:srgbClr val="6E2F8A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" y="2450592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Fazer um pedido (mais educado)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10896" y="2816352"/>
            <a:ext cx="41148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"Could you pass me the salt, please?"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81728" y="2450592"/>
            <a:ext cx="4297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81728" y="2450592"/>
            <a:ext cx="4297680" cy="329184"/>
          </a:xfrm>
          <a:prstGeom prst="rect">
            <a:avLst/>
          </a:prstGeom>
          <a:solidFill>
            <a:srgbClr val="6E2F8A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2450592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Possibilidade no passado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91456" y="2816352"/>
            <a:ext cx="41148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could have broken your leg."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01168" y="3712464"/>
            <a:ext cx="4297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1168" y="3712464"/>
            <a:ext cx="4297680" cy="329184"/>
          </a:xfrm>
          <a:prstGeom prst="rect">
            <a:avLst/>
          </a:prstGeom>
          <a:solidFill>
            <a:srgbClr val="6E2F8A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2608" y="3712464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Sugestão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10896" y="4078224"/>
            <a:ext cx="41148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could go to the movies if you like."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681728" y="3712464"/>
            <a:ext cx="4297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81728" y="3712464"/>
            <a:ext cx="4297680" cy="329184"/>
          </a:xfrm>
          <a:prstGeom prst="rect">
            <a:avLst/>
          </a:prstGeom>
          <a:solidFill>
            <a:srgbClr val="6E2F8A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73168" y="3712464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Condicional de CAN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91456" y="4078224"/>
            <a:ext cx="41148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we had oranges, I could make you juice."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COULD — Exemplos do Cotidiano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234440"/>
            <a:ext cx="4297680" cy="1737360"/>
          </a:xfrm>
          <a:prstGeom prst="rect">
            <a:avLst/>
          </a:prstGeom>
          <a:solidFill>
            <a:srgbClr val="FAFAF7"/>
          </a:solidFill>
          <a:ln w="12700">
            <a:solidFill>
              <a:srgbClr val="DDDD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1234440"/>
            <a:ext cx="91440" cy="17373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1234440"/>
            <a:ext cx="4297680" cy="2926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123444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Rotina Diária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93192" y="1563624"/>
            <a:ext cx="4069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could ride a bike when I was five.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you turn off the lights, please?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709160" y="1234440"/>
            <a:ext cx="4297680" cy="1737360"/>
          </a:xfrm>
          <a:prstGeom prst="rect">
            <a:avLst/>
          </a:prstGeom>
          <a:solidFill>
            <a:srgbClr val="FAFAF7"/>
          </a:solidFill>
          <a:ln w="12700">
            <a:solidFill>
              <a:srgbClr val="DDDD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1234440"/>
            <a:ext cx="91440" cy="1737360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1234440"/>
            <a:ext cx="4297680" cy="292608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23444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Saúde &amp; Farmácia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73752" y="1563624"/>
            <a:ext cx="4069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could have taken the wrong pill — he wasn't paying attention.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I schedule an appointment for tomorrow?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228600" y="3154680"/>
            <a:ext cx="4297680" cy="1737360"/>
          </a:xfrm>
          <a:prstGeom prst="rect">
            <a:avLst/>
          </a:prstGeom>
          <a:solidFill>
            <a:srgbClr val="FAFAF7"/>
          </a:solidFill>
          <a:ln w="12700">
            <a:solidFill>
              <a:srgbClr val="DDDD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" y="3154680"/>
            <a:ext cx="91440" cy="1737360"/>
          </a:xfrm>
          <a:prstGeom prst="rect">
            <a:avLst/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3154680"/>
            <a:ext cx="4297680" cy="292608"/>
          </a:xfrm>
          <a:prstGeom prst="rect">
            <a:avLst/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" y="315468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Compras &amp; Supermercado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93192" y="3483864"/>
            <a:ext cx="4069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you show me a smaller size?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they had it in stock, I could buy it today.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709160" y="3154680"/>
            <a:ext cx="4297680" cy="1737360"/>
          </a:xfrm>
          <a:prstGeom prst="rect">
            <a:avLst/>
          </a:prstGeom>
          <a:solidFill>
            <a:srgbClr val="FAFAF7"/>
          </a:solidFill>
          <a:ln w="12700">
            <a:solidFill>
              <a:srgbClr val="DDDD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9160" y="3154680"/>
            <a:ext cx="91440" cy="1737360"/>
          </a:xfrm>
          <a:prstGeom prst="rect">
            <a:avLst/>
          </a:prstGeom>
          <a:solidFill>
            <a:srgbClr val="7D3C00"/>
          </a:solidFill>
          <a:ln w="12700">
            <a:solidFill>
              <a:srgbClr val="7D3C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154680"/>
            <a:ext cx="4297680" cy="292608"/>
          </a:xfrm>
          <a:prstGeom prst="rect">
            <a:avLst/>
          </a:prstGeom>
          <a:solidFill>
            <a:srgbClr val="7D3C00"/>
          </a:solidFill>
          <a:ln w="12700">
            <a:solidFill>
              <a:srgbClr val="7D3C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315468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Esportes &amp; Lazer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73752" y="3483864"/>
            <a:ext cx="4069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could swim faster when she trained every day.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could win if everyone plays their best.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vs. COULD — Qual a Diferença?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170432"/>
          <a:ext cx="8778240" cy="3840480"/>
        </p:xfrm>
        <a:graphic>
          <a:graphicData uri="http://schemas.openxmlformats.org/drawingml/2006/table">
            <a:tbl>
              <a:tblPr/>
              <a:tblGrid>
                <a:gridCol w="2286000"/>
                <a:gridCol w="3246120"/>
                <a:gridCol w="32461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Situação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CAN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COULD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2F8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Habilidade (presente)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1A1A2E"/>
                          </a:solidFill>
                        </a:rPr>
                        <a:t>I can cook pasta.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55566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Habilidade (passado)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55566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1A1A2E"/>
                          </a:solidFill>
                        </a:rPr>
                        <a:t>I could cook pasta as a kid.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Permissão (informal)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1A1A2E"/>
                          </a:solidFill>
                        </a:rPr>
                        <a:t>Can I leave early today?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55566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Permissão (educado)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55566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1A1A2E"/>
                          </a:solidFill>
                        </a:rPr>
                        <a:t>Could I leave early today?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Possibilidade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1A1A2E"/>
                          </a:solidFill>
                        </a:rPr>
                        <a:t>It can happen anytime.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1A1A2E"/>
                          </a:solidFill>
                        </a:rPr>
                        <a:t>It could happen. (menos certo)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Condicional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55566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1A1A2E"/>
                          </a:solidFill>
                        </a:rPr>
                        <a:t>If I had flour, I could make bread.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Prática — CAN / COULD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8872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as frases com CAN, CAN'T, COULD ou COULD HAVE: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01168" y="1636776"/>
            <a:ext cx="347472" cy="40233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" y="1636776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600200"/>
            <a:ext cx="6309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 you carry this box for me? It's too heavy.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040880" y="1655064"/>
            <a:ext cx="1828800" cy="365760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165506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/ Could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01168" y="2212848"/>
            <a:ext cx="347472" cy="40233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1168" y="2212848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2176272"/>
            <a:ext cx="6309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_______ run very fast when she was in high school.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040880" y="2231136"/>
            <a:ext cx="1828800" cy="365760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0" y="223113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01168" y="2788920"/>
            <a:ext cx="347472" cy="40233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1168" y="2788920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2752344"/>
            <a:ext cx="6309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_______ smoke inside the pharmacy.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040880" y="2807208"/>
            <a:ext cx="1828800" cy="365760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0" y="28072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/ cannot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01168" y="3364992"/>
            <a:ext cx="347472" cy="40233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1168" y="3364992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3328416"/>
            <a:ext cx="6309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 you have left your wallet at the supermarket?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040880" y="3383280"/>
            <a:ext cx="1828800" cy="365760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40880" y="3383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01168" y="3941064"/>
            <a:ext cx="347472" cy="40233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1168" y="3941064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0080" y="3904488"/>
            <a:ext cx="6309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had more time, we _______ visit the whole market.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7040880" y="3959352"/>
            <a:ext cx="1828800" cy="365760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40880" y="39593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01168" y="4517136"/>
            <a:ext cx="347472" cy="40233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1168" y="4517136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40080" y="4480560"/>
            <a:ext cx="6309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_______ eat spicy food — it makes him feel sick.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7040880" y="4535424"/>
            <a:ext cx="1828800" cy="365760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40880" y="453542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20040" y="484632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(respostas visíveis — cobrir antes da aula)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MAY e MIGHT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70432"/>
            <a:ext cx="4206240" cy="594360"/>
          </a:xfrm>
          <a:prstGeom prst="rect">
            <a:avLst/>
          </a:prstGeom>
          <a:solidFill>
            <a:srgbClr val="6E2F8A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170432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MAY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228600" y="1764792"/>
            <a:ext cx="4206240" cy="2148840"/>
          </a:xfrm>
          <a:prstGeom prst="rect">
            <a:avLst/>
          </a:prstGeom>
          <a:solidFill>
            <a:srgbClr val="FFFFFF"/>
          </a:solidFill>
          <a:ln w="25400">
            <a:solidFill>
              <a:srgbClr val="6E2F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810512"/>
            <a:ext cx="397764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Possibilidade (~70% de chance)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Permissão formal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Expressar desejos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Especular sobre o passado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709160" y="1170432"/>
            <a:ext cx="4206240" cy="5943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170432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MIGHT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4709160" y="1764792"/>
            <a:ext cx="4206240" cy="2148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A527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810512"/>
            <a:ext cx="397764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Possibilidade (~40% de chance)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Chance menor do que MAY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usado para permissão ou desejos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Especular sobre o passado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28600" y="4041648"/>
            <a:ext cx="8686800" cy="256032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" y="4041648"/>
            <a:ext cx="6080760" cy="256032"/>
          </a:xfrm>
          <a:prstGeom prst="rect">
            <a:avLst/>
          </a:prstGeom>
          <a:solidFill>
            <a:srgbClr val="6E2F8A">
              <a:alpha val="60000"/>
            </a:srgbClr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4041648"/>
            <a:ext cx="3474720" cy="256032"/>
          </a:xfrm>
          <a:prstGeom prst="rect">
            <a:avLst/>
          </a:prstGeom>
          <a:solidFill>
            <a:srgbClr val="1A5276">
              <a:alpha val="60000"/>
            </a:srgbClr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4334256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                 MIGHT (~40%)                  MAY (~70%)                  100%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8600" y="4599432"/>
            <a:ext cx="8686800" cy="365760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4599432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Atenção: na prática cotidiana MAY e MIGHT são frequentemente intercambiáveis para possibilidade.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MAY — Usos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1188720"/>
            <a:ext cx="4297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" y="1188720"/>
            <a:ext cx="4297680" cy="329184"/>
          </a:xfrm>
          <a:prstGeom prst="rect">
            <a:avLst/>
          </a:prstGeom>
          <a:solidFill>
            <a:srgbClr val="6E2F8A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1188720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Possibilidade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0896" y="1554480"/>
            <a:ext cx="41148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"It may rain later, so take an umbrella."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81728" y="1188720"/>
            <a:ext cx="4297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81728" y="1188720"/>
            <a:ext cx="4297680" cy="329184"/>
          </a:xfrm>
          <a:prstGeom prst="rect">
            <a:avLst/>
          </a:prstGeom>
          <a:solidFill>
            <a:srgbClr val="6E2F8A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3168" y="1188720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 permissão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91456" y="1554480"/>
            <a:ext cx="41148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may have another cookie if you like."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01168" y="2450592"/>
            <a:ext cx="4297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1168" y="2450592"/>
            <a:ext cx="4297680" cy="329184"/>
          </a:xfrm>
          <a:prstGeom prst="rect">
            <a:avLst/>
          </a:prstGeom>
          <a:solidFill>
            <a:srgbClr val="6E2F8A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" y="2450592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Pedir permissão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10896" y="2816352"/>
            <a:ext cx="41148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"May I borrow your pen, please?"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81728" y="2450592"/>
            <a:ext cx="4297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81728" y="2450592"/>
            <a:ext cx="4297680" cy="329184"/>
          </a:xfrm>
          <a:prstGeom prst="rect">
            <a:avLst/>
          </a:prstGeom>
          <a:solidFill>
            <a:srgbClr val="6E2F8A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2450592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Expressar desejos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91456" y="2816352"/>
            <a:ext cx="41148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"May the New Year bring you happiness."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01168" y="3712464"/>
            <a:ext cx="4297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1168" y="3712464"/>
            <a:ext cx="4297680" cy="329184"/>
          </a:xfrm>
          <a:prstGeom prst="rect">
            <a:avLst/>
          </a:prstGeom>
          <a:solidFill>
            <a:srgbClr val="6E2F8A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2608" y="3712464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Especular sobre o passado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10896" y="4078224"/>
            <a:ext cx="41148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"She may have missed her plane."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681728" y="3712464"/>
            <a:ext cx="4297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81728" y="3712464"/>
            <a:ext cx="4297680" cy="329184"/>
          </a:xfrm>
          <a:prstGeom prst="rect">
            <a:avLst/>
          </a:prstGeom>
          <a:solidFill>
            <a:srgbClr val="6E2F8A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73168" y="3712464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Permissão formal (escrita/oficial)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91456" y="4078224"/>
            <a:ext cx="41148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"Visitors may not enter after 10 p.m."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MAY — Exemplos do Cotidiano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234440"/>
            <a:ext cx="4297680" cy="1737360"/>
          </a:xfrm>
          <a:prstGeom prst="rect">
            <a:avLst/>
          </a:prstGeom>
          <a:solidFill>
            <a:srgbClr val="FAFAF7"/>
          </a:solidFill>
          <a:ln w="12700">
            <a:solidFill>
              <a:srgbClr val="DDDD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1234440"/>
            <a:ext cx="91440" cy="1737360"/>
          </a:xfrm>
          <a:prstGeom prst="rect">
            <a:avLst/>
          </a:prstGeom>
          <a:solidFill>
            <a:srgbClr val="6E2F8A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1234440"/>
            <a:ext cx="4297680" cy="292608"/>
          </a:xfrm>
          <a:prstGeom prst="rect">
            <a:avLst/>
          </a:prstGeom>
          <a:solidFill>
            <a:srgbClr val="6E2F8A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123444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Rotina Diária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93192" y="1563624"/>
            <a:ext cx="4069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may be late tonight — traffic is bad.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I use your phone for a moment?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709160" y="1234440"/>
            <a:ext cx="4297680" cy="1737360"/>
          </a:xfrm>
          <a:prstGeom prst="rect">
            <a:avLst/>
          </a:prstGeom>
          <a:solidFill>
            <a:srgbClr val="FAFAF7"/>
          </a:solidFill>
          <a:ln w="12700">
            <a:solidFill>
              <a:srgbClr val="DDDD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1234440"/>
            <a:ext cx="91440" cy="1737360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1234440"/>
            <a:ext cx="4297680" cy="292608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23444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Saúde &amp; Farmácia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73752" y="1563624"/>
            <a:ext cx="4069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doctor said I may have an allergy.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may feel a little dizzy after this medication.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228600" y="3154680"/>
            <a:ext cx="4297680" cy="1737360"/>
          </a:xfrm>
          <a:prstGeom prst="rect">
            <a:avLst/>
          </a:prstGeom>
          <a:solidFill>
            <a:srgbClr val="FAFAF7"/>
          </a:solidFill>
          <a:ln w="12700">
            <a:solidFill>
              <a:srgbClr val="DDDD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" y="3154680"/>
            <a:ext cx="91440" cy="1737360"/>
          </a:xfrm>
          <a:prstGeom prst="rect">
            <a:avLst/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3154680"/>
            <a:ext cx="4297680" cy="292608"/>
          </a:xfrm>
          <a:prstGeom prst="rect">
            <a:avLst/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" y="315468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Compras &amp; Supermercado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93192" y="3483864"/>
            <a:ext cx="4069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product may be out of stock by the weekend.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I try this on?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709160" y="3154680"/>
            <a:ext cx="4297680" cy="1737360"/>
          </a:xfrm>
          <a:prstGeom prst="rect">
            <a:avLst/>
          </a:prstGeom>
          <a:solidFill>
            <a:srgbClr val="FAFAF7"/>
          </a:solidFill>
          <a:ln w="12700">
            <a:solidFill>
              <a:srgbClr val="DDDD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9160" y="3154680"/>
            <a:ext cx="91440" cy="1737360"/>
          </a:xfrm>
          <a:prstGeom prst="rect">
            <a:avLst/>
          </a:prstGeom>
          <a:solidFill>
            <a:srgbClr val="7D3C00"/>
          </a:solidFill>
          <a:ln w="12700">
            <a:solidFill>
              <a:srgbClr val="7D3C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154680"/>
            <a:ext cx="4297680" cy="292608"/>
          </a:xfrm>
          <a:prstGeom prst="rect">
            <a:avLst/>
          </a:prstGeom>
          <a:solidFill>
            <a:srgbClr val="7D3C00"/>
          </a:solidFill>
          <a:ln w="12700">
            <a:solidFill>
              <a:srgbClr val="7D3C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315468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Esportes &amp; Lazer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73752" y="3483864"/>
            <a:ext cx="4069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may rain during the match.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may not play today — she twisted her ankle.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MIGHT — Usos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1188720"/>
            <a:ext cx="4297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" y="1188720"/>
            <a:ext cx="4297680" cy="32918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1188720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Possibilidade (menos certa)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0896" y="1554480"/>
            <a:ext cx="41148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"It might rain tomorrow. (~40% de chance)"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81728" y="1188720"/>
            <a:ext cx="4297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81728" y="1188720"/>
            <a:ext cx="4297680" cy="32918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3168" y="1188720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Chance menor do que MAY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91456" y="1554480"/>
            <a:ext cx="41148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might go to the gym later — not sure yet."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01168" y="2450592"/>
            <a:ext cx="4297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1168" y="2450592"/>
            <a:ext cx="4297680" cy="32918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" y="2450592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Especular sobre o passado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10896" y="2816352"/>
            <a:ext cx="41148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"She might have missed her plane."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81728" y="2450592"/>
            <a:ext cx="4297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81728" y="2450592"/>
            <a:ext cx="4297680" cy="32918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2450592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Sugestão educada (informal)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91456" y="2816352"/>
            <a:ext cx="41148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might want to try the other size."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01168" y="3712464"/>
            <a:ext cx="4297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1168" y="3712464"/>
            <a:ext cx="4297680" cy="32918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2608" y="3712464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para desejos ou permissão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10896" y="4078224"/>
            <a:ext cx="41148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"✗  "Might I come in?"  →  Use: "May I come in?""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81728" y="3712464"/>
            <a:ext cx="4297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81728" y="3712464"/>
            <a:ext cx="4297680" cy="32918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73168" y="3712464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Might + have + V₃  (passado)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91456" y="4078224"/>
            <a:ext cx="41148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 might have taken the wrong bus."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MIGHT — Exemplos do Cotidiano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234440"/>
            <a:ext cx="4297680" cy="1737360"/>
          </a:xfrm>
          <a:prstGeom prst="rect">
            <a:avLst/>
          </a:prstGeom>
          <a:solidFill>
            <a:srgbClr val="FAFAF7"/>
          </a:solidFill>
          <a:ln w="12700">
            <a:solidFill>
              <a:srgbClr val="DDDD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1234440"/>
            <a:ext cx="91440" cy="17373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1234440"/>
            <a:ext cx="4297680" cy="2926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123444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Rotina Diária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93192" y="1563624"/>
            <a:ext cx="4069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might go to the gym after class — I'm not sure yet.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might have forgotten to set his alarm.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709160" y="1234440"/>
            <a:ext cx="4297680" cy="1737360"/>
          </a:xfrm>
          <a:prstGeom prst="rect">
            <a:avLst/>
          </a:prstGeom>
          <a:solidFill>
            <a:srgbClr val="FAFAF7"/>
          </a:solidFill>
          <a:ln w="12700">
            <a:solidFill>
              <a:srgbClr val="DDDD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1234440"/>
            <a:ext cx="91440" cy="1737360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1234440"/>
            <a:ext cx="4297680" cy="292608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23444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Saúde &amp; Farmácia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73752" y="1563624"/>
            <a:ext cx="4069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might need to see a specialist.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might have caught a cold at the game.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228600" y="3154680"/>
            <a:ext cx="4297680" cy="1737360"/>
          </a:xfrm>
          <a:prstGeom prst="rect">
            <a:avLst/>
          </a:prstGeom>
          <a:solidFill>
            <a:srgbClr val="FAFAF7"/>
          </a:solidFill>
          <a:ln w="12700">
            <a:solidFill>
              <a:srgbClr val="DDDD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" y="3154680"/>
            <a:ext cx="91440" cy="1737360"/>
          </a:xfrm>
          <a:prstGeom prst="rect">
            <a:avLst/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3154680"/>
            <a:ext cx="4297680" cy="292608"/>
          </a:xfrm>
          <a:prstGeom prst="rect">
            <a:avLst/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" y="315468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Compras &amp; Supermercado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93192" y="3483864"/>
            <a:ext cx="4069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price might go up next week.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might buy that jacket if it goes on sale.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709160" y="3154680"/>
            <a:ext cx="4297680" cy="1737360"/>
          </a:xfrm>
          <a:prstGeom prst="rect">
            <a:avLst/>
          </a:prstGeom>
          <a:solidFill>
            <a:srgbClr val="FAFAF7"/>
          </a:solidFill>
          <a:ln w="12700">
            <a:solidFill>
              <a:srgbClr val="DDDD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9160" y="3154680"/>
            <a:ext cx="91440" cy="1737360"/>
          </a:xfrm>
          <a:prstGeom prst="rect">
            <a:avLst/>
          </a:prstGeom>
          <a:solidFill>
            <a:srgbClr val="7D3C00"/>
          </a:solidFill>
          <a:ln w="12700">
            <a:solidFill>
              <a:srgbClr val="7D3C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154680"/>
            <a:ext cx="4297680" cy="292608"/>
          </a:xfrm>
          <a:prstGeom prst="rect">
            <a:avLst/>
          </a:prstGeom>
          <a:solidFill>
            <a:srgbClr val="7D3C00"/>
          </a:solidFill>
          <a:ln w="12700">
            <a:solidFill>
              <a:srgbClr val="7D3C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315468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Esportes &amp; Lazer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73752" y="3483864"/>
            <a:ext cx="4069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might win the championship this year.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might not be fit enough to play on Saturday.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MAY vs. MIGHT — Principais Diferenças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170432"/>
          <a:ext cx="8778240" cy="3794760"/>
        </p:xfrm>
        <a:graphic>
          <a:graphicData uri="http://schemas.openxmlformats.org/drawingml/2006/table">
            <a:tbl>
              <a:tblPr/>
              <a:tblGrid>
                <a:gridCol w="2377440"/>
                <a:gridCol w="3200400"/>
                <a:gridCol w="32004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Situação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2F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MIGHT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Possibilidade (maior)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1A1A2E"/>
                          </a:solidFill>
                        </a:rPr>
                        <a:t>It may rain. (~70%)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</a:rPr>
                        <a:t>✗ não usado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Possibilidade (menor)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</a:rPr>
                        <a:t>✗ não usado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1A1A2E"/>
                          </a:solidFill>
                        </a:rPr>
                        <a:t>It might rain. (~40%)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Dar permissão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1A1A2E"/>
                          </a:solidFill>
                        </a:rPr>
                        <a:t>You may sit down.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</a:rPr>
                        <a:t>✗ não usado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Pedir permissão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1A1A2E"/>
                          </a:solidFill>
                        </a:rPr>
                        <a:t>May I come in?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</a:rPr>
                        <a:t>✗ não usado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Expressar desejos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1A1A2E"/>
                          </a:solidFill>
                        </a:rPr>
                        <a:t>May you be happy!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</a:rPr>
                        <a:t>✗ não usado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Especulação no passado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1A1A2E"/>
                          </a:solidFill>
                        </a:rPr>
                        <a:t>She may have left early.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1A1A2E"/>
                          </a:solidFill>
                        </a:rPr>
                        <a:t>She might have left early.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Prática — MAY / MIGHT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8872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as frases com MAY ou MIGHT: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01168" y="1636776"/>
            <a:ext cx="347472" cy="40233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" y="1636776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600200"/>
            <a:ext cx="6309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 I try on these shoes in a size 40?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040880" y="1655064"/>
            <a:ext cx="1828800" cy="365760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165506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01168" y="2212848"/>
            <a:ext cx="347472" cy="40233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1168" y="2212848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2176272"/>
            <a:ext cx="6309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_______ snow tonight — the forecast shows only 30% chance.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040880" y="2231136"/>
            <a:ext cx="1828800" cy="365760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0" y="223113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might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01168" y="2788920"/>
            <a:ext cx="347472" cy="40233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1168" y="2788920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2752344"/>
            <a:ext cx="6309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_______ have already bought all the vegetables on the list.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040880" y="2807208"/>
            <a:ext cx="1828800" cy="365760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0" y="28072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/ might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01168" y="3364992"/>
            <a:ext cx="347472" cy="40233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1168" y="3364992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3328416"/>
            <a:ext cx="6309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 your team win the tournament!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040880" y="3383280"/>
            <a:ext cx="1828800" cy="365760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40880" y="3383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01168" y="3941064"/>
            <a:ext cx="347472" cy="40233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1168" y="3941064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0080" y="3904488"/>
            <a:ext cx="6309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_______ be at the gym right now — I'm not sure.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7040880" y="3959352"/>
            <a:ext cx="1828800" cy="365760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40880" y="39593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might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01168" y="4517136"/>
            <a:ext cx="347472" cy="40233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1168" y="4517136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40080" y="4480560"/>
            <a:ext cx="6309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pharmacy _______ be closed on Sundays.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7040880" y="4535424"/>
            <a:ext cx="1828800" cy="365760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40880" y="453542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/ might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20040" y="484632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(respostas visíveis — cobrir antes da aula)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Aprendemos — Parte 1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170432"/>
          <a:ext cx="8778240" cy="3291840"/>
        </p:xfrm>
        <a:graphic>
          <a:graphicData uri="http://schemas.openxmlformats.org/drawingml/2006/table">
            <a:tbl>
              <a:tblPr/>
              <a:tblGrid>
                <a:gridCol w="1371600"/>
                <a:gridCol w="4663440"/>
                <a:gridCol w="27432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Modal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Usos principais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Certeza / Força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</a:rPr>
                        <a:t>CAN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Habilidade (presente), permissão informal, possibilidade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1A1A2E"/>
                          </a:solidFill>
                        </a:rPr>
                        <a:t>Neutro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</a:rPr>
                        <a:t>COULD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Habilidade (passado), pedido educado, condicional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1A1A2E"/>
                          </a:solidFill>
                        </a:rPr>
                        <a:t>Baixa–Média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</a:rPr>
                        <a:t>MAY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Possibilidade (~70%), permissão formal, desejos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1A1A2E"/>
                          </a:solidFill>
                        </a:rPr>
                        <a:t>Média–Alta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</a:rPr>
                        <a:t>MIGHT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Possibilidade (~40%), especulação no passado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1A1A2E"/>
                          </a:solidFill>
                        </a:rPr>
                        <a:t>Baixa–Média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182880" y="4572000"/>
            <a:ext cx="877824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457200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0D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aula: SHALL, SHOULD, OUGHT TO, MUST — e verbos modais na voz passiva.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Modal + HAVE + Particípio Passado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70432"/>
            <a:ext cx="859536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70432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 +  </a:t>
            </a:r>
            <a:pPr algn="ctr" indent="0" marL="0">
              <a:buNone/>
            </a:pPr>
            <a:r>
              <a:rPr lang="en-US" sz="2200" b="1" dirty="0">
                <a:solidFill>
                  <a:srgbClr val="F0D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</a:t>
            </a:r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particípio passado (</a:t>
            </a:r>
            <a:pPr algn="ctr" indent="0" marL="0">
              <a:buNone/>
            </a:pPr>
            <a:r>
              <a:rPr lang="en-US" sz="2200" b="1" dirty="0">
                <a:solidFill>
                  <a:srgbClr val="F0D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V₃</a:t>
            </a:r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20040" y="192024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Usado para especular ou comentar sobre eventos NO PASSADO.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4320" y="2359152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359152"/>
            <a:ext cx="164592" cy="6583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359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</a:t>
            </a:r>
            <a:pPr indent="0" marL="0">
              <a:buNone/>
            </a:pPr>
            <a:r>
              <a:rPr lang="en-US" sz="1700" b="1" i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have </a:t>
            </a:r>
            <a:pPr indent="0" marL="0">
              <a:buNone/>
            </a:pPr>
            <a:r>
              <a:rPr lang="en-US" sz="1700" b="1" i="1" dirty="0">
                <a:solidFill>
                  <a:srgbClr val="A07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taken</a:t>
            </a:r>
            <a:pPr indent="0" marL="0">
              <a:buNone/>
            </a:pPr>
            <a:r>
              <a:rPr lang="en-US" sz="17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wrong bus.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274320" y="3163824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3163824"/>
            <a:ext cx="164592" cy="658368"/>
          </a:xfrm>
          <a:prstGeom prst="rect">
            <a:avLst/>
          </a:prstGeom>
          <a:solidFill>
            <a:srgbClr val="6E2F8A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163824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</a:t>
            </a:r>
            <a:pPr indent="0" marL="0">
              <a:buNone/>
            </a:pPr>
            <a:r>
              <a:rPr lang="en-US" sz="1700" b="1" i="1" dirty="0">
                <a:solidFill>
                  <a:srgbClr val="6E2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have </a:t>
            </a:r>
            <a:pPr indent="0" marL="0">
              <a:buNone/>
            </a:pPr>
            <a:r>
              <a:rPr lang="en-US" sz="1700" b="1" i="1" dirty="0">
                <a:solidFill>
                  <a:srgbClr val="A07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forgotten</a:t>
            </a:r>
            <a:pPr indent="0" marL="0">
              <a:buNone/>
            </a:pPr>
            <a:r>
              <a:rPr lang="en-US" sz="17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his wallet at the supermarket.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274320" y="3968496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968496"/>
            <a:ext cx="164592" cy="658368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968496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</a:t>
            </a:r>
            <a:pPr indent="0" marL="0">
              <a:buNone/>
            </a:pPr>
            <a:r>
              <a:rPr lang="en-US" sz="1700" b="1" i="1" dirty="0">
                <a:solidFill>
                  <a:srgbClr val="1A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might have </a:t>
            </a:r>
            <a:pPr indent="0" marL="0">
              <a:buNone/>
            </a:pPr>
            <a:r>
              <a:rPr lang="en-US" sz="1700" b="1" i="1" dirty="0">
                <a:solidFill>
                  <a:srgbClr val="A07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</a:t>
            </a:r>
            <a:pPr indent="0" marL="0">
              <a:buNone/>
            </a:pPr>
            <a:r>
              <a:rPr lang="en-US" sz="17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her medicine at home.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20040" y="4818888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verbo principal é sempre o PARTICÍPIO PASSADO (V₃).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Erros Comuns — Parte 1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170432"/>
          <a:ext cx="8778240" cy="3794760"/>
        </p:xfrm>
        <a:graphic>
          <a:graphicData uri="http://schemas.openxmlformats.org/drawingml/2006/table">
            <a:tbl>
              <a:tblPr/>
              <a:tblGrid>
                <a:gridCol w="2651760"/>
                <a:gridCol w="2651760"/>
                <a:gridCol w="347472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❌ Errado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✅ Correto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Regra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</a:rPr>
                        <a:t>She cans swim.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7A3A"/>
                          </a:solidFill>
                        </a:rPr>
                        <a:t>She can swim.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Sem -s na 3ª pessoa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</a:rPr>
                        <a:t>I can to drive.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7A3A"/>
                          </a:solidFill>
                        </a:rPr>
                        <a:t>I can drive.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Sem "to" após modal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</a:rPr>
                        <a:t>Can she swims?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7A3A"/>
                          </a:solidFill>
                        </a:rPr>
                        <a:t>Can she swim?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Infinitivo em perguntas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</a:rPr>
                        <a:t>He could go yesterday.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7A3A"/>
                          </a:solidFill>
                        </a:rPr>
                        <a:t>He could have gone yesterday.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Passado = modal + have + V₃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</a:rPr>
                        <a:t>May I to try this on?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7A3A"/>
                          </a:solidFill>
                        </a:rPr>
                        <a:t>May I try this on?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Sem "to" após modal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Prática Mista — CAN / COULD / MAY / MIGHT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88720"/>
            <a:ext cx="8503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o melhor verbo modal para cada frase: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01168" y="1572768"/>
            <a:ext cx="329184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" y="1572768"/>
            <a:ext cx="3291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0352" y="1572768"/>
            <a:ext cx="398678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1591056"/>
            <a:ext cx="38130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 you pass me the salt, please?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30352" y="2011680"/>
            <a:ext cx="3986784" cy="219456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011680"/>
            <a:ext cx="38953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/ Can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81728" y="1572768"/>
            <a:ext cx="329184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81728" y="1572768"/>
            <a:ext cx="3291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10912" y="1572768"/>
            <a:ext cx="398678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02352" y="1591056"/>
            <a:ext cx="38130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_______ go to the match on Saturday — it depends on work.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010912" y="2011680"/>
            <a:ext cx="3986784" cy="219456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02352" y="2011680"/>
            <a:ext cx="38953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/ might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01168" y="2377440"/>
            <a:ext cx="329184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1168" y="2377440"/>
            <a:ext cx="3291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30352" y="2377440"/>
            <a:ext cx="398678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2395728"/>
            <a:ext cx="38130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_______ run 5 km when she was training every day.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30352" y="2816352"/>
            <a:ext cx="3986784" cy="219456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" y="2816352"/>
            <a:ext cx="38953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81728" y="2377440"/>
            <a:ext cx="329184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1728" y="2377440"/>
            <a:ext cx="3291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010912" y="2377440"/>
            <a:ext cx="398678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02352" y="2395728"/>
            <a:ext cx="38130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_______ have eaten something bad at the restaurant.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010912" y="2816352"/>
            <a:ext cx="3986784" cy="219456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02352" y="2816352"/>
            <a:ext cx="38953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/ might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01168" y="3182112"/>
            <a:ext cx="329184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01168" y="3182112"/>
            <a:ext cx="3291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30352" y="3182112"/>
            <a:ext cx="398678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" y="3200400"/>
            <a:ext cx="38130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_______ park here — it's a no-parking zone.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30352" y="3621024"/>
            <a:ext cx="3986784" cy="219456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1792" y="3621024"/>
            <a:ext cx="38953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/ can't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681728" y="3182112"/>
            <a:ext cx="329184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81728" y="3182112"/>
            <a:ext cx="3291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010912" y="3182112"/>
            <a:ext cx="398678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02352" y="3200400"/>
            <a:ext cx="38130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 I try a sample before buying?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5010912" y="3621024"/>
            <a:ext cx="3986784" cy="219456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02352" y="3621024"/>
            <a:ext cx="38953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/ Can / Could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01168" y="3986784"/>
            <a:ext cx="329184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01168" y="3986784"/>
            <a:ext cx="3291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530352" y="3986784"/>
            <a:ext cx="398678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1792" y="4005072"/>
            <a:ext cx="38130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 had a car, I _______ drive you to the pharmacy.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530352" y="4425696"/>
            <a:ext cx="3986784" cy="219456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1792" y="4425696"/>
            <a:ext cx="38953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681728" y="3986784"/>
            <a:ext cx="329184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81728" y="3986784"/>
            <a:ext cx="3291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5010912" y="3986784"/>
            <a:ext cx="398678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102352" y="4005072"/>
            <a:ext cx="38130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supermarket _______ be open until midnight on Fridays.</a:t>
            </a:r>
            <a:endParaRPr lang="en-US" sz="1250" dirty="0"/>
          </a:p>
        </p:txBody>
      </p:sp>
      <p:sp>
        <p:nvSpPr>
          <p:cNvPr id="54" name="Shape 52"/>
          <p:cNvSpPr/>
          <p:nvPr/>
        </p:nvSpPr>
        <p:spPr>
          <a:xfrm>
            <a:off x="5010912" y="4425696"/>
            <a:ext cx="3986784" cy="219456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102352" y="4425696"/>
            <a:ext cx="38953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/ might / could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Vamos Conversar — Atividade em Duplas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7043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Discuta com um colega. Use verbos modais nas respostas!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01168" y="1600200"/>
            <a:ext cx="457200" cy="6583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" y="160020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04088" y="1600200"/>
            <a:ext cx="8229600" cy="658368"/>
          </a:xfrm>
          <a:prstGeom prst="rect">
            <a:avLst/>
          </a:prstGeom>
          <a:solidFill>
            <a:srgbClr val="FFFFFF"/>
          </a:solidFill>
          <a:ln w="25400">
            <a:solidFill>
              <a:srgbClr val="1A527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1600200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you do now that you COULDN'T do when you were a child?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01168" y="2404872"/>
            <a:ext cx="457200" cy="658368"/>
          </a:xfrm>
          <a:prstGeom prst="rect">
            <a:avLst/>
          </a:prstGeom>
          <a:solidFill>
            <a:srgbClr val="6E2F8A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" y="2404872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04088" y="2404872"/>
            <a:ext cx="8229600" cy="658368"/>
          </a:xfrm>
          <a:prstGeom prst="rect">
            <a:avLst/>
          </a:prstGeom>
          <a:solidFill>
            <a:srgbClr val="FFFFFF"/>
          </a:solidFill>
          <a:ln w="25400">
            <a:solidFill>
              <a:srgbClr val="6E2F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2404872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MIGHT you go this weekend? Are you sure?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01168" y="3209544"/>
            <a:ext cx="457200" cy="658368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1168" y="3209544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704088" y="3209544"/>
            <a:ext cx="8229600" cy="658368"/>
          </a:xfrm>
          <a:prstGeom prst="rect">
            <a:avLst/>
          </a:prstGeom>
          <a:solidFill>
            <a:srgbClr val="FFFFFF"/>
          </a:solidFill>
          <a:ln w="25400">
            <a:solidFill>
              <a:srgbClr val="1A7A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3209544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students use their phones during class at your school?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01168" y="4014216"/>
            <a:ext cx="457200" cy="658368"/>
          </a:xfrm>
          <a:prstGeom prst="rect">
            <a:avLst/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1168" y="401421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04088" y="4014216"/>
            <a:ext cx="8229600" cy="658368"/>
          </a:xfrm>
          <a:prstGeom prst="rect">
            <a:avLst/>
          </a:prstGeom>
          <a:solidFill>
            <a:srgbClr val="FFFFFF"/>
          </a:solidFill>
          <a:ln w="25400">
            <a:solidFill>
              <a:srgbClr val="7D660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" y="4014216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feel a little sick after lunch. What COULD you have eaten?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201168" y="4818888"/>
            <a:ext cx="8732520" cy="201168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2608" y="4818888"/>
            <a:ext cx="8549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 do professor: a última pergunta é um gancho para SHOULD/MUST na Aula 2!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Pontos-Chave — Parte 1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1170432"/>
            <a:ext cx="278892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" y="1170432"/>
            <a:ext cx="278892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" y="1481328"/>
            <a:ext cx="26060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Verbos modais nunca mudam de forma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-s, sem -ed, sem "to" após eles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64408" y="1170432"/>
            <a:ext cx="278892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A527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64408" y="1170432"/>
            <a:ext cx="2788920" cy="2743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74136" y="1481328"/>
            <a:ext cx="26060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+ verbo base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sentido presente / futuro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44768" y="1170432"/>
            <a:ext cx="278892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6E2F8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44768" y="1170432"/>
            <a:ext cx="2788920" cy="274320"/>
          </a:xfrm>
          <a:prstGeom prst="rect">
            <a:avLst/>
          </a:prstGeom>
          <a:solidFill>
            <a:srgbClr val="6E2F8A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54496" y="1481328"/>
            <a:ext cx="26060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+ HAVE + V₃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 ao passado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01168" y="2496312"/>
            <a:ext cx="278892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A7A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1168" y="2496312"/>
            <a:ext cx="2788920" cy="274320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0896" y="2807208"/>
            <a:ext cx="26060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= habilidade presente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= passado / educado / condicional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64408" y="2496312"/>
            <a:ext cx="278892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7D660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64408" y="2496312"/>
            <a:ext cx="2788920" cy="274320"/>
          </a:xfrm>
          <a:prstGeom prst="rect">
            <a:avLst/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74136" y="2807208"/>
            <a:ext cx="26060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(~70%) vs. MIGHT (~40%)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expressam possibilidade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144768" y="2496312"/>
            <a:ext cx="278892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7D3C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44768" y="2496312"/>
            <a:ext cx="2788920" cy="274320"/>
          </a:xfrm>
          <a:prstGeom prst="rect">
            <a:avLst/>
          </a:prstGeom>
          <a:solidFill>
            <a:srgbClr val="7D3C00"/>
          </a:solidFill>
          <a:ln w="12700">
            <a:solidFill>
              <a:srgbClr val="7D3C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54496" y="2807208"/>
            <a:ext cx="26060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Somente MAY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permissão e desejos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3822192"/>
            <a:ext cx="9144000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822192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D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aula: SHALL / SHOULD / OUGHT TO / MUST + Voz Passiva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949440" y="3822192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Dúvidas? / Obrigado!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2026-06-06T14:36:15Z</dcterms:created>
  <dcterms:modified xsi:type="dcterms:W3CDTF">2026-06-06T14:36:15Z</dcterms:modified>
</cp:coreProperties>
</file>