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3172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164592" cy="3108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-365760"/>
            <a:ext cx="2011680" cy="2011680"/>
          </a:xfrm>
          <a:prstGeom prst="ellipse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114800"/>
            <a:ext cx="914400" cy="91440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515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Modais — Parte 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Obrigação, Conselho e Voz Passiva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Ewerton Madruga  |  Curso Técnico em Segurança Cibernética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vamos aprender hoje?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rápida: CAN, COULD, MAY, MIGHT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modais: SHALL, SHOULD, OUGHT TO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 HAVE TO — obrigação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 vs. DON'T HAVE TO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Modais na voz passiva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geral e prática final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Revisão Rápida — Parte 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Mini-quiz oral — responda sem olhar para as anotações!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1508760"/>
            <a:ext cx="5943600" cy="50292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527048"/>
            <a:ext cx="57607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Qual modal expressa habilidade no presente?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2651760" cy="50292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527048"/>
            <a:ext cx="2514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1168" y="2103120"/>
            <a:ext cx="5943600" cy="50292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121408"/>
            <a:ext cx="57607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Qual é mais formal/educado: CAN ou COULD?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2103120"/>
            <a:ext cx="2651760" cy="50292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21408"/>
            <a:ext cx="2514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COULD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" y="2697480"/>
            <a:ext cx="5943600" cy="50292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715768"/>
            <a:ext cx="57607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Qual tem mais chance de acontecer: MAY ou MIGHT?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2697480"/>
            <a:ext cx="2651760" cy="50292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715768"/>
            <a:ext cx="2514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MAY (~70%)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1168" y="3291840"/>
            <a:ext cx="5943600" cy="50292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310128"/>
            <a:ext cx="57607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Pode-se usar MIGHT para dar permissão?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63640" y="3291840"/>
            <a:ext cx="2651760" cy="50292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310128"/>
            <a:ext cx="2514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Não — só MAY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01168" y="3886200"/>
            <a:ext cx="5943600" cy="50292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904488"/>
            <a:ext cx="57607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Complete: "She _______ have left her bag at the supermarket."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63640" y="3886200"/>
            <a:ext cx="2651760" cy="50292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904488"/>
            <a:ext cx="2514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may / might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SHALL, SHOULD e OUGHT 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3474720"/>
          </a:xfrm>
          <a:prstGeom prst="rect">
            <a:avLst/>
          </a:prstGeom>
          <a:solidFill>
            <a:srgbClr val="D4E6F1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SHALL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4320" y="1764792"/>
            <a:ext cx="2743200" cy="3657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745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/ pouco frequente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4048" y="27889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em ofertas e sugestões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(especialmente em perguntas)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743200" cy="3474720"/>
          </a:xfrm>
          <a:prstGeom prst="rect">
            <a:avLst/>
          </a:prstGeom>
          <a:solidFill>
            <a:srgbClr val="D5F0E0"/>
          </a:solidFill>
          <a:ln w="25400">
            <a:solidFill>
              <a:srgbClr val="1A7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88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00400" y="1764792"/>
            <a:ext cx="2743200" cy="36576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8745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 / muito comum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10128" y="27889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Conselho, recomendação,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expectativa, previsão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743200" cy="3474720"/>
          </a:xfrm>
          <a:prstGeom prst="rect">
            <a:avLst/>
          </a:prstGeom>
          <a:solidFill>
            <a:srgbClr val="F0DFA0"/>
          </a:solidFill>
          <a:ln w="25400">
            <a:solidFill>
              <a:srgbClr val="A07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188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OUGHT TO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126480" y="1764792"/>
            <a:ext cx="2743200" cy="36576"/>
          </a:xfrm>
          <a:prstGeom prst="rect">
            <a:avLst/>
          </a:prstGeom>
          <a:solidFill>
            <a:srgbClr val="A07828"/>
          </a:solidFill>
          <a:ln w="12700">
            <a:solidFill>
              <a:srgbClr val="A07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8745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/ menos frequente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36208" y="27889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SHOULD (mesmo significado)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comum em textos escritos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01168" y="475488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uso cotidiano em ESL, o foco prático é SHOULD — SHALL e OUGHT TO aparecem mais em textos formais e contratos.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SHALL — Usos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21945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17043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87168" y="1170432"/>
            <a:ext cx="6400800" cy="566928"/>
          </a:xfrm>
          <a:prstGeom prst="rect">
            <a:avLst/>
          </a:prstGeom>
          <a:solidFill>
            <a:srgbClr val="D4E6F1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170432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 I get a pizza for dinner tonight?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01168" y="1828800"/>
            <a:ext cx="21945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8288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/ Voluntariar-se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87168" y="1828800"/>
            <a:ext cx="6400800" cy="566928"/>
          </a:xfrm>
          <a:prstGeom prst="rect">
            <a:avLst/>
          </a:prstGeom>
          <a:solidFill>
            <a:srgbClr val="DCE8F0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828800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bag looks heavy. Shall I carry it for you?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01168" y="2487168"/>
            <a:ext cx="21945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248716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Instrução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87168" y="2487168"/>
            <a:ext cx="6400800" cy="566928"/>
          </a:xfrm>
          <a:prstGeom prst="rect">
            <a:avLst/>
          </a:prstGeom>
          <a:solidFill>
            <a:srgbClr val="E4EEF8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2487168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shall I do with your mail when it arrives?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01168" y="3145536"/>
            <a:ext cx="21945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314553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487168" y="3145536"/>
            <a:ext cx="6400800" cy="566928"/>
          </a:xfrm>
          <a:prstGeom prst="rect">
            <a:avLst/>
          </a:prstGeom>
          <a:solidFill>
            <a:srgbClr val="D4E6F1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3145536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shall be the first person to know.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201168" y="3803904"/>
            <a:ext cx="21945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80390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487168" y="3803904"/>
            <a:ext cx="6400800" cy="566928"/>
          </a:xfrm>
          <a:prstGeom prst="rect">
            <a:avLst/>
          </a:prstGeom>
          <a:solidFill>
            <a:srgbClr val="DCE8F0"/>
          </a:solidFill>
          <a:ln w="12700">
            <a:solidFill>
              <a:srgbClr val="C5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38039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shall meet you there at 7.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201168" y="4526280"/>
            <a:ext cx="8686800" cy="45720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45262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SHALL pode ser substituído: Sugestão → SHOULD  |  Oferta → CAN / COULD  |  Promessa → WILL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SHALL — Notas e Exemplos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8686800" cy="822960"/>
          </a:xfrm>
          <a:prstGeom prst="rect">
            <a:avLst/>
          </a:prstGeom>
          <a:solidFill>
            <a:srgbClr val="FFF3CD"/>
          </a:solidFill>
          <a:ln w="25400">
            <a:solidFill>
              <a:srgbClr val="E0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8412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SHALL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comum no inglês cotidiano moderno. </a:t>
            </a:r>
            <a:pPr indent="0" marL="0"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conversas, prefira SHOULD ou WILL.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encontrado em: fala formal, documentos, contratos, cardápios e regulamentos.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do cotidiano: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1168" y="2514600"/>
            <a:ext cx="8686800" cy="658368"/>
          </a:xfrm>
          <a:prstGeom prst="rect">
            <a:avLst/>
          </a:prstGeom>
          <a:solidFill>
            <a:srgbClr val="D4E6F1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5146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entre amigos  </a:t>
            </a:r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"Shall we go to the park after lunch?"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1168" y="3264408"/>
            <a:ext cx="8686800" cy="658368"/>
          </a:xfrm>
          <a:prstGeom prst="rect">
            <a:avLst/>
          </a:prstGeom>
          <a:solidFill>
            <a:srgbClr val="D4E6F1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26440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no supermercado  </a:t>
            </a:r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"Shall I carry your groceries?"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1168" y="4014216"/>
            <a:ext cx="8686800" cy="658368"/>
          </a:xfrm>
          <a:prstGeom prst="rect">
            <a:avLst/>
          </a:prstGeom>
          <a:solidFill>
            <a:srgbClr val="D4E6F1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014216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Fazendo planos  </a:t>
            </a:r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"Shall I book us a table for Saturday?"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— Usos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256032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17043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/ Sugestão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52928" y="1170432"/>
            <a:ext cx="6035040" cy="512064"/>
          </a:xfrm>
          <a:prstGeom prst="rect">
            <a:avLst/>
          </a:prstGeom>
          <a:solidFill>
            <a:srgbClr val="D5F0E0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170432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get a haircut.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" y="1773936"/>
            <a:ext cx="256032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77393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provável (presente)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52928" y="1773936"/>
            <a:ext cx="6035040" cy="512064"/>
          </a:xfrm>
          <a:prstGeom prst="rect">
            <a:avLst/>
          </a:prstGeom>
          <a:solidFill>
            <a:srgbClr val="DAF2E5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1773936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should be at home right now.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" y="2377440"/>
            <a:ext cx="256032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2377440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(futuro)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852928" y="2377440"/>
            <a:ext cx="6035040" cy="512064"/>
          </a:xfrm>
          <a:prstGeom prst="rect">
            <a:avLst/>
          </a:prstGeom>
          <a:solidFill>
            <a:srgbClr val="D5F0E0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44368" y="2377440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should win tonight.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1168" y="2980944"/>
            <a:ext cx="256032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2980944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+ have + V₃ (passado)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852928" y="2980944"/>
            <a:ext cx="6035040" cy="512064"/>
          </a:xfrm>
          <a:prstGeom prst="rect">
            <a:avLst/>
          </a:prstGeom>
          <a:solidFill>
            <a:srgbClr val="DAF2E5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44368" y="2980944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have given your boss the report yesterday.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1168" y="3584448"/>
            <a:ext cx="256032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58444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+ be + V-ing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852928" y="3584448"/>
            <a:ext cx="6035040" cy="512064"/>
          </a:xfrm>
          <a:prstGeom prst="rect">
            <a:avLst/>
          </a:prstGeom>
          <a:solidFill>
            <a:srgbClr val="D5F0E0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44368" y="3584448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wearing your seatbelt.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01168" y="4187952"/>
            <a:ext cx="256032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" y="418795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SHOULDN'T = aconselhar NÃO fazer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852928" y="4187952"/>
            <a:ext cx="6035040" cy="512064"/>
          </a:xfrm>
          <a:prstGeom prst="rect">
            <a:avLst/>
          </a:prstGeom>
          <a:solidFill>
            <a:srgbClr val="DAF2E5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44368" y="4187952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shouldn't skip breakfast every day.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— Exemplos do Cotidiano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88720"/>
            <a:ext cx="4297680" cy="1783080"/>
          </a:xfrm>
          <a:prstGeom prst="rect">
            <a:avLst/>
          </a:prstGeom>
          <a:solidFill>
            <a:srgbClr val="FFF8E1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26187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Rotina Diária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1664208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should sleep at least 8 hours a night."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2286000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shouldn't skip breakfast."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297680" cy="1783080"/>
          </a:xfrm>
          <a:prstGeom prst="rect">
            <a:avLst/>
          </a:prstGeom>
          <a:solidFill>
            <a:srgbClr val="FCE4EC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6187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Saúde &amp; Farmácia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664208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should see a doctor if the pain continues."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8888" y="2286000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should have taken the medicine before eating."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" y="3108960"/>
            <a:ext cx="4297680" cy="178308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318211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Compras &amp; Supermercado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" y="3584448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should compare prices before buying."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" y="4206240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"They should have more staff at the checkout."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108960"/>
            <a:ext cx="4297680" cy="1783080"/>
          </a:xfrm>
          <a:prstGeom prst="rect">
            <a:avLst/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18211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 Esportes &amp; Lazer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584448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should train harder if he wants to make the team."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8888" y="4206240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shouldn't run without warming up first."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OUGHT TO — Usos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8686800" cy="685800"/>
          </a:xfrm>
          <a:prstGeom prst="rect">
            <a:avLst/>
          </a:prstGeom>
          <a:solidFill>
            <a:srgbClr val="F0DFA0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OUGHT TO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pode substituir </a:t>
            </a:r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 alterar o significado — soa mais </a:t>
            </a:r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é menos frequente na fala.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19659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19659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07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OUGHT 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" y="2331720"/>
            <a:ext cx="3429000" cy="640080"/>
          </a:xfrm>
          <a:prstGeom prst="rect">
            <a:avLst/>
          </a:prstGeom>
          <a:solidFill>
            <a:srgbClr val="D5F0E0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3317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drink more water.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03320" y="2331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15968" y="2331720"/>
            <a:ext cx="4572000" cy="64008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23317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ought to drink more water.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01168" y="3081528"/>
            <a:ext cx="3429000" cy="640080"/>
          </a:xfrm>
          <a:prstGeom prst="rect">
            <a:avLst/>
          </a:prstGeom>
          <a:solidFill>
            <a:srgbClr val="D5F0E0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308152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visit your grandparents more often.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03320" y="308152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15968" y="3081528"/>
            <a:ext cx="4572000" cy="64008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7408" y="308152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ought to visit your grandparents more often.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01168" y="3831336"/>
            <a:ext cx="3429000" cy="640080"/>
          </a:xfrm>
          <a:prstGeom prst="rect">
            <a:avLst/>
          </a:prstGeom>
          <a:solidFill>
            <a:srgbClr val="D5F0E0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3831336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should have called the doctor sooner.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03320" y="383133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315968" y="3831336"/>
            <a:ext cx="4572000" cy="64008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7408" y="383133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ought to have called the doctor sooner.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01168" y="47548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Negativa: "ought not to" (raro) — na prática, prefira SHOULDN'T.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SHALL / SHOULD / OUGHT TO — Comparação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170432"/>
          <a:ext cx="8814816" cy="338328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2560320"/>
                <a:gridCol w="2962656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Registro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Uso Principal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SHALL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Formal / datado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Ofertas e sugestões</a:t>
                      </a:r>
                      <a:endParaRPr lang="en-US" sz="1250" dirty="0"/>
                    </a:p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(especialmente perguntas)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1A2E"/>
                          </a:solidFill>
                        </a:rPr>
                        <a:t>Shall I carry your bags?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SHOULD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Neutro / comum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Conselho, expectativa,</a:t>
                      </a:r>
                      <a:endParaRPr lang="en-US" sz="1250" dirty="0"/>
                    </a:p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previsão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1A2E"/>
                          </a:solidFill>
                        </a:rPr>
                        <a:t>You should eat more fruit.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0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OUGHT 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Formal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Obrigação moral,</a:t>
                      </a:r>
                      <a:endParaRPr lang="en-US" sz="1250" dirty="0"/>
                    </a:p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conselho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1A2E"/>
                          </a:solidFill>
                        </a:rPr>
                        <a:t>You ought to call your doctor.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01168" y="466344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Para o ESL cotidiano, o foco prático é SHOULD. SHALL e OUGHT TO aparecem mais em leitura de textos formais.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Erros Comuns — SHOULD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188720"/>
          <a:ext cx="8814816" cy="352044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3145536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❌ Errado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7A3A"/>
                          </a:solidFill>
                        </a:rPr>
                        <a:t>✅ Correto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C0392B"/>
                          </a:solidFill>
                        </a:rPr>
                        <a:t>You should to eat less sugar.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7A3A"/>
                          </a:solidFill>
                        </a:rPr>
                        <a:t>You should eat less sugar.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Sem 'to' após modal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C0392B"/>
                          </a:solidFill>
                        </a:rPr>
                        <a:t>She shoulds rest.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7A3A"/>
                          </a:solidFill>
                        </a:rPr>
                        <a:t>She should rest.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Sem -s na 3ª pessoa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C0392B"/>
                          </a:solidFill>
                        </a:rPr>
                        <a:t>I should went to the gym.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7A3A"/>
                          </a:solidFill>
                        </a:rPr>
                        <a:t>I should have gone to the gym.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Passado = should + have + V₃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C0392B"/>
                          </a:solidFill>
                        </a:rPr>
                        <a:t>You should have go.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7A3A"/>
                          </a:solidFill>
                        </a:rPr>
                        <a:t>You should have gone.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V₃ (particípio), não infinitivo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Prática — SHALL / SHOULD / OUGHT 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 frases com o modal mais adequado: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1572768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572768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 _______ drink more water — it's really hot today.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572768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7276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/ ought 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01168" y="2139696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139696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_______ I carry those grocery bags for you?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2139696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3969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01168" y="2706624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706624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bus _______ arrive at 3:15 — it's usually on time.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2706624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70662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01168" y="3273552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273552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She _______ have gone to the doctor sooner.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3273552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2735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 / ought to have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01168" y="3840480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840480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You _______ eat junk food every day — it's bad for your health.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3840480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8404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shouldn't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01168" y="4407408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4407408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Players _______ arrive at the stadium one hour before the game.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55080" y="4407408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40740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/ ought to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e HAVE 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4206240" cy="3566160"/>
          </a:xfrm>
          <a:prstGeom prst="rect">
            <a:avLst/>
          </a:prstGeom>
          <a:solidFill>
            <a:srgbClr val="FFF3CD"/>
          </a:solidFill>
          <a:ln w="25400">
            <a:solidFill>
              <a:srgbClr val="E0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234440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👨‍⚕️  Médico → MUST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2608" y="1783080"/>
            <a:ext cx="4023360" cy="36576"/>
          </a:xfrm>
          <a:prstGeom prst="rect">
            <a:avLst/>
          </a:prstGeom>
          <a:solidFill>
            <a:srgbClr val="E09800"/>
          </a:solidFill>
          <a:ln w="12700">
            <a:solidFill>
              <a:srgbClr val="E0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874520"/>
            <a:ext cx="39867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 imposta pelo próprio FALANTE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(interna / pessoal)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" y="292608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9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9443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rest for three days."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81728" y="1170432"/>
            <a:ext cx="4206240" cy="3566160"/>
          </a:xfrm>
          <a:prstGeom prst="rect">
            <a:avLst/>
          </a:prstGeom>
          <a:solidFill>
            <a:srgbClr val="D4E6F1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234440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🛌  Paciente → HAVE TO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73168" y="1783080"/>
            <a:ext cx="4023360" cy="3657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1874520"/>
            <a:ext cx="39867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 vinda de uma FONTE EXTERNA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(regras, leis, terceiros)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73168" y="292608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9443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to rest for three days."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1168" y="482803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Na prática, a distinção é sutil — em contextos informais, MUST e HAVE TO são frequentemente intercambiáveis.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— Usos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246888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1704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61488" y="1170432"/>
            <a:ext cx="6126480" cy="566928"/>
          </a:xfrm>
          <a:prstGeom prst="rect">
            <a:avLst/>
          </a:prstGeom>
          <a:solidFill>
            <a:srgbClr val="FFF3CD"/>
          </a:solidFill>
          <a:ln w="12700">
            <a:solidFill>
              <a:srgbClr val="E0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2928" y="1170432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wear a seatbelt when you drive.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" y="1828800"/>
            <a:ext cx="246888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8288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Dedução (certeza)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61488" y="1828800"/>
            <a:ext cx="6126480" cy="566928"/>
          </a:xfrm>
          <a:prstGeom prst="rect">
            <a:avLst/>
          </a:prstGeom>
          <a:solidFill>
            <a:srgbClr val="FFF8DC"/>
          </a:solidFill>
          <a:ln w="12700">
            <a:solidFill>
              <a:srgbClr val="E09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2928" y="182880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that snow. It must be cold outside.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" y="2487168"/>
            <a:ext cx="246888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24871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enfatizada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61488" y="2487168"/>
            <a:ext cx="6126480" cy="566928"/>
          </a:xfrm>
          <a:prstGeom prst="rect">
            <a:avLst/>
          </a:prstGeom>
          <a:solidFill>
            <a:srgbClr val="FFF3CD"/>
          </a:solidFill>
          <a:ln w="12700">
            <a:solidFill>
              <a:srgbClr val="E09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52928" y="2487168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must have light and water to grow.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1168" y="3145536"/>
            <a:ext cx="246888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314553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forte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61488" y="3145536"/>
            <a:ext cx="6126480" cy="566928"/>
          </a:xfrm>
          <a:prstGeom prst="rect">
            <a:avLst/>
          </a:prstGeom>
          <a:solidFill>
            <a:srgbClr val="FFF8DC"/>
          </a:solidFill>
          <a:ln w="12700">
            <a:solidFill>
              <a:srgbClr val="E09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2928" y="3145536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must get together for dinner soon.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1168" y="3803904"/>
            <a:ext cx="246888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80390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 = Proibição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61488" y="3803904"/>
            <a:ext cx="6126480" cy="566928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52928" y="3803904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mustn't use your phone while driving.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01168" y="4526280"/>
            <a:ext cx="8686800" cy="45720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45262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HAD TO substitui MUST no passado: "I had to pay the speeding ticket."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— Exemplos do Cotidiano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88720"/>
            <a:ext cx="4297680" cy="1783080"/>
          </a:xfrm>
          <a:prstGeom prst="rect">
            <a:avLst/>
          </a:prstGeom>
          <a:solidFill>
            <a:srgbClr val="FFF8E1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26187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Rotina Diária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1664208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must wake up at 6 a.m. tomorrow — I have an early class."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2286000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try this recipe!"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297680" cy="1783080"/>
          </a:xfrm>
          <a:prstGeom prst="rect">
            <a:avLst/>
          </a:prstGeom>
          <a:solidFill>
            <a:srgbClr val="FCE4EC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6187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Saúde &amp; Farmácia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664208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take this medicine twice a day."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8888" y="2286000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must be exhausted — she worked all night."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" y="3108960"/>
            <a:ext cx="4297680" cy="178308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318211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Compras &amp; Supermercado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" y="3584448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keep your receipt to get a refund."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" y="4206240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bread must be fresh — it smells amazing."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108960"/>
            <a:ext cx="4297680" cy="1783080"/>
          </a:xfrm>
          <a:prstGeom prst="rect">
            <a:avLst/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18211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 Esportes &amp; Lazer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584448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"Players must wear shin guards during the match."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8888" y="4206240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trains every day — he must really love football."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vs. HAVE TO — Diferença Principal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4023360" cy="2560320"/>
          </a:xfrm>
          <a:prstGeom prst="rect">
            <a:avLst/>
          </a:prstGeom>
          <a:solidFill>
            <a:srgbClr val="FFF3CD"/>
          </a:solidFill>
          <a:ln w="25400">
            <a:solidFill>
              <a:srgbClr val="E0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1704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2608" y="17373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 sentida ou imposta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FALANTE (interna)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2608" y="2377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must call my mother."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(sinto que devo)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2926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try this dish!"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(recomendação forte minha)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170432"/>
            <a:ext cx="4297680" cy="2560320"/>
          </a:xfrm>
          <a:prstGeom prst="rect">
            <a:avLst/>
          </a:prstGeom>
          <a:solidFill>
            <a:srgbClr val="D4E6F1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17043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TO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17373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 vinda de uma fonte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(regras, leis, terceiros)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63440" y="2377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to be at work by 8 a.m."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(regra da empresa)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926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have to show ID to enter."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(exigência externa)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1168" y="3858768"/>
            <a:ext cx="8686800" cy="68580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858768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perguntas, 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to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mais natural: "Do you 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to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 on Saturdays?" (NÃO: "Must you work on Saturdays?")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MUSTN'T vs. DON'T HAVE 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4069080" cy="3429000"/>
          </a:xfrm>
          <a:prstGeom prst="rect">
            <a:avLst/>
          </a:prstGeom>
          <a:solidFill>
            <a:srgbClr val="FDE8E8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17043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MUSTN'T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2608" y="17830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PROIBIDO — não é permitido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" y="2212848"/>
            <a:ext cx="3886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not drink that."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É proibido.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mustn't tell John."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Você não tem permissão.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206240" cy="34290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7043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HAVE TO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17830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SEM OBRIGAÇÃO — opcional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212848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don't have to drink that."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Pode beber se quiser, mas não é obrigatório.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don't have to tell John."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É opcional.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" y="4690872"/>
            <a:ext cx="8686800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E09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46908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Este é um dos erros mais comuns de alunos de ESL — MUSTN'T ≠ DON'T HAVE TO!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MUSTN'T vs. DON'T HAVE TO — Cotidiano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170432"/>
            <a:ext cx="1417320" cy="384048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" y="1170432"/>
            <a:ext cx="14173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11704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27632" y="1170432"/>
            <a:ext cx="356616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27632" y="11704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 (proibição)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39512" y="1170432"/>
            <a:ext cx="36576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11704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HAVE TO (opcional)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" y="1627632"/>
            <a:ext cx="14173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1627632"/>
            <a:ext cx="134416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Rotina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27632" y="1627632"/>
            <a:ext cx="3566160" cy="704088"/>
          </a:xfrm>
          <a:prstGeom prst="rect">
            <a:avLst/>
          </a:prstGeom>
          <a:solidFill>
            <a:srgbClr val="FDE8E8"/>
          </a:solidFill>
          <a:ln w="12700">
            <a:solidFill>
              <a:srgbClr val="E8C0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19072" y="1627632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mustn't be late for the exam.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39512" y="1627632"/>
            <a:ext cx="3657600" cy="704088"/>
          </a:xfrm>
          <a:prstGeom prst="rect">
            <a:avLst/>
          </a:prstGeom>
          <a:solidFill>
            <a:srgbClr val="E8F5E9"/>
          </a:solidFill>
          <a:ln w="12700">
            <a:solidFill>
              <a:srgbClr val="B0D8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1627632"/>
            <a:ext cx="3474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wear a uniform on weekends.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64592" y="2423160"/>
            <a:ext cx="1417320" cy="704088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2423160"/>
            <a:ext cx="134416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Saúde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27632" y="2423160"/>
            <a:ext cx="3566160" cy="704088"/>
          </a:xfrm>
          <a:prstGeom prst="rect">
            <a:avLst/>
          </a:prstGeom>
          <a:solidFill>
            <a:srgbClr val="FDE8E8"/>
          </a:solidFill>
          <a:ln w="12700">
            <a:solidFill>
              <a:srgbClr val="E8C0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19072" y="2423160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mustn't drink alcohol while taking this medication.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239512" y="2423160"/>
            <a:ext cx="3657600" cy="704088"/>
          </a:xfrm>
          <a:prstGeom prst="rect">
            <a:avLst/>
          </a:prstGeom>
          <a:solidFill>
            <a:srgbClr val="E8F5E9"/>
          </a:solidFill>
          <a:ln w="12700">
            <a:solidFill>
              <a:srgbClr val="B0D8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30952" y="2423160"/>
            <a:ext cx="3474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fast before this test — only before blood work.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64592" y="3218688"/>
            <a:ext cx="14173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" y="3218688"/>
            <a:ext cx="134416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Compras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627632" y="3218688"/>
            <a:ext cx="3566160" cy="704088"/>
          </a:xfrm>
          <a:prstGeom prst="rect">
            <a:avLst/>
          </a:prstGeom>
          <a:solidFill>
            <a:srgbClr val="FDE8E8"/>
          </a:solidFill>
          <a:ln w="12700">
            <a:solidFill>
              <a:srgbClr val="E8C0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19072" y="3218688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mustn't open the package before paying.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239512" y="3218688"/>
            <a:ext cx="3657600" cy="704088"/>
          </a:xfrm>
          <a:prstGeom prst="rect">
            <a:avLst/>
          </a:prstGeom>
          <a:solidFill>
            <a:srgbClr val="E8F5E9"/>
          </a:solidFill>
          <a:ln w="12700">
            <a:solidFill>
              <a:srgbClr val="B0D8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0952" y="3218688"/>
            <a:ext cx="3474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bring a bag — we have free ones here.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64592" y="4014216"/>
            <a:ext cx="1417320" cy="704088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" y="4014216"/>
            <a:ext cx="134416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Esportes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27632" y="4014216"/>
            <a:ext cx="3566160" cy="704088"/>
          </a:xfrm>
          <a:prstGeom prst="rect">
            <a:avLst/>
          </a:prstGeom>
          <a:solidFill>
            <a:srgbClr val="FDE8E8"/>
          </a:solidFill>
          <a:ln w="12700">
            <a:solidFill>
              <a:srgbClr val="E8C0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19072" y="4014216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mustn't argue with the referee.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239512" y="4014216"/>
            <a:ext cx="3657600" cy="704088"/>
          </a:xfrm>
          <a:prstGeom prst="rect">
            <a:avLst/>
          </a:prstGeom>
          <a:solidFill>
            <a:srgbClr val="E8F5E9"/>
          </a:solidFill>
          <a:ln w="12700">
            <a:solidFill>
              <a:srgbClr val="B0D8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30952" y="4014216"/>
            <a:ext cx="3474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join the extra practice — it's optional.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Erros Comuns — MUST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188720"/>
          <a:ext cx="8814816" cy="352044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3145536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❌ Errado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7A3A"/>
                          </a:solidFill>
                        </a:rPr>
                        <a:t>✅ Correto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C0392B"/>
                          </a:solidFill>
                        </a:rPr>
                        <a:t>She musts rest.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7A3A"/>
                          </a:solidFill>
                        </a:rPr>
                        <a:t>She must rest.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Sem -s na 3ª pessoa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C0392B"/>
                          </a:solidFill>
                        </a:rPr>
                        <a:t>I must to leave.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7A3A"/>
                          </a:solidFill>
                        </a:rPr>
                        <a:t>I must leave.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Sem 'to' após modal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C0392B"/>
                          </a:solidFill>
                        </a:rPr>
                        <a:t>He must go yesterday.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7A3A"/>
                          </a:solidFill>
                        </a:rPr>
                        <a:t>He had to go yesterday.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Passado de MUST = HAD 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C0392B"/>
                          </a:solidFill>
                        </a:rPr>
                        <a:t>You mustn't bring ID. (sentido: "opcional")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7A3A"/>
                          </a:solidFill>
                        </a:rPr>
                        <a:t>You don't have to bring ID.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MUSTN'T ≠ DON'T HAVE 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Prática — MUST / HAVE TO / MUSTN'T / DON'T HAVE 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 frases com o modal mais adequado: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1572768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572768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 _______ run on the pool deck — it's slippery and dangerous.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572768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7276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01168" y="2139696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139696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You _______ bring a gift to the party — it's not expected.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2139696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3969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have 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01168" y="2706624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706624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All passengers _______ show their ticket before boarding.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2706624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70662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to / must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01168" y="3273552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273552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Look at that dark sky. It _______ be about to rain.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3273552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2735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01168" y="3840480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840480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She _______ take an extra class last semester — it wasn't required.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3840480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8404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have to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01168" y="4407408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4407408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 _______ leave early yesterday because my daughter was sick.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55080" y="4407408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40740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to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Modais na Voz Passiva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86868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7043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Sujeito  +  </a:t>
            </a:r>
            <a:pPr algn="ctr" indent="0" marL="0">
              <a:buNone/>
            </a:pPr>
            <a:r>
              <a:rPr lang="en-US" sz="20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+  </a:t>
            </a:r>
            <a:pPr algn="ctr" indent="0" marL="0">
              <a:buNone/>
            </a:pPr>
            <a:r>
              <a:rPr lang="en-US" sz="20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+  </a:t>
            </a:r>
            <a:pPr algn="ctr" indent="0" marL="0">
              <a:buNone/>
            </a:pPr>
            <a:r>
              <a:rPr lang="en-US" sz="20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V₃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(particípio passado)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01168" y="1993392"/>
            <a:ext cx="6858000" cy="621792"/>
          </a:xfrm>
          <a:prstGeom prst="rect">
            <a:avLst/>
          </a:prstGeom>
          <a:solidFill>
            <a:srgbClr val="E8F5E9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993392"/>
            <a:ext cx="6675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form must be filled in before your appointment.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04888" y="1993392"/>
            <a:ext cx="1783080" cy="621792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0608" y="1993392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+ be + V₃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1168" y="2724912"/>
            <a:ext cx="6858000" cy="621792"/>
          </a:xfrm>
          <a:prstGeom prst="rect">
            <a:avLst/>
          </a:prstGeom>
          <a:solidFill>
            <a:srgbClr val="E8F5E9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724912"/>
            <a:ext cx="6675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 might be cancelled due to rain.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04888" y="2724912"/>
            <a:ext cx="1783080" cy="621792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2724912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+ be + V₃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1168" y="3456432"/>
            <a:ext cx="6858000" cy="621792"/>
          </a:xfrm>
          <a:prstGeom prst="rect">
            <a:avLst/>
          </a:prstGeom>
          <a:solidFill>
            <a:srgbClr val="E8F5E9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456432"/>
            <a:ext cx="6675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fruit should be kept in the refrigerator.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04888" y="3456432"/>
            <a:ext cx="1783080" cy="621792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3456432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+ be + V₃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1168" y="4187952"/>
            <a:ext cx="6858000" cy="621792"/>
          </a:xfrm>
          <a:prstGeom prst="rect">
            <a:avLst/>
          </a:prstGeom>
          <a:solidFill>
            <a:srgbClr val="E8F5E9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4187952"/>
            <a:ext cx="6675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medicine could have been taken incorrectly.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04888" y="4187952"/>
            <a:ext cx="1783080" cy="621792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187952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+ have been + V₃ (passado passivo)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usar a Voz Passiva com Modais?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a voz passiva para focar na </a:t>
            </a:r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ou no objeto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não em quem a realiza.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609344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comum em: instruções, regras, avisos, embalagens e etiquetas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" y="1993392"/>
            <a:ext cx="228600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993392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Bula de remédio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32888" y="1993392"/>
            <a:ext cx="640080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1993392"/>
            <a:ext cx="6217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medicine must be taken with food."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" y="2706624"/>
            <a:ext cx="228600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2706624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Aviso no supermercado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32888" y="2706624"/>
            <a:ext cx="640080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2706624"/>
            <a:ext cx="6217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"Trolleys should be returned after use."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1168" y="3419856"/>
            <a:ext cx="228600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3419856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Placa na loja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32888" y="3419856"/>
            <a:ext cx="640080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24328" y="3419856"/>
            <a:ext cx="6217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"Pets cannot be brought into the store."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01168" y="4133088"/>
            <a:ext cx="228600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4133088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Regulamento esportivo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32888" y="4133088"/>
            <a:ext cx="640080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24328" y="4133088"/>
            <a:ext cx="6217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"Shin guards must be worn during all matches."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01168" y="482803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(quem faz a ação) é desconhecido, óbvio ou irrelevante.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Voz Passiva com Modais — Exemplos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170432"/>
          <a:ext cx="8869680" cy="3730752"/>
        </p:xfrm>
        <a:graphic>
          <a:graphicData uri="http://schemas.openxmlformats.org/drawingml/2006/table">
            <a:tbl>
              <a:tblPr/>
              <a:tblGrid>
                <a:gridCol w="1097280"/>
                <a:gridCol w="3749040"/>
                <a:gridCol w="4023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Modal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Voz Ativa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Voz Passiva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MUST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You must refrigerate this product.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This product must be refrigerated.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SHOULD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They should wash the vegetables.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The vegetables should be washed.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CAN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Anyone can use this entrance.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This entrance can be used by anyone.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COULD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They could have cancelled the game.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The game could have been cancelled.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MAY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Someone may have taken the wrong bag.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The wrong bag may have been taken.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MIGHT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A customer might have left it here.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It might have been left by a customer.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Erros Comuns — Passiva com Modais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188720"/>
          <a:ext cx="8814816" cy="283464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3145536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❌ Errado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7A3A"/>
                          </a:solidFill>
                        </a:rPr>
                        <a:t>✅ Correto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C0392B"/>
                          </a:solidFill>
                        </a:rPr>
                        <a:t>It must be refrigerate.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7A3A"/>
                          </a:solidFill>
                        </a:rPr>
                        <a:t>It must be refrigerated.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V₃ (particípio), não infinitivo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C0392B"/>
                          </a:solidFill>
                        </a:rPr>
                        <a:t>It should been washed.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7A3A"/>
                          </a:solidFill>
                        </a:rPr>
                        <a:t>It should be washed.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modal + BE + V₃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C0392B"/>
                          </a:solidFill>
                        </a:rPr>
                        <a:t>It could been taken.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7A3A"/>
                          </a:solidFill>
                        </a:rPr>
                        <a:t>It could have been taken.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Passado passivo: modal + have + been + V₃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64592" y="4160520"/>
            <a:ext cx="8814816" cy="77724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4160520"/>
            <a:ext cx="8631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Estruturas-chave:
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Presente passivo: modal + BE + V₃
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Passado passivo: modal + HAVE BEEN + V₃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Prática — Voz Passiva com Modais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Reescreva na voz passiva: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1572768"/>
            <a:ext cx="5029200" cy="56692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57276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 must sign this form.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85232" y="157276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87568" y="1572768"/>
            <a:ext cx="3200400" cy="56692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572768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form must be signed.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01168" y="2231136"/>
            <a:ext cx="5029200" cy="56692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23113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Someone might have moved my bag.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85232" y="223113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87568" y="2231136"/>
            <a:ext cx="3200400" cy="56692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231136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bag might have been moved.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01168" y="2889504"/>
            <a:ext cx="5029200" cy="56692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889504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They should serve the soup hot.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85232" y="288950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87568" y="2889504"/>
            <a:ext cx="3200400" cy="56692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889504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soup should be served hot.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01168" y="3547872"/>
            <a:ext cx="5029200" cy="56692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354787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Customers can return the product within 30 days.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85232" y="354787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87568" y="3547872"/>
            <a:ext cx="3200400" cy="56692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354787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can be returned within 30 days.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01168" y="4206240"/>
            <a:ext cx="5029200" cy="56692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420624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 player could have broken the record.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85232" y="420624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87568" y="4206240"/>
            <a:ext cx="3200400" cy="56692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420624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could have been broken.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Modais — Resumo Completo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170432"/>
          <a:ext cx="8869680" cy="3730752"/>
        </p:xfrm>
        <a:graphic>
          <a:graphicData uri="http://schemas.openxmlformats.org/drawingml/2006/table">
            <a:tbl>
              <a:tblPr/>
              <a:tblGrid>
                <a:gridCol w="1325880"/>
                <a:gridCol w="2926080"/>
                <a:gridCol w="1554480"/>
                <a:gridCol w="30632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Função Principal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Certeza / Força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Habilidade (presente) / Permissão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Neutro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</a:rPr>
                        <a:t>I can swim.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COULD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Habilidade (passado) / Educado / Cond.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Baixo–Médio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</a:rPr>
                        <a:t>I could cook as a child.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MAY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0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Possibilidade / Permissão (formal)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0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~70%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0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</a:rPr>
                        <a:t>It may rain later.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0D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MIGHT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Possibilidade (menos certa)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~40%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</a:rPr>
                        <a:t>I might go to the gym.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SHALL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Oferta / Sugestão (formal)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Neutro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</a:rPr>
                        <a:t>Shall we go?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SHOULD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Conselho / Expectativa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Médio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</a:rPr>
                        <a:t>You should see a doctor.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OUGHT 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Obrigação moral / Conselho (formal)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Médio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</a:rPr>
                        <a:t>You ought to call her.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Obrigação forte / Dedução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Alto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</a:rPr>
                        <a:t>You must rest today.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Confunda Estes Pares!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170432"/>
            <a:ext cx="2103120" cy="1719072"/>
          </a:xfrm>
          <a:prstGeom prst="rect">
            <a:avLst/>
          </a:prstGeom>
          <a:solidFill>
            <a:srgbClr val="FDE8E8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" y="117043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MUSTN'T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PROIBIDO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" y="1956816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mustn't smoke here."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21992" y="1170432"/>
            <a:ext cx="38404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7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04872" y="1170432"/>
            <a:ext cx="2103120" cy="1719072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78024" y="117043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HAVE 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78024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NÃO OBRIGATÓRIO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78024" y="1956816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don't have to buy anything."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81728" y="1170432"/>
            <a:ext cx="2103120" cy="1719072"/>
          </a:xfrm>
          <a:prstGeom prst="rect">
            <a:avLst/>
          </a:prstGeom>
          <a:solidFill>
            <a:srgbClr val="FFF3CD"/>
          </a:solidFill>
          <a:ln w="25400">
            <a:solidFill>
              <a:srgbClr val="E09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17043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 do falante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956816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try this cake!"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39128" y="1170432"/>
            <a:ext cx="38404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7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22008" y="1170432"/>
            <a:ext cx="2103120" cy="1719072"/>
          </a:xfrm>
          <a:prstGeom prst="rect">
            <a:avLst/>
          </a:prstGeom>
          <a:solidFill>
            <a:srgbClr val="D4E6F1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17043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 externa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1956816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to be at work at 8."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4592" y="3108960"/>
            <a:ext cx="2103120" cy="1719072"/>
          </a:xfrm>
          <a:prstGeom prst="rect">
            <a:avLst/>
          </a:prstGeom>
          <a:solidFill>
            <a:srgbClr val="E0F0D8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" y="31089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37744" y="35112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de chance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" y="3895344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may rain."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21992" y="3108960"/>
            <a:ext cx="38404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7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404872" y="3108960"/>
            <a:ext cx="2103120" cy="1719072"/>
          </a:xfrm>
          <a:prstGeom prst="rect">
            <a:avLst/>
          </a:prstGeom>
          <a:solidFill>
            <a:srgbClr val="D4E6F1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78024" y="31089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MIGHT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478024" y="35112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de chance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78024" y="3895344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might rain."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81728" y="3108960"/>
            <a:ext cx="2103120" cy="1719072"/>
          </a:xfrm>
          <a:prstGeom prst="rect">
            <a:avLst/>
          </a:prstGeom>
          <a:solidFill>
            <a:srgbClr val="E0F0D8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1089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54880" y="35112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presente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3895344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 run 5 km."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39128" y="3108960"/>
            <a:ext cx="38404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7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922008" y="3108960"/>
            <a:ext cx="2103120" cy="1719072"/>
          </a:xfrm>
          <a:prstGeom prst="rect">
            <a:avLst/>
          </a:prstGeom>
          <a:solidFill>
            <a:srgbClr val="DCE8F0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160" y="31089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95160" y="35112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passada / educado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95160" y="3895344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could run faster last year."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Prática Final — Todos os Modais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modal correto: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1536192"/>
            <a:ext cx="594360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53619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 _______ eat in the changing room. It's not allowed.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1536192"/>
            <a:ext cx="265176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15361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01168" y="1984248"/>
            <a:ext cx="594360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98424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She _______ play the guitar when she was ten.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6208" y="1984248"/>
            <a:ext cx="265176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9842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01168" y="2432304"/>
            <a:ext cx="594360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43230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_______ I try this jacket on, please?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6208" y="2432304"/>
            <a:ext cx="265176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24323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Can / Could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01168" y="2880360"/>
            <a:ext cx="594360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2880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supermarket _______ be closed — it's a holiday today.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36208" y="2880360"/>
            <a:ext cx="265176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might / could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01168" y="3328416"/>
            <a:ext cx="594360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3284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You _______ bring your gym bag; they provide towels there.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36208" y="3328416"/>
            <a:ext cx="265176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332841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have to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01168" y="3776472"/>
            <a:ext cx="594360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37764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All visitors _______ sign in at the reception desk.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36208" y="3776472"/>
            <a:ext cx="265176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37764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/ have to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01168" y="4224528"/>
            <a:ext cx="594360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" y="422452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He _______ have eaten something bad — he feels terrible.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36208" y="4224528"/>
            <a:ext cx="265176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1928" y="4224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/ may / might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01168" y="4672584"/>
            <a:ext cx="594360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467258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Medicines _______ be kept out of reach of children.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36208" y="4672584"/>
            <a:ext cx="265176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81928" y="467258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/ should be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Vamos Falar! — Atividade Final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 ou pequenos grupos — use verbos modais nas respostas: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01168" y="1554480"/>
            <a:ext cx="4279392" cy="1581912"/>
          </a:xfrm>
          <a:prstGeom prst="rect">
            <a:avLst/>
          </a:prstGeom>
          <a:solidFill>
            <a:srgbClr val="FDE8E8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1554480"/>
            <a:ext cx="411480" cy="1581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554480"/>
            <a:ext cx="411480" cy="1581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" y="1664208"/>
            <a:ext cx="3730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toda pessoa MUST fazer para ter saúde?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ela DON'T HAVE TO fazer?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81728" y="1554480"/>
            <a:ext cx="4279392" cy="1581912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1728" y="1554480"/>
            <a:ext cx="411480" cy="1581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554480"/>
            <a:ext cx="411480" cy="1581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57216" y="1664208"/>
            <a:ext cx="3730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 bom colega de equipe SHOULD fazer?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SHOULDN'T fazer?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" y="3291840"/>
            <a:ext cx="4279392" cy="1581912"/>
          </a:xfrm>
          <a:prstGeom prst="rect">
            <a:avLst/>
          </a:prstGeom>
          <a:solidFill>
            <a:srgbClr val="D4E6F1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3291840"/>
            <a:ext cx="411480" cy="158191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3291840"/>
            <a:ext cx="411480" cy="1581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" y="3401568"/>
            <a:ext cx="3730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chega ao supermercado e seu produto favorito sumiu.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COULD HAVE happened?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81728" y="3291840"/>
            <a:ext cx="4279392" cy="1581912"/>
          </a:xfrm>
          <a:prstGeom prst="rect">
            <a:avLst/>
          </a:prstGeom>
          <a:solidFill>
            <a:srgbClr val="F0DFA0"/>
          </a:solidFill>
          <a:ln w="25400">
            <a:solidFill>
              <a:srgbClr val="A078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3291840"/>
            <a:ext cx="411480" cy="1581912"/>
          </a:xfrm>
          <a:prstGeom prst="rect">
            <a:avLst/>
          </a:prstGeom>
          <a:solidFill>
            <a:srgbClr val="A07828"/>
          </a:solidFill>
          <a:ln w="12700">
            <a:solidFill>
              <a:srgbClr val="A07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3291840"/>
            <a:ext cx="411480" cy="1581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57216" y="3401568"/>
            <a:ext cx="3730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 we make a list of rules for our classroom?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be on it?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Pontos-Chave — Verbos Modais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27889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70432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17043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" y="1499616"/>
            <a:ext cx="26060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Modais NUNCA mudam de forma — sem -s, sem -ed, sem 'to' depois deles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1170432"/>
            <a:ext cx="27889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170432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17043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1499616"/>
            <a:ext cx="26060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+ verbo base → significado presente / futuro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08192" y="1170432"/>
            <a:ext cx="27889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08192" y="1170432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117043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⏪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9632" y="1499616"/>
            <a:ext cx="26060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+ HAVE + V₃ → referência ao passado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01168" y="2487168"/>
            <a:ext cx="27889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" y="2487168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24871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" y="2816352"/>
            <a:ext cx="26060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+ BE + V₃ → voz passiva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54680" y="2487168"/>
            <a:ext cx="27889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2487168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24871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⏮️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46120" y="2816352"/>
            <a:ext cx="26060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+ HAVE BEEN + V₃ → passado passivo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08192" y="2487168"/>
            <a:ext cx="27889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08192" y="2487168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24871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99632" y="2816352"/>
            <a:ext cx="26060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MUST/HAVE TO | MUSTN'T/DON'T HAVE TO | MAY/MIGHT | CAN/COULD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374904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37490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DFA0"/>
                </a:solidFill>
              </a:rPr>
              <a:t>Obrigado! </a:t>
            </a:r>
            <a:pPr algn="ctr" indent="0" marL="0">
              <a:buNone/>
            </a:pPr>
            <a:r>
              <a:rPr lang="en-US" sz="1700" dirty="0">
                <a:solidFill>
                  <a:srgbClr val="C9A84C"/>
                </a:solidFill>
              </a:rPr>
              <a:t>  |  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Dúvidas?</a:t>
            </a:r>
            <a:pPr algn="ctr" indent="0" marL="0">
              <a:buNone/>
            </a:pPr>
            <a:r>
              <a:rPr lang="en-US" sz="1700" dirty="0">
                <a:solidFill>
                  <a:srgbClr val="C9A84C"/>
                </a:solidFill>
              </a:rPr>
              <a:t>  |  </a:t>
            </a:r>
            <a:pPr algn="ctr" indent="0" marL="0">
              <a:buNone/>
            </a:pPr>
            <a:r>
              <a:rPr lang="en-US" sz="1400" i="1" dirty="0">
                <a:solidFill>
                  <a:srgbClr val="AABBCC"/>
                </a:solidFill>
              </a:rPr>
              <a:t>Próxima aula: Review + Speaking Practice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2026-06-06T15:18:05Z</dcterms:created>
  <dcterms:modified xsi:type="dcterms:W3CDTF">2026-06-06T15:18:05Z</dcterms:modified>
</cp:coreProperties>
</file>